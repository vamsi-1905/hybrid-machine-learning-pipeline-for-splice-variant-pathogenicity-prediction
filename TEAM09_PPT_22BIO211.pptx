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5" r:id="rId9"/>
    <p:sldId id="263" r:id="rId10"/>
    <p:sldId id="264" r:id="rId11"/>
    <p:sldId id="265" r:id="rId12"/>
    <p:sldId id="286" r:id="rId13"/>
    <p:sldId id="266" r:id="rId14"/>
    <p:sldId id="267" r:id="rId15"/>
    <p:sldId id="287" r:id="rId16"/>
    <p:sldId id="268" r:id="rId17"/>
    <p:sldId id="288" r:id="rId18"/>
    <p:sldId id="283" r:id="rId19"/>
    <p:sldId id="284" r:id="rId20"/>
    <p:sldId id="269" r:id="rId21"/>
    <p:sldId id="270" r:id="rId22"/>
    <p:sldId id="278" r:id="rId23"/>
    <p:sldId id="282" r:id="rId24"/>
    <p:sldId id="279" r:id="rId25"/>
    <p:sldId id="271" r:id="rId26"/>
    <p:sldId id="280" r:id="rId27"/>
    <p:sldId id="281" r:id="rId28"/>
    <p:sldId id="272" r:id="rId29"/>
    <p:sldId id="273" r:id="rId30"/>
    <p:sldId id="274" r:id="rId31"/>
    <p:sldId id="275" r:id="rId32"/>
    <p:sldId id="276" r:id="rId33"/>
    <p:sldId id="277" r:id="rId34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5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C30B2-8EF8-45ED-8454-33A0E142AD51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30538" y="644525"/>
            <a:ext cx="3082925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8088"/>
            <a:ext cx="7315200" cy="2028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C60C6-F3DC-48ED-B5A8-BFF147EBF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45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C60C6-F3DC-48ED-B5A8-BFF147EBF305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297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C3A6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C3A6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C3A6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C3A6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96" y="223458"/>
            <a:ext cx="532828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C3A6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8456" y="2288059"/>
            <a:ext cx="4975225" cy="162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53"/>
            <a:ext cx="4097020" cy="5143500"/>
            <a:chOff x="-355" y="-353"/>
            <a:chExt cx="4097020" cy="5143500"/>
          </a:xfrm>
        </p:grpSpPr>
        <p:sp>
          <p:nvSpPr>
            <p:cNvPr id="3" name="object 3"/>
            <p:cNvSpPr/>
            <p:nvPr/>
          </p:nvSpPr>
          <p:spPr>
            <a:xfrm>
              <a:off x="-355" y="-353"/>
              <a:ext cx="4023360" cy="5143500"/>
            </a:xfrm>
            <a:custGeom>
              <a:avLst/>
              <a:gdLst/>
              <a:ahLst/>
              <a:cxnLst/>
              <a:rect l="l" t="t" r="r" b="b"/>
              <a:pathLst>
                <a:path w="4023360" h="5143500">
                  <a:moveTo>
                    <a:pt x="4022991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2011680" y="5143309"/>
                  </a:lnTo>
                  <a:lnTo>
                    <a:pt x="4022991" y="5143309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0C3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23360" y="-353"/>
              <a:ext cx="73025" cy="5143500"/>
            </a:xfrm>
            <a:custGeom>
              <a:avLst/>
              <a:gdLst/>
              <a:ahLst/>
              <a:cxnLst/>
              <a:rect l="l" t="t" r="r" b="b"/>
              <a:pathLst>
                <a:path w="73025" h="5143500">
                  <a:moveTo>
                    <a:pt x="72720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36360" y="5143309"/>
                  </a:lnTo>
                  <a:lnTo>
                    <a:pt x="72720" y="5143309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273953"/>
            <a:ext cx="2285644" cy="4571644"/>
          </a:xfrm>
          <a:prstGeom prst="rect">
            <a:avLst/>
          </a:prstGeom>
        </p:spPr>
      </p:pic>
      <p:pic>
        <p:nvPicPr>
          <p:cNvPr id="6" name="object 6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200" y="3291473"/>
            <a:ext cx="1462684" cy="146268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11868" y="273953"/>
            <a:ext cx="2412365" cy="203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2200" dirty="0">
                <a:solidFill>
                  <a:srgbClr val="FFFFFF"/>
                </a:solidFill>
              </a:rPr>
              <a:t>Hybrid</a:t>
            </a:r>
            <a:r>
              <a:rPr sz="2200" spc="-55" dirty="0">
                <a:solidFill>
                  <a:srgbClr val="FFFFFF"/>
                </a:solidFill>
              </a:rPr>
              <a:t> </a:t>
            </a:r>
            <a:r>
              <a:rPr sz="2200" spc="-10" dirty="0">
                <a:solidFill>
                  <a:srgbClr val="FFFFFF"/>
                </a:solidFill>
              </a:rPr>
              <a:t>Machine </a:t>
            </a:r>
            <a:r>
              <a:rPr sz="2200" dirty="0">
                <a:solidFill>
                  <a:srgbClr val="FFFFFF"/>
                </a:solidFill>
              </a:rPr>
              <a:t>Learning</a:t>
            </a:r>
            <a:r>
              <a:rPr sz="2200" spc="-70" dirty="0">
                <a:solidFill>
                  <a:srgbClr val="FFFFFF"/>
                </a:solidFill>
              </a:rPr>
              <a:t> </a:t>
            </a:r>
            <a:r>
              <a:rPr sz="2200" dirty="0">
                <a:solidFill>
                  <a:srgbClr val="FFFFFF"/>
                </a:solidFill>
              </a:rPr>
              <a:t>Pipeline</a:t>
            </a:r>
            <a:r>
              <a:rPr sz="2200" spc="-70" dirty="0">
                <a:solidFill>
                  <a:srgbClr val="FFFFFF"/>
                </a:solidFill>
              </a:rPr>
              <a:t> </a:t>
            </a:r>
            <a:r>
              <a:rPr sz="2200" spc="-25" dirty="0">
                <a:solidFill>
                  <a:srgbClr val="FFFFFF"/>
                </a:solidFill>
              </a:rPr>
              <a:t>for </a:t>
            </a:r>
            <a:r>
              <a:rPr sz="2200" dirty="0">
                <a:solidFill>
                  <a:srgbClr val="FFFFFF"/>
                </a:solidFill>
              </a:rPr>
              <a:t>Splice</a:t>
            </a:r>
            <a:r>
              <a:rPr sz="2200" spc="-50" dirty="0">
                <a:solidFill>
                  <a:srgbClr val="FFFFFF"/>
                </a:solidFill>
              </a:rPr>
              <a:t> </a:t>
            </a:r>
            <a:r>
              <a:rPr sz="2200" spc="-10" dirty="0">
                <a:solidFill>
                  <a:srgbClr val="FFFFFF"/>
                </a:solidFill>
              </a:rPr>
              <a:t>Variant Pathogenicity Prediction</a:t>
            </a:r>
            <a:endParaRPr sz="2200" dirty="0"/>
          </a:p>
        </p:txBody>
      </p:sp>
      <p:sp>
        <p:nvSpPr>
          <p:cNvPr id="8" name="object 8"/>
          <p:cNvSpPr/>
          <p:nvPr/>
        </p:nvSpPr>
        <p:spPr>
          <a:xfrm>
            <a:off x="321426" y="2540761"/>
            <a:ext cx="1518285" cy="228600"/>
          </a:xfrm>
          <a:custGeom>
            <a:avLst/>
            <a:gdLst/>
            <a:ahLst/>
            <a:cxnLst/>
            <a:rect l="l" t="t" r="r" b="b"/>
            <a:pathLst>
              <a:path w="1518285" h="228600">
                <a:moveTo>
                  <a:pt x="1462671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1" y="21422"/>
                </a:lnTo>
                <a:lnTo>
                  <a:pt x="0" y="54724"/>
                </a:lnTo>
                <a:lnTo>
                  <a:pt x="0" y="173875"/>
                </a:lnTo>
                <a:lnTo>
                  <a:pt x="452" y="180728"/>
                </a:lnTo>
                <a:lnTo>
                  <a:pt x="466" y="180936"/>
                </a:lnTo>
                <a:lnTo>
                  <a:pt x="1798" y="187736"/>
                </a:lnTo>
                <a:lnTo>
                  <a:pt x="1843" y="187964"/>
                </a:lnTo>
                <a:lnTo>
                  <a:pt x="3994" y="194474"/>
                </a:lnTo>
                <a:lnTo>
                  <a:pt x="4098" y="194790"/>
                </a:lnTo>
                <a:lnTo>
                  <a:pt x="33757" y="224501"/>
                </a:lnTo>
                <a:lnTo>
                  <a:pt x="48065" y="228244"/>
                </a:lnTo>
                <a:lnTo>
                  <a:pt x="49212" y="228244"/>
                </a:lnTo>
                <a:lnTo>
                  <a:pt x="54711" y="228600"/>
                </a:lnTo>
                <a:lnTo>
                  <a:pt x="1463039" y="228244"/>
                </a:lnTo>
                <a:lnTo>
                  <a:pt x="1501692" y="212307"/>
                </a:lnTo>
                <a:lnTo>
                  <a:pt x="1517244" y="180936"/>
                </a:lnTo>
                <a:lnTo>
                  <a:pt x="1517285" y="180728"/>
                </a:lnTo>
                <a:lnTo>
                  <a:pt x="1517728" y="173875"/>
                </a:lnTo>
                <a:lnTo>
                  <a:pt x="1517751" y="173520"/>
                </a:lnTo>
                <a:lnTo>
                  <a:pt x="1517395" y="54724"/>
                </a:lnTo>
                <a:lnTo>
                  <a:pt x="1501470" y="16063"/>
                </a:lnTo>
                <a:lnTo>
                  <a:pt x="1469887" y="466"/>
                </a:lnTo>
                <a:lnTo>
                  <a:pt x="1462671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1426" y="2860802"/>
            <a:ext cx="1751330" cy="228600"/>
          </a:xfrm>
          <a:custGeom>
            <a:avLst/>
            <a:gdLst/>
            <a:ahLst/>
            <a:cxnLst/>
            <a:rect l="l" t="t" r="r" b="b"/>
            <a:pathLst>
              <a:path w="1751330" h="228600">
                <a:moveTo>
                  <a:pt x="1695958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1" y="21422"/>
                </a:lnTo>
                <a:lnTo>
                  <a:pt x="0" y="54724"/>
                </a:lnTo>
                <a:lnTo>
                  <a:pt x="0" y="173875"/>
                </a:lnTo>
                <a:lnTo>
                  <a:pt x="452" y="180728"/>
                </a:lnTo>
                <a:lnTo>
                  <a:pt x="466" y="180936"/>
                </a:lnTo>
                <a:lnTo>
                  <a:pt x="1798" y="187736"/>
                </a:lnTo>
                <a:lnTo>
                  <a:pt x="1843" y="187964"/>
                </a:lnTo>
                <a:lnTo>
                  <a:pt x="3994" y="194474"/>
                </a:lnTo>
                <a:lnTo>
                  <a:pt x="4098" y="194790"/>
                </a:lnTo>
                <a:lnTo>
                  <a:pt x="33757" y="224501"/>
                </a:lnTo>
                <a:lnTo>
                  <a:pt x="48065" y="228244"/>
                </a:lnTo>
                <a:lnTo>
                  <a:pt x="49212" y="228244"/>
                </a:lnTo>
                <a:lnTo>
                  <a:pt x="54711" y="228599"/>
                </a:lnTo>
                <a:lnTo>
                  <a:pt x="1696313" y="228244"/>
                </a:lnTo>
                <a:lnTo>
                  <a:pt x="1734967" y="212307"/>
                </a:lnTo>
                <a:lnTo>
                  <a:pt x="1749113" y="187964"/>
                </a:lnTo>
                <a:lnTo>
                  <a:pt x="1749190" y="187736"/>
                </a:lnTo>
                <a:lnTo>
                  <a:pt x="1750529" y="180936"/>
                </a:lnTo>
                <a:lnTo>
                  <a:pt x="1750569" y="180728"/>
                </a:lnTo>
                <a:lnTo>
                  <a:pt x="1751014" y="173875"/>
                </a:lnTo>
                <a:lnTo>
                  <a:pt x="1750669" y="54724"/>
                </a:lnTo>
                <a:lnTo>
                  <a:pt x="1734745" y="16063"/>
                </a:lnTo>
                <a:lnTo>
                  <a:pt x="1703166" y="466"/>
                </a:lnTo>
                <a:lnTo>
                  <a:pt x="1695958" y="0"/>
                </a:lnTo>
                <a:close/>
              </a:path>
            </a:pathLst>
          </a:custGeom>
          <a:solidFill>
            <a:srgbClr val="E778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1782" y="3180842"/>
            <a:ext cx="1440815" cy="228600"/>
          </a:xfrm>
          <a:custGeom>
            <a:avLst/>
            <a:gdLst/>
            <a:ahLst/>
            <a:cxnLst/>
            <a:rect l="l" t="t" r="r" b="b"/>
            <a:pathLst>
              <a:path w="1440814" h="228600">
                <a:moveTo>
                  <a:pt x="1385277" y="0"/>
                </a:moveTo>
                <a:lnTo>
                  <a:pt x="54724" y="0"/>
                </a:lnTo>
                <a:lnTo>
                  <a:pt x="47663" y="466"/>
                </a:lnTo>
                <a:lnTo>
                  <a:pt x="11277" y="21422"/>
                </a:lnTo>
                <a:lnTo>
                  <a:pt x="0" y="54724"/>
                </a:lnTo>
                <a:lnTo>
                  <a:pt x="0" y="173875"/>
                </a:lnTo>
                <a:lnTo>
                  <a:pt x="452" y="180728"/>
                </a:lnTo>
                <a:lnTo>
                  <a:pt x="466" y="180936"/>
                </a:lnTo>
                <a:lnTo>
                  <a:pt x="1798" y="187736"/>
                </a:lnTo>
                <a:lnTo>
                  <a:pt x="1843" y="187964"/>
                </a:lnTo>
                <a:lnTo>
                  <a:pt x="3994" y="194474"/>
                </a:lnTo>
                <a:lnTo>
                  <a:pt x="4098" y="194790"/>
                </a:lnTo>
                <a:lnTo>
                  <a:pt x="33757" y="224501"/>
                </a:lnTo>
                <a:lnTo>
                  <a:pt x="48071" y="228244"/>
                </a:lnTo>
                <a:lnTo>
                  <a:pt x="49219" y="228244"/>
                </a:lnTo>
                <a:lnTo>
                  <a:pt x="54724" y="228600"/>
                </a:lnTo>
                <a:lnTo>
                  <a:pt x="1385646" y="228244"/>
                </a:lnTo>
                <a:lnTo>
                  <a:pt x="1424293" y="212307"/>
                </a:lnTo>
                <a:lnTo>
                  <a:pt x="1439850" y="180936"/>
                </a:lnTo>
                <a:lnTo>
                  <a:pt x="1439891" y="180728"/>
                </a:lnTo>
                <a:lnTo>
                  <a:pt x="1440334" y="173875"/>
                </a:lnTo>
                <a:lnTo>
                  <a:pt x="1440357" y="173520"/>
                </a:lnTo>
                <a:lnTo>
                  <a:pt x="1440002" y="54724"/>
                </a:lnTo>
                <a:lnTo>
                  <a:pt x="1424065" y="16063"/>
                </a:lnTo>
                <a:lnTo>
                  <a:pt x="1392493" y="466"/>
                </a:lnTo>
                <a:lnTo>
                  <a:pt x="1385277" y="0"/>
                </a:lnTo>
                <a:close/>
              </a:path>
            </a:pathLst>
          </a:custGeom>
          <a:solidFill>
            <a:srgbClr val="1951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2482" y="2577376"/>
            <a:ext cx="1002030" cy="795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ClinVar</a:t>
            </a:r>
            <a:r>
              <a:rPr sz="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85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GRCh38</a:t>
            </a:r>
            <a:endParaRPr sz="8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85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XGBoost</a:t>
            </a:r>
            <a:r>
              <a:rPr sz="85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85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DNABERT-</a:t>
            </a:r>
            <a:r>
              <a:rPr sz="8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8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850" dirty="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FastAPI</a:t>
            </a:r>
            <a:r>
              <a:rPr sz="8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85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React</a:t>
            </a:r>
            <a:endParaRPr sz="85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079" y="3639806"/>
            <a:ext cx="3535324" cy="118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4DC4CE"/>
                </a:solidFill>
                <a:latin typeface="Calibri"/>
                <a:cs typeface="Calibri"/>
              </a:rPr>
              <a:t>Team</a:t>
            </a:r>
            <a:r>
              <a:rPr sz="1400" b="1" spc="-2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4DC4CE"/>
                </a:solidFill>
                <a:latin typeface="Calibri"/>
                <a:cs typeface="Calibri"/>
              </a:rPr>
              <a:t>9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60"/>
              </a:spcBef>
            </a:pPr>
            <a:r>
              <a:rPr lang="en-US" sz="1400" dirty="0">
                <a:solidFill>
                  <a:srgbClr val="A9CCDC"/>
                </a:solidFill>
                <a:latin typeface="Calibri"/>
                <a:cs typeface="Calibri"/>
              </a:rPr>
              <a:t>Ashritha Sola – BL.SC.U4AIE24251</a:t>
            </a:r>
          </a:p>
          <a:p>
            <a:pPr marL="12700" marR="5080">
              <a:lnSpc>
                <a:spcPct val="100000"/>
              </a:lnSpc>
              <a:spcBef>
                <a:spcPts val="760"/>
              </a:spcBef>
            </a:pPr>
            <a:r>
              <a:rPr lang="en-US" sz="1400" dirty="0">
                <a:solidFill>
                  <a:srgbClr val="A9CCDC"/>
                </a:solidFill>
                <a:latin typeface="Calibri"/>
                <a:cs typeface="Calibri"/>
              </a:rPr>
              <a:t>Esha V Patil – BL.SC.U4AIE24219</a:t>
            </a:r>
          </a:p>
          <a:p>
            <a:pPr marL="12700" marR="5080">
              <a:lnSpc>
                <a:spcPct val="100000"/>
              </a:lnSpc>
              <a:spcBef>
                <a:spcPts val="760"/>
              </a:spcBef>
            </a:pPr>
            <a:r>
              <a:rPr lang="en-US" sz="1400" dirty="0">
                <a:solidFill>
                  <a:srgbClr val="A9CCDC"/>
                </a:solidFill>
                <a:latin typeface="Calibri"/>
                <a:cs typeface="Calibri"/>
              </a:rPr>
              <a:t>Bonam Sai Vamsidhar – BL.SC.U4AIE24211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32440" y="373318"/>
            <a:ext cx="2169160" cy="1208405"/>
            <a:chOff x="4132440" y="373318"/>
            <a:chExt cx="2169160" cy="120840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2440" y="373318"/>
              <a:ext cx="2168639" cy="12081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51960" y="456846"/>
              <a:ext cx="1965960" cy="1005840"/>
            </a:xfrm>
            <a:custGeom>
              <a:avLst/>
              <a:gdLst/>
              <a:ahLst/>
              <a:cxnLst/>
              <a:rect l="l" t="t" r="r" b="b"/>
              <a:pathLst>
                <a:path w="1965960" h="1005840">
                  <a:moveTo>
                    <a:pt x="1965604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982802" y="1005471"/>
                  </a:lnTo>
                  <a:lnTo>
                    <a:pt x="1965604" y="1005471"/>
                  </a:lnTo>
                  <a:lnTo>
                    <a:pt x="1965604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26698" y="528029"/>
            <a:ext cx="101663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99,310</a:t>
            </a:r>
            <a:endParaRPr sz="2800">
              <a:latin typeface="Calibri"/>
              <a:cs typeface="Calibri"/>
            </a:endParaRPr>
          </a:p>
          <a:p>
            <a:pPr marL="49530">
              <a:lnSpc>
                <a:spcPct val="100000"/>
              </a:lnSpc>
              <a:spcBef>
                <a:spcPts val="1170"/>
              </a:spcBef>
            </a:pPr>
            <a:r>
              <a:rPr sz="950" spc="-10" dirty="0">
                <a:solidFill>
                  <a:srgbClr val="CCEDF1"/>
                </a:solidFill>
                <a:latin typeface="Calibri"/>
                <a:cs typeface="Calibri"/>
              </a:rPr>
              <a:t>Variants</a:t>
            </a:r>
            <a:r>
              <a:rPr sz="950" spc="-20" dirty="0">
                <a:solidFill>
                  <a:srgbClr val="CCEDF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EDF1"/>
                </a:solidFill>
                <a:latin typeface="Calibri"/>
                <a:cs typeface="Calibri"/>
              </a:rPr>
              <a:t>Processed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32440" y="1607758"/>
            <a:ext cx="2169160" cy="1208405"/>
            <a:chOff x="4132440" y="1607758"/>
            <a:chExt cx="2169160" cy="120840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2440" y="1607758"/>
              <a:ext cx="2168639" cy="120816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251960" y="1691286"/>
              <a:ext cx="1965960" cy="1005840"/>
            </a:xfrm>
            <a:custGeom>
              <a:avLst/>
              <a:gdLst/>
              <a:ahLst/>
              <a:cxnLst/>
              <a:rect l="l" t="t" r="r" b="b"/>
              <a:pathLst>
                <a:path w="1965960" h="1005839">
                  <a:moveTo>
                    <a:pt x="1965604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982802" y="1005471"/>
                  </a:lnTo>
                  <a:lnTo>
                    <a:pt x="1965604" y="1005471"/>
                  </a:lnTo>
                  <a:lnTo>
                    <a:pt x="1965604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726698" y="1762469"/>
            <a:ext cx="101663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12,301</a:t>
            </a:r>
            <a:endParaRPr sz="28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  <a:spcBef>
                <a:spcPts val="1170"/>
              </a:spcBef>
            </a:pPr>
            <a:r>
              <a:rPr sz="950" spc="-10" dirty="0">
                <a:solidFill>
                  <a:srgbClr val="FCEBD7"/>
                </a:solidFill>
                <a:latin typeface="Calibri"/>
                <a:cs typeface="Calibri"/>
              </a:rPr>
              <a:t>Feature</a:t>
            </a:r>
            <a:r>
              <a:rPr sz="950" spc="-15" dirty="0">
                <a:solidFill>
                  <a:srgbClr val="FCEBD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CEBD7"/>
                </a:solidFill>
                <a:latin typeface="Calibri"/>
                <a:cs typeface="Calibri"/>
              </a:rPr>
              <a:t>Dimensions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81280" y="373318"/>
            <a:ext cx="2169160" cy="1208405"/>
            <a:chOff x="6281280" y="373318"/>
            <a:chExt cx="2169160" cy="120840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1280" y="373318"/>
              <a:ext cx="2168639" cy="120816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400799" y="456846"/>
              <a:ext cx="1965960" cy="1005840"/>
            </a:xfrm>
            <a:custGeom>
              <a:avLst/>
              <a:gdLst/>
              <a:ahLst/>
              <a:cxnLst/>
              <a:rect l="l" t="t" r="r" b="b"/>
              <a:pathLst>
                <a:path w="1965959" h="1005840">
                  <a:moveTo>
                    <a:pt x="1965604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982802" y="1005471"/>
                  </a:lnTo>
                  <a:lnTo>
                    <a:pt x="1965604" y="1005471"/>
                  </a:lnTo>
                  <a:lnTo>
                    <a:pt x="1965604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874103" y="528029"/>
            <a:ext cx="1019810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0.8579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950" spc="-20" dirty="0">
                <a:solidFill>
                  <a:srgbClr val="CCEDF1"/>
                </a:solidFill>
                <a:latin typeface="Calibri"/>
                <a:cs typeface="Calibri"/>
              </a:rPr>
              <a:t>ROC-</a:t>
            </a:r>
            <a:r>
              <a:rPr sz="950" dirty="0">
                <a:solidFill>
                  <a:srgbClr val="CCEDF1"/>
                </a:solidFill>
                <a:latin typeface="Calibri"/>
                <a:cs typeface="Calibri"/>
              </a:rPr>
              <a:t>AUC</a:t>
            </a:r>
            <a:r>
              <a:rPr sz="950" spc="-10" dirty="0">
                <a:solidFill>
                  <a:srgbClr val="CCEDF1"/>
                </a:solidFill>
                <a:latin typeface="Calibri"/>
                <a:cs typeface="Calibri"/>
              </a:rPr>
              <a:t> Score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281280" y="1607758"/>
            <a:ext cx="2169160" cy="1208405"/>
            <a:chOff x="6281280" y="1607758"/>
            <a:chExt cx="2169160" cy="1208405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1280" y="1607758"/>
              <a:ext cx="2168639" cy="12081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400799" y="1691286"/>
              <a:ext cx="1965960" cy="1005840"/>
            </a:xfrm>
            <a:custGeom>
              <a:avLst/>
              <a:gdLst/>
              <a:ahLst/>
              <a:cxnLst/>
              <a:rect l="l" t="t" r="r" b="b"/>
              <a:pathLst>
                <a:path w="1965959" h="1005839">
                  <a:moveTo>
                    <a:pt x="1965604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982802" y="1005471"/>
                  </a:lnTo>
                  <a:lnTo>
                    <a:pt x="1965604" y="1005471"/>
                  </a:lnTo>
                  <a:lnTo>
                    <a:pt x="1965604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041501" y="1762469"/>
            <a:ext cx="68262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84%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950" spc="-25" dirty="0">
                <a:solidFill>
                  <a:srgbClr val="FCEBD7"/>
                </a:solidFill>
                <a:latin typeface="Calibri"/>
                <a:cs typeface="Calibri"/>
              </a:rPr>
              <a:t>Test </a:t>
            </a:r>
            <a:r>
              <a:rPr sz="950" spc="-10" dirty="0">
                <a:solidFill>
                  <a:srgbClr val="FCEBD7"/>
                </a:solidFill>
                <a:latin typeface="Calibri"/>
                <a:cs typeface="Calibri"/>
              </a:rPr>
              <a:t>Accuracy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53745" y="4764508"/>
            <a:ext cx="192341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A9DB1"/>
                </a:solidFill>
                <a:latin typeface="Calibri"/>
                <a:cs typeface="Calibri"/>
              </a:rPr>
              <a:t>Amrita</a:t>
            </a:r>
            <a:r>
              <a:rPr sz="90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A9DB1"/>
                </a:solidFill>
                <a:latin typeface="Calibri"/>
                <a:cs typeface="Calibri"/>
              </a:rPr>
              <a:t>Vishwa</a:t>
            </a:r>
            <a:r>
              <a:rPr sz="900" spc="-10" dirty="0">
                <a:solidFill>
                  <a:srgbClr val="6A9DB1"/>
                </a:solidFill>
                <a:latin typeface="Calibri"/>
                <a:cs typeface="Calibri"/>
              </a:rPr>
              <a:t> Vidyapeetham,</a:t>
            </a:r>
            <a:r>
              <a:rPr sz="90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A9DB1"/>
                </a:solidFill>
                <a:latin typeface="Calibri"/>
                <a:cs typeface="Calibri"/>
              </a:rPr>
              <a:t>Bengaluru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680" y="-10"/>
            <a:ext cx="8806180" cy="5143500"/>
            <a:chOff x="337680" y="-10"/>
            <a:chExt cx="8806180" cy="514350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8079" y="-10"/>
              <a:ext cx="1645551" cy="51429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680" y="922314"/>
              <a:ext cx="4363199" cy="8607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1005841"/>
              <a:ext cx="4160520" cy="658495"/>
            </a:xfrm>
            <a:custGeom>
              <a:avLst/>
              <a:gdLst/>
              <a:ahLst/>
              <a:cxnLst/>
              <a:rect l="l" t="t" r="r" b="b"/>
              <a:pathLst>
                <a:path w="4160520" h="658494">
                  <a:moveTo>
                    <a:pt x="4160164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2080082" y="658075"/>
                  </a:lnTo>
                  <a:lnTo>
                    <a:pt x="4160164" y="65807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34136" y="299429"/>
            <a:ext cx="13404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Contents</a:t>
            </a:r>
            <a:endParaRPr sz="2800"/>
          </a:p>
        </p:txBody>
      </p:sp>
      <p:sp>
        <p:nvSpPr>
          <p:cNvPr id="7" name="object 7"/>
          <p:cNvSpPr/>
          <p:nvPr/>
        </p:nvSpPr>
        <p:spPr>
          <a:xfrm>
            <a:off x="456844" y="804242"/>
            <a:ext cx="1463040" cy="36830"/>
          </a:xfrm>
          <a:custGeom>
            <a:avLst/>
            <a:gdLst/>
            <a:ahLst/>
            <a:cxnLst/>
            <a:rect l="l" t="t" r="r" b="b"/>
            <a:pathLst>
              <a:path w="1463039" h="36830">
                <a:moveTo>
                  <a:pt x="1462671" y="0"/>
                </a:moveTo>
                <a:lnTo>
                  <a:pt x="0" y="0"/>
                </a:lnTo>
                <a:lnTo>
                  <a:pt x="0" y="36360"/>
                </a:lnTo>
                <a:lnTo>
                  <a:pt x="731520" y="36360"/>
                </a:lnTo>
                <a:lnTo>
                  <a:pt x="1462671" y="36360"/>
                </a:lnTo>
                <a:lnTo>
                  <a:pt x="1462671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2660" y="1223177"/>
            <a:ext cx="19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A9EA8"/>
                </a:solidFill>
                <a:latin typeface="Calibri"/>
                <a:cs typeface="Calibri"/>
              </a:rPr>
              <a:t>01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7680" y="1115646"/>
            <a:ext cx="4363720" cy="1472565"/>
            <a:chOff x="337680" y="1115646"/>
            <a:chExt cx="4363720" cy="1472565"/>
          </a:xfrm>
        </p:grpSpPr>
        <p:sp>
          <p:nvSpPr>
            <p:cNvPr id="10" name="object 10"/>
            <p:cNvSpPr/>
            <p:nvPr/>
          </p:nvSpPr>
          <p:spPr>
            <a:xfrm>
              <a:off x="987475" y="1115646"/>
              <a:ext cx="18415" cy="438784"/>
            </a:xfrm>
            <a:custGeom>
              <a:avLst/>
              <a:gdLst/>
              <a:ahLst/>
              <a:cxnLst/>
              <a:rect l="l" t="t" r="r" b="b"/>
              <a:pathLst>
                <a:path w="18415" h="438784">
                  <a:moveTo>
                    <a:pt x="18008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9004" y="438480"/>
                  </a:lnTo>
                  <a:lnTo>
                    <a:pt x="18008" y="438480"/>
                  </a:lnTo>
                  <a:lnTo>
                    <a:pt x="18008" y="0"/>
                  </a:lnTo>
                  <a:close/>
                </a:path>
              </a:pathLst>
            </a:custGeom>
            <a:solidFill>
              <a:srgbClr val="4DC4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680" y="1726909"/>
              <a:ext cx="4363199" cy="8607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7200" y="1810437"/>
              <a:ext cx="4160520" cy="658495"/>
            </a:xfrm>
            <a:custGeom>
              <a:avLst/>
              <a:gdLst/>
              <a:ahLst/>
              <a:cxnLst/>
              <a:rect l="l" t="t" r="r" b="b"/>
              <a:pathLst>
                <a:path w="4160520" h="658494">
                  <a:moveTo>
                    <a:pt x="4160164" y="0"/>
                  </a:moveTo>
                  <a:lnTo>
                    <a:pt x="0" y="0"/>
                  </a:lnTo>
                  <a:lnTo>
                    <a:pt x="0" y="658088"/>
                  </a:lnTo>
                  <a:lnTo>
                    <a:pt x="2080082" y="658088"/>
                  </a:lnTo>
                  <a:lnTo>
                    <a:pt x="4160164" y="658088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F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65860" y="1043071"/>
            <a:ext cx="1943100" cy="44386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Abstract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&amp;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Introduction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850" spc="-20" dirty="0">
                <a:solidFill>
                  <a:srgbClr val="6A9DB1"/>
                </a:solidFill>
                <a:latin typeface="Calibri"/>
                <a:cs typeface="Calibri"/>
              </a:rPr>
              <a:t>ClinVar</a:t>
            </a:r>
            <a:r>
              <a:rPr sz="8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data,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problem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statement,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objectives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2660" y="2027785"/>
            <a:ext cx="19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A9EA8"/>
                </a:solidFill>
                <a:latin typeface="Calibri"/>
                <a:cs typeface="Calibri"/>
              </a:rPr>
              <a:t>02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7680" y="1920242"/>
            <a:ext cx="4363720" cy="1472565"/>
            <a:chOff x="337680" y="1920242"/>
            <a:chExt cx="4363720" cy="1472565"/>
          </a:xfrm>
        </p:grpSpPr>
        <p:sp>
          <p:nvSpPr>
            <p:cNvPr id="16" name="object 16"/>
            <p:cNvSpPr/>
            <p:nvPr/>
          </p:nvSpPr>
          <p:spPr>
            <a:xfrm>
              <a:off x="987475" y="1920242"/>
              <a:ext cx="18415" cy="438784"/>
            </a:xfrm>
            <a:custGeom>
              <a:avLst/>
              <a:gdLst/>
              <a:ahLst/>
              <a:cxnLst/>
              <a:rect l="l" t="t" r="r" b="b"/>
              <a:pathLst>
                <a:path w="18415" h="438785">
                  <a:moveTo>
                    <a:pt x="18008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9004" y="438480"/>
                  </a:lnTo>
                  <a:lnTo>
                    <a:pt x="18008" y="438480"/>
                  </a:lnTo>
                  <a:lnTo>
                    <a:pt x="18008" y="0"/>
                  </a:lnTo>
                  <a:close/>
                </a:path>
              </a:pathLst>
            </a:custGeom>
            <a:solidFill>
              <a:srgbClr val="4DC4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680" y="2531505"/>
              <a:ext cx="4363199" cy="8607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2615046"/>
              <a:ext cx="4160520" cy="658495"/>
            </a:xfrm>
            <a:custGeom>
              <a:avLst/>
              <a:gdLst/>
              <a:ahLst/>
              <a:cxnLst/>
              <a:rect l="l" t="t" r="r" b="b"/>
              <a:pathLst>
                <a:path w="4160520" h="658495">
                  <a:moveTo>
                    <a:pt x="4160164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2080082" y="658075"/>
                  </a:lnTo>
                  <a:lnTo>
                    <a:pt x="4160164" y="65807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65860" y="1847667"/>
            <a:ext cx="2788920" cy="44386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Splice</a:t>
            </a:r>
            <a:r>
              <a:rPr sz="1050" b="1" spc="-3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Sites</a:t>
            </a:r>
            <a:r>
              <a:rPr sz="1050" b="1" spc="-2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&amp;</a:t>
            </a:r>
            <a:r>
              <a:rPr sz="1050" b="1" spc="-3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Disease</a:t>
            </a:r>
            <a:r>
              <a:rPr sz="1050" b="1" spc="-3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Biology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Canonical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 splice</a:t>
            </a:r>
            <a:r>
              <a:rPr sz="850" spc="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signals,</a:t>
            </a:r>
            <a:r>
              <a:rPr sz="85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PWM</a:t>
            </a:r>
            <a:r>
              <a:rPr sz="85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scoring,</a:t>
            </a:r>
            <a:r>
              <a:rPr sz="85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pathogenic</a:t>
            </a:r>
            <a:r>
              <a:rPr sz="85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mechanisms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2660" y="2832381"/>
            <a:ext cx="19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A9EA8"/>
                </a:solidFill>
                <a:latin typeface="Calibri"/>
                <a:cs typeface="Calibri"/>
              </a:rPr>
              <a:t>03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7680" y="2724837"/>
            <a:ext cx="4363720" cy="1472565"/>
            <a:chOff x="337680" y="2724837"/>
            <a:chExt cx="4363720" cy="1472565"/>
          </a:xfrm>
        </p:grpSpPr>
        <p:sp>
          <p:nvSpPr>
            <p:cNvPr id="22" name="object 22"/>
            <p:cNvSpPr/>
            <p:nvPr/>
          </p:nvSpPr>
          <p:spPr>
            <a:xfrm>
              <a:off x="987475" y="2724837"/>
              <a:ext cx="18415" cy="438784"/>
            </a:xfrm>
            <a:custGeom>
              <a:avLst/>
              <a:gdLst/>
              <a:ahLst/>
              <a:cxnLst/>
              <a:rect l="l" t="t" r="r" b="b"/>
              <a:pathLst>
                <a:path w="18415" h="438785">
                  <a:moveTo>
                    <a:pt x="18008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9004" y="438480"/>
                  </a:lnTo>
                  <a:lnTo>
                    <a:pt x="18008" y="438480"/>
                  </a:lnTo>
                  <a:lnTo>
                    <a:pt x="18008" y="0"/>
                  </a:lnTo>
                  <a:close/>
                </a:path>
              </a:pathLst>
            </a:custGeom>
            <a:solidFill>
              <a:srgbClr val="4DC4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680" y="3336469"/>
              <a:ext cx="4363199" cy="86076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57200" y="3419997"/>
              <a:ext cx="4160520" cy="658495"/>
            </a:xfrm>
            <a:custGeom>
              <a:avLst/>
              <a:gdLst/>
              <a:ahLst/>
              <a:cxnLst/>
              <a:rect l="l" t="t" r="r" b="b"/>
              <a:pathLst>
                <a:path w="4160520" h="658495">
                  <a:moveTo>
                    <a:pt x="4160164" y="0"/>
                  </a:moveTo>
                  <a:lnTo>
                    <a:pt x="0" y="0"/>
                  </a:lnTo>
                  <a:lnTo>
                    <a:pt x="0" y="658088"/>
                  </a:lnTo>
                  <a:lnTo>
                    <a:pt x="2080082" y="658088"/>
                  </a:lnTo>
                  <a:lnTo>
                    <a:pt x="4160164" y="658088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F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65860" y="2653085"/>
            <a:ext cx="2677160" cy="4432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Data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Extraction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&amp;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 Quality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Control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GRCh38</a:t>
            </a:r>
            <a:r>
              <a:rPr sz="85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genome,</a:t>
            </a:r>
            <a:r>
              <a:rPr sz="8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class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 imbalance,</a:t>
            </a:r>
            <a:r>
              <a:rPr sz="8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chromosome-aware</a:t>
            </a:r>
            <a:r>
              <a:rPr sz="85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splits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2660" y="3637345"/>
            <a:ext cx="19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A9EA8"/>
                </a:solidFill>
                <a:latin typeface="Calibri"/>
                <a:cs typeface="Calibri"/>
              </a:rPr>
              <a:t>04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7680" y="3529446"/>
            <a:ext cx="4363720" cy="1472565"/>
            <a:chOff x="337680" y="3529446"/>
            <a:chExt cx="4363720" cy="1472565"/>
          </a:xfrm>
        </p:grpSpPr>
        <p:sp>
          <p:nvSpPr>
            <p:cNvPr id="28" name="object 28"/>
            <p:cNvSpPr/>
            <p:nvPr/>
          </p:nvSpPr>
          <p:spPr>
            <a:xfrm>
              <a:off x="987475" y="3529446"/>
              <a:ext cx="18415" cy="438784"/>
            </a:xfrm>
            <a:custGeom>
              <a:avLst/>
              <a:gdLst/>
              <a:ahLst/>
              <a:cxnLst/>
              <a:rect l="l" t="t" r="r" b="b"/>
              <a:pathLst>
                <a:path w="18415" h="438785">
                  <a:moveTo>
                    <a:pt x="18008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9004" y="438480"/>
                  </a:lnTo>
                  <a:lnTo>
                    <a:pt x="18008" y="438480"/>
                  </a:lnTo>
                  <a:lnTo>
                    <a:pt x="18008" y="0"/>
                  </a:lnTo>
                  <a:close/>
                </a:path>
              </a:pathLst>
            </a:custGeom>
            <a:solidFill>
              <a:srgbClr val="4DC4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680" y="4141065"/>
              <a:ext cx="4363199" cy="8607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57200" y="4224606"/>
              <a:ext cx="4160520" cy="658495"/>
            </a:xfrm>
            <a:custGeom>
              <a:avLst/>
              <a:gdLst/>
              <a:ahLst/>
              <a:cxnLst/>
              <a:rect l="l" t="t" r="r" b="b"/>
              <a:pathLst>
                <a:path w="4160520" h="658495">
                  <a:moveTo>
                    <a:pt x="4160164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2080082" y="658075"/>
                  </a:lnTo>
                  <a:lnTo>
                    <a:pt x="4160164" y="65807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65860" y="3457666"/>
            <a:ext cx="2990215" cy="4432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Feature</a:t>
            </a:r>
            <a:r>
              <a:rPr sz="1050" b="1" spc="-3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Engineering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6-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mer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30" dirty="0">
                <a:solidFill>
                  <a:srgbClr val="6A9DB1"/>
                </a:solidFill>
                <a:latin typeface="Calibri"/>
                <a:cs typeface="Calibri"/>
              </a:rPr>
              <a:t>k-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mer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vectors,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 GC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content, biological</a:t>
            </a:r>
            <a:r>
              <a:rPr sz="85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features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 —</a:t>
            </a:r>
            <a:r>
              <a:rPr sz="85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12,301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6A9DB1"/>
                </a:solidFill>
                <a:latin typeface="Calibri"/>
                <a:cs typeface="Calibri"/>
              </a:rPr>
              <a:t>dims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2660" y="4441941"/>
            <a:ext cx="19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A9EA8"/>
                </a:solidFill>
                <a:latin typeface="Calibri"/>
                <a:cs typeface="Calibri"/>
              </a:rPr>
              <a:t>05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87475" y="922314"/>
            <a:ext cx="8102600" cy="3850640"/>
            <a:chOff x="987475" y="922314"/>
            <a:chExt cx="8102600" cy="3850640"/>
          </a:xfrm>
        </p:grpSpPr>
        <p:sp>
          <p:nvSpPr>
            <p:cNvPr id="34" name="object 34"/>
            <p:cNvSpPr/>
            <p:nvPr/>
          </p:nvSpPr>
          <p:spPr>
            <a:xfrm>
              <a:off x="987475" y="4334397"/>
              <a:ext cx="18415" cy="438784"/>
            </a:xfrm>
            <a:custGeom>
              <a:avLst/>
              <a:gdLst/>
              <a:ahLst/>
              <a:cxnLst/>
              <a:rect l="l" t="t" r="r" b="b"/>
              <a:pathLst>
                <a:path w="18415" h="438785">
                  <a:moveTo>
                    <a:pt x="18008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9004" y="438480"/>
                  </a:lnTo>
                  <a:lnTo>
                    <a:pt x="18008" y="438480"/>
                  </a:lnTo>
                  <a:lnTo>
                    <a:pt x="18008" y="0"/>
                  </a:lnTo>
                  <a:close/>
                </a:path>
              </a:pathLst>
            </a:custGeom>
            <a:solidFill>
              <a:srgbClr val="4DC4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6800" y="922314"/>
              <a:ext cx="4363199" cy="86076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846320" y="1005842"/>
              <a:ext cx="4160520" cy="658495"/>
            </a:xfrm>
            <a:custGeom>
              <a:avLst/>
              <a:gdLst/>
              <a:ahLst/>
              <a:cxnLst/>
              <a:rect l="l" t="t" r="r" b="b"/>
              <a:pathLst>
                <a:path w="4160520" h="658494">
                  <a:moveTo>
                    <a:pt x="4160164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2080082" y="658075"/>
                  </a:lnTo>
                  <a:lnTo>
                    <a:pt x="4160164" y="65807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F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65860" y="4261823"/>
            <a:ext cx="2502535" cy="44386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Preprocessing</a:t>
            </a:r>
            <a:r>
              <a:rPr sz="1050" b="1" spc="-3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&amp;</a:t>
            </a:r>
            <a:r>
              <a:rPr sz="1050" b="1" spc="-2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Balanced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Dataset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Imbalance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fix,</a:t>
            </a:r>
            <a:r>
              <a:rPr sz="850" spc="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leakage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prevention,</a:t>
            </a:r>
            <a:r>
              <a:rPr sz="85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train/val/test</a:t>
            </a:r>
            <a:r>
              <a:rPr sz="850" spc="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pipeline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51780" y="1223177"/>
            <a:ext cx="19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A9EA8"/>
                </a:solidFill>
                <a:latin typeface="Calibri"/>
                <a:cs typeface="Calibri"/>
              </a:rPr>
              <a:t>06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726800" y="1115646"/>
            <a:ext cx="4363720" cy="1472565"/>
            <a:chOff x="4726800" y="1115646"/>
            <a:chExt cx="4363720" cy="1472565"/>
          </a:xfrm>
        </p:grpSpPr>
        <p:sp>
          <p:nvSpPr>
            <p:cNvPr id="40" name="object 40"/>
            <p:cNvSpPr/>
            <p:nvPr/>
          </p:nvSpPr>
          <p:spPr>
            <a:xfrm>
              <a:off x="5376595" y="1115646"/>
              <a:ext cx="18415" cy="438784"/>
            </a:xfrm>
            <a:custGeom>
              <a:avLst/>
              <a:gdLst/>
              <a:ahLst/>
              <a:cxnLst/>
              <a:rect l="l" t="t" r="r" b="b"/>
              <a:pathLst>
                <a:path w="18414" h="438784">
                  <a:moveTo>
                    <a:pt x="18008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9004" y="438480"/>
                  </a:lnTo>
                  <a:lnTo>
                    <a:pt x="18008" y="438480"/>
                  </a:lnTo>
                  <a:lnTo>
                    <a:pt x="18008" y="0"/>
                  </a:lnTo>
                  <a:close/>
                </a:path>
              </a:pathLst>
            </a:custGeom>
            <a:solidFill>
              <a:srgbClr val="4DC4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6800" y="1726909"/>
              <a:ext cx="4363199" cy="86076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846319" y="1810437"/>
              <a:ext cx="4160520" cy="658495"/>
            </a:xfrm>
            <a:custGeom>
              <a:avLst/>
              <a:gdLst/>
              <a:ahLst/>
              <a:cxnLst/>
              <a:rect l="l" t="t" r="r" b="b"/>
              <a:pathLst>
                <a:path w="4160520" h="658494">
                  <a:moveTo>
                    <a:pt x="4160164" y="0"/>
                  </a:moveTo>
                  <a:lnTo>
                    <a:pt x="0" y="0"/>
                  </a:lnTo>
                  <a:lnTo>
                    <a:pt x="0" y="658088"/>
                  </a:lnTo>
                  <a:lnTo>
                    <a:pt x="2080082" y="658088"/>
                  </a:lnTo>
                  <a:lnTo>
                    <a:pt x="4160164" y="658088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454980" y="1043071"/>
            <a:ext cx="2686050" cy="44386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Model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20" dirty="0">
                <a:solidFill>
                  <a:srgbClr val="0C3A6D"/>
                </a:solidFill>
                <a:latin typeface="Calibri"/>
                <a:cs typeface="Calibri"/>
              </a:rPr>
              <a:t>Training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—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XGBoost</a:t>
            </a:r>
            <a:r>
              <a:rPr sz="1050" b="1" spc="-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&amp;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30" dirty="0">
                <a:solidFill>
                  <a:srgbClr val="0C3A6D"/>
                </a:solidFill>
                <a:latin typeface="Calibri"/>
                <a:cs typeface="Calibri"/>
              </a:rPr>
              <a:t>DNABERT-</a:t>
            </a:r>
            <a:r>
              <a:rPr sz="1050" b="1" spc="-50" dirty="0">
                <a:solidFill>
                  <a:srgbClr val="0C3A6D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GPU-accelerated</a:t>
            </a:r>
            <a:r>
              <a:rPr sz="850" spc="2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training,</a:t>
            </a:r>
            <a:r>
              <a:rPr sz="850" spc="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threshold</a:t>
            </a:r>
            <a:r>
              <a:rPr sz="850" spc="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optimization,</a:t>
            </a:r>
            <a:r>
              <a:rPr sz="850" spc="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calibration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51780" y="2027785"/>
            <a:ext cx="19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A9EA8"/>
                </a:solidFill>
                <a:latin typeface="Calibri"/>
                <a:cs typeface="Calibri"/>
              </a:rPr>
              <a:t>07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726800" y="1920242"/>
            <a:ext cx="4363720" cy="1472565"/>
            <a:chOff x="4726800" y="1920242"/>
            <a:chExt cx="4363720" cy="1472565"/>
          </a:xfrm>
        </p:grpSpPr>
        <p:sp>
          <p:nvSpPr>
            <p:cNvPr id="46" name="object 46"/>
            <p:cNvSpPr/>
            <p:nvPr/>
          </p:nvSpPr>
          <p:spPr>
            <a:xfrm>
              <a:off x="5376595" y="1920242"/>
              <a:ext cx="18415" cy="438784"/>
            </a:xfrm>
            <a:custGeom>
              <a:avLst/>
              <a:gdLst/>
              <a:ahLst/>
              <a:cxnLst/>
              <a:rect l="l" t="t" r="r" b="b"/>
              <a:pathLst>
                <a:path w="18414" h="438785">
                  <a:moveTo>
                    <a:pt x="18008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9004" y="438480"/>
                  </a:lnTo>
                  <a:lnTo>
                    <a:pt x="18008" y="438480"/>
                  </a:lnTo>
                  <a:lnTo>
                    <a:pt x="18008" y="0"/>
                  </a:lnTo>
                  <a:close/>
                </a:path>
              </a:pathLst>
            </a:custGeom>
            <a:solidFill>
              <a:srgbClr val="4DC4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6800" y="2531505"/>
              <a:ext cx="4363199" cy="86078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846319" y="2615046"/>
              <a:ext cx="4160520" cy="658495"/>
            </a:xfrm>
            <a:custGeom>
              <a:avLst/>
              <a:gdLst/>
              <a:ahLst/>
              <a:cxnLst/>
              <a:rect l="l" t="t" r="r" b="b"/>
              <a:pathLst>
                <a:path w="4160520" h="658495">
                  <a:moveTo>
                    <a:pt x="4160164" y="0"/>
                  </a:moveTo>
                  <a:lnTo>
                    <a:pt x="0" y="0"/>
                  </a:lnTo>
                  <a:lnTo>
                    <a:pt x="0" y="658075"/>
                  </a:lnTo>
                  <a:lnTo>
                    <a:pt x="2080082" y="658075"/>
                  </a:lnTo>
                  <a:lnTo>
                    <a:pt x="4160164" y="65807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F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454980" y="1847667"/>
            <a:ext cx="2495550" cy="44386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Results,</a:t>
            </a:r>
            <a:r>
              <a:rPr sz="1050" b="1" spc="-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Metrics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&amp;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 Visualizations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ROC-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AUC 0.8579,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PR-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AUC,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6A9DB1"/>
                </a:solidFill>
                <a:latin typeface="Calibri"/>
                <a:cs typeface="Calibri"/>
              </a:rPr>
              <a:t>SHAP,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6A9DB1"/>
                </a:solidFill>
                <a:latin typeface="Calibri"/>
                <a:cs typeface="Calibri"/>
              </a:rPr>
              <a:t>t-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SNE,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confusion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matrix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51780" y="2832381"/>
            <a:ext cx="19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A9EA8"/>
                </a:solidFill>
                <a:latin typeface="Calibri"/>
                <a:cs typeface="Calibri"/>
              </a:rPr>
              <a:t>08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726800" y="2724837"/>
            <a:ext cx="4363720" cy="1472565"/>
            <a:chOff x="4726800" y="2724837"/>
            <a:chExt cx="4363720" cy="1472565"/>
          </a:xfrm>
        </p:grpSpPr>
        <p:sp>
          <p:nvSpPr>
            <p:cNvPr id="52" name="object 52"/>
            <p:cNvSpPr/>
            <p:nvPr/>
          </p:nvSpPr>
          <p:spPr>
            <a:xfrm>
              <a:off x="5376595" y="2724837"/>
              <a:ext cx="18415" cy="438784"/>
            </a:xfrm>
            <a:custGeom>
              <a:avLst/>
              <a:gdLst/>
              <a:ahLst/>
              <a:cxnLst/>
              <a:rect l="l" t="t" r="r" b="b"/>
              <a:pathLst>
                <a:path w="18414" h="438785">
                  <a:moveTo>
                    <a:pt x="18008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9004" y="438480"/>
                  </a:lnTo>
                  <a:lnTo>
                    <a:pt x="18008" y="438480"/>
                  </a:lnTo>
                  <a:lnTo>
                    <a:pt x="18008" y="0"/>
                  </a:lnTo>
                  <a:close/>
                </a:path>
              </a:pathLst>
            </a:custGeom>
            <a:solidFill>
              <a:srgbClr val="4DC4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6800" y="3336469"/>
              <a:ext cx="4363199" cy="86076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846319" y="3419997"/>
              <a:ext cx="4160520" cy="658495"/>
            </a:xfrm>
            <a:custGeom>
              <a:avLst/>
              <a:gdLst/>
              <a:ahLst/>
              <a:cxnLst/>
              <a:rect l="l" t="t" r="r" b="b"/>
              <a:pathLst>
                <a:path w="4160520" h="658495">
                  <a:moveTo>
                    <a:pt x="4160164" y="0"/>
                  </a:moveTo>
                  <a:lnTo>
                    <a:pt x="0" y="0"/>
                  </a:lnTo>
                  <a:lnTo>
                    <a:pt x="0" y="658088"/>
                  </a:lnTo>
                  <a:lnTo>
                    <a:pt x="2080082" y="658088"/>
                  </a:lnTo>
                  <a:lnTo>
                    <a:pt x="4160164" y="658088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454980" y="2653085"/>
            <a:ext cx="2186940" cy="4432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API,</a:t>
            </a:r>
            <a:r>
              <a:rPr sz="1050" b="1" spc="-2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Frontend</a:t>
            </a:r>
            <a:r>
              <a:rPr sz="1050" b="1" spc="-3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&amp;</a:t>
            </a:r>
            <a:r>
              <a:rPr sz="1050" b="1" spc="-2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Deployment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FastAPI inference,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React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UI,</a:t>
            </a:r>
            <a:r>
              <a:rPr sz="8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splice</a:t>
            </a:r>
            <a:r>
              <a:rPr sz="8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analysis</a:t>
            </a:r>
            <a:r>
              <a:rPr sz="8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engine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51780" y="3637345"/>
            <a:ext cx="19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A9EA8"/>
                </a:solidFill>
                <a:latin typeface="Calibri"/>
                <a:cs typeface="Calibri"/>
              </a:rPr>
              <a:t>09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376595" y="3529446"/>
            <a:ext cx="18415" cy="438784"/>
          </a:xfrm>
          <a:custGeom>
            <a:avLst/>
            <a:gdLst/>
            <a:ahLst/>
            <a:cxnLst/>
            <a:rect l="l" t="t" r="r" b="b"/>
            <a:pathLst>
              <a:path w="18414" h="438785">
                <a:moveTo>
                  <a:pt x="18008" y="0"/>
                </a:moveTo>
                <a:lnTo>
                  <a:pt x="0" y="0"/>
                </a:lnTo>
                <a:lnTo>
                  <a:pt x="0" y="438480"/>
                </a:lnTo>
                <a:lnTo>
                  <a:pt x="9004" y="438480"/>
                </a:lnTo>
                <a:lnTo>
                  <a:pt x="18008" y="438480"/>
                </a:lnTo>
                <a:lnTo>
                  <a:pt x="18008" y="0"/>
                </a:lnTo>
                <a:close/>
              </a:path>
            </a:pathLst>
          </a:custGeom>
          <a:solidFill>
            <a:srgbClr val="4DC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454980" y="3457666"/>
            <a:ext cx="1817370" cy="4432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Conclusion</a:t>
            </a:r>
            <a:r>
              <a:rPr sz="1050" b="1" spc="-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&amp;</a:t>
            </a:r>
            <a:r>
              <a:rPr sz="1050" b="1" spc="-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Future</a:t>
            </a:r>
            <a:r>
              <a:rPr sz="1050" b="1" spc="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20" dirty="0">
                <a:solidFill>
                  <a:srgbClr val="0C3A6D"/>
                </a:solidFill>
                <a:latin typeface="Calibri"/>
                <a:cs typeface="Calibri"/>
              </a:rPr>
              <a:t>Work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Key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findings,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next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steps,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clinical</a:t>
            </a:r>
            <a:r>
              <a:rPr sz="8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potential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91429"/>
            <a:ext cx="1279804" cy="127944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37324" y="712802"/>
            <a:ext cx="8715375" cy="4133215"/>
            <a:chOff x="337324" y="712802"/>
            <a:chExt cx="8715375" cy="4133215"/>
          </a:xfrm>
        </p:grpSpPr>
        <p:pic>
          <p:nvPicPr>
            <p:cNvPr id="4" name="object 4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20" y="3840469"/>
              <a:ext cx="1005484" cy="10051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6844" y="712802"/>
              <a:ext cx="1097280" cy="36830"/>
            </a:xfrm>
            <a:custGeom>
              <a:avLst/>
              <a:gdLst/>
              <a:ahLst/>
              <a:cxnLst/>
              <a:rect l="l" t="t" r="r" b="b"/>
              <a:pathLst>
                <a:path w="1097280" h="36829">
                  <a:moveTo>
                    <a:pt x="1096911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548640" y="36360"/>
                  </a:lnTo>
                  <a:lnTo>
                    <a:pt x="1096911" y="36360"/>
                  </a:lnTo>
                  <a:lnTo>
                    <a:pt x="109691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324" y="785154"/>
              <a:ext cx="8432279" cy="16196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6844" y="868682"/>
              <a:ext cx="8229600" cy="1417320"/>
            </a:xfrm>
            <a:custGeom>
              <a:avLst/>
              <a:gdLst/>
              <a:ahLst/>
              <a:cxnLst/>
              <a:rect l="l" t="t" r="r" b="b"/>
              <a:pathLst>
                <a:path w="8229600" h="1417320">
                  <a:moveTo>
                    <a:pt x="8229231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4114800" y="1416964"/>
                  </a:lnTo>
                  <a:lnTo>
                    <a:pt x="8229231" y="1416964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EF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868682"/>
              <a:ext cx="73025" cy="1417320"/>
            </a:xfrm>
            <a:custGeom>
              <a:avLst/>
              <a:gdLst/>
              <a:ahLst/>
              <a:cxnLst/>
              <a:rect l="l" t="t" r="r" b="b"/>
              <a:pathLst>
                <a:path w="73025" h="1417320">
                  <a:moveTo>
                    <a:pt x="72720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6360" y="1416964"/>
                  </a:lnTo>
                  <a:lnTo>
                    <a:pt x="72720" y="14169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34136" y="246140"/>
            <a:ext cx="11696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/>
              <a:t>Abstract</a:t>
            </a:r>
            <a:endParaRPr sz="2600"/>
          </a:p>
        </p:txBody>
      </p:sp>
      <p:sp>
        <p:nvSpPr>
          <p:cNvPr id="10" name="object 10"/>
          <p:cNvSpPr txBox="1"/>
          <p:nvPr/>
        </p:nvSpPr>
        <p:spPr>
          <a:xfrm>
            <a:off x="698665" y="965062"/>
            <a:ext cx="7745095" cy="124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0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This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project</a:t>
            </a:r>
            <a:r>
              <a:rPr sz="10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presents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10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hybrid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machine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learning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framework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for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predicting whether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human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genetic variants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in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regions are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pathogenic</a:t>
            </a:r>
            <a:r>
              <a:rPr sz="10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or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benign. ClinVar</a:t>
            </a:r>
            <a:r>
              <a:rPr sz="1000" spc="-4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variants</a:t>
            </a:r>
            <a:r>
              <a:rPr sz="100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were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mapped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onto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GRCh38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human</a:t>
            </a:r>
            <a:r>
              <a:rPr sz="100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reference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genome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to</a:t>
            </a:r>
            <a:r>
              <a:rPr sz="100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extract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DNA</a:t>
            </a:r>
            <a:r>
              <a:rPr sz="1000" spc="-4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sequence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windows</a:t>
            </a:r>
            <a:r>
              <a:rPr sz="100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around</a:t>
            </a:r>
            <a:r>
              <a:rPr sz="100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each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mutation.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Using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combination</a:t>
            </a:r>
            <a:r>
              <a:rPr sz="10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DNABERT-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2</a:t>
            </a:r>
            <a:r>
              <a:rPr sz="10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transformer embeddings</a:t>
            </a:r>
            <a:r>
              <a:rPr sz="100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engineered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k-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mer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genomic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features,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 we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trained a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classification</a:t>
            </a:r>
            <a:r>
              <a:rPr sz="10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pipeline</a:t>
            </a:r>
            <a:r>
              <a:rPr sz="10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capable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detecting splice-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disrupting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mutations.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10"/>
              </a:spcBef>
            </a:pP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key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challenge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was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severe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class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imbalance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50,388 pathogenic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vs.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just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1,231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benign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variants.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We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resolved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this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using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10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benign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augmentation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strategy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chromosome-aware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dataset splitting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to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prevent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sequence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leakage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between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train/test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sets.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final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system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achieves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ROC-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AUC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10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0.8579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PR-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AUC</a:t>
            </a:r>
            <a:r>
              <a:rPr sz="10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0.8438,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is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deployed</a:t>
            </a:r>
            <a:r>
              <a:rPr sz="10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as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real-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time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FastAPI</a:t>
            </a:r>
            <a:r>
              <a:rPr sz="10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+</a:t>
            </a:r>
            <a:r>
              <a:rPr sz="10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2D3A"/>
                </a:solidFill>
                <a:latin typeface="Calibri"/>
                <a:cs typeface="Calibri"/>
              </a:rPr>
              <a:t>React</a:t>
            </a:r>
            <a:r>
              <a:rPr sz="1000" spc="-10" dirty="0">
                <a:solidFill>
                  <a:srgbClr val="192D3A"/>
                </a:solidFill>
                <a:latin typeface="Calibri"/>
                <a:cs typeface="Calibri"/>
              </a:rPr>
              <a:t> application.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7324" y="2366990"/>
            <a:ext cx="2214880" cy="1775460"/>
            <a:chOff x="337324" y="2366990"/>
            <a:chExt cx="2214880" cy="177546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7324" y="2366990"/>
              <a:ext cx="2214359" cy="17751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6844" y="2450517"/>
              <a:ext cx="2011680" cy="1572895"/>
            </a:xfrm>
            <a:custGeom>
              <a:avLst/>
              <a:gdLst/>
              <a:ahLst/>
              <a:cxnLst/>
              <a:rect l="l" t="t" r="r" b="b"/>
              <a:pathLst>
                <a:path w="2011680" h="1572895">
                  <a:moveTo>
                    <a:pt x="2011311" y="0"/>
                  </a:moveTo>
                  <a:lnTo>
                    <a:pt x="0" y="0"/>
                  </a:lnTo>
                  <a:lnTo>
                    <a:pt x="0" y="1572488"/>
                  </a:lnTo>
                  <a:lnTo>
                    <a:pt x="1005839" y="1572488"/>
                  </a:lnTo>
                  <a:lnTo>
                    <a:pt x="2011311" y="1572488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C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6844" y="2450162"/>
              <a:ext cx="2011680" cy="64135"/>
            </a:xfrm>
            <a:custGeom>
              <a:avLst/>
              <a:gdLst/>
              <a:ahLst/>
              <a:cxnLst/>
              <a:rect l="l" t="t" r="r" b="b"/>
              <a:pathLst>
                <a:path w="2011680" h="64135">
                  <a:moveTo>
                    <a:pt x="2011311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005839" y="63715"/>
                  </a:lnTo>
                  <a:lnTo>
                    <a:pt x="2011311" y="63715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C8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3935" y="2539376"/>
            <a:ext cx="1722120" cy="7785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050" b="1" spc="-10" dirty="0">
                <a:solidFill>
                  <a:srgbClr val="C83F3F"/>
                </a:solidFill>
                <a:latin typeface="Calibri"/>
                <a:cs typeface="Calibri"/>
              </a:rPr>
              <a:t>Problem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5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50k+ pathogenic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vs.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1.2k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benign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extreme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class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imbalance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in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real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genomic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data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67800" y="2366990"/>
            <a:ext cx="2214880" cy="1775460"/>
            <a:chOff x="2467800" y="2366990"/>
            <a:chExt cx="2214880" cy="177546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7800" y="2366990"/>
              <a:ext cx="2214359" cy="17751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87320" y="2450517"/>
              <a:ext cx="2011680" cy="1572895"/>
            </a:xfrm>
            <a:custGeom>
              <a:avLst/>
              <a:gdLst/>
              <a:ahLst/>
              <a:cxnLst/>
              <a:rect l="l" t="t" r="r" b="b"/>
              <a:pathLst>
                <a:path w="2011679" h="1572895">
                  <a:moveTo>
                    <a:pt x="2011324" y="0"/>
                  </a:moveTo>
                  <a:lnTo>
                    <a:pt x="0" y="0"/>
                  </a:lnTo>
                  <a:lnTo>
                    <a:pt x="0" y="1572488"/>
                  </a:lnTo>
                  <a:lnTo>
                    <a:pt x="1005839" y="1572488"/>
                  </a:lnTo>
                  <a:lnTo>
                    <a:pt x="2011324" y="1572488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87320" y="2450162"/>
              <a:ext cx="2011680" cy="64135"/>
            </a:xfrm>
            <a:custGeom>
              <a:avLst/>
              <a:gdLst/>
              <a:ahLst/>
              <a:cxnLst/>
              <a:rect l="l" t="t" r="r" b="b"/>
              <a:pathLst>
                <a:path w="2011679" h="64135">
                  <a:moveTo>
                    <a:pt x="2011324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005839" y="63715"/>
                  </a:lnTo>
                  <a:lnTo>
                    <a:pt x="2011324" y="63715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84424" y="2539376"/>
            <a:ext cx="1643380" cy="7785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050" b="1" spc="-10" dirty="0">
                <a:solidFill>
                  <a:srgbClr val="2A9EA8"/>
                </a:solidFill>
                <a:latin typeface="Calibri"/>
                <a:cs typeface="Calibri"/>
              </a:rPr>
              <a:t>Approach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5"/>
              </a:spcBef>
            </a:pP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DNABERT-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2</a:t>
            </a:r>
            <a:r>
              <a:rPr sz="9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+</a:t>
            </a:r>
            <a:r>
              <a:rPr sz="9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XGBoost</a:t>
            </a:r>
            <a:r>
              <a:rPr sz="9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ensemble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6-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mer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k-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mer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feature engineering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on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±200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bp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windows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98276" y="2366990"/>
            <a:ext cx="2214880" cy="1775460"/>
            <a:chOff x="4598276" y="2366990"/>
            <a:chExt cx="2214880" cy="177546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98276" y="2366990"/>
              <a:ext cx="2214359" cy="177516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17796" y="2450517"/>
              <a:ext cx="2011680" cy="1572895"/>
            </a:xfrm>
            <a:custGeom>
              <a:avLst/>
              <a:gdLst/>
              <a:ahLst/>
              <a:cxnLst/>
              <a:rect l="l" t="t" r="r" b="b"/>
              <a:pathLst>
                <a:path w="2011679" h="1572895">
                  <a:moveTo>
                    <a:pt x="2011324" y="0"/>
                  </a:moveTo>
                  <a:lnTo>
                    <a:pt x="0" y="0"/>
                  </a:lnTo>
                  <a:lnTo>
                    <a:pt x="0" y="1572488"/>
                  </a:lnTo>
                  <a:lnTo>
                    <a:pt x="1005839" y="1572488"/>
                  </a:lnTo>
                  <a:lnTo>
                    <a:pt x="2011324" y="1572488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D3EF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17796" y="2450162"/>
              <a:ext cx="2011680" cy="64135"/>
            </a:xfrm>
            <a:custGeom>
              <a:avLst/>
              <a:gdLst/>
              <a:ahLst/>
              <a:cxnLst/>
              <a:rect l="l" t="t" r="r" b="b"/>
              <a:pathLst>
                <a:path w="2011679" h="64135">
                  <a:moveTo>
                    <a:pt x="2011324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005839" y="63715"/>
                  </a:lnTo>
                  <a:lnTo>
                    <a:pt x="2011324" y="63715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2D9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814900" y="2539376"/>
            <a:ext cx="1755775" cy="7785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050" b="1" spc="-10" dirty="0">
                <a:solidFill>
                  <a:srgbClr val="2D9D67"/>
                </a:solidFill>
                <a:latin typeface="Calibri"/>
                <a:cs typeface="Calibri"/>
              </a:rPr>
              <a:t>Result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ROC-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AUC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0.8579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PR-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AUC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0.8438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endParaRPr sz="9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Macro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F1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0.8427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Accuracy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84%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on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held-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out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test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set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729120" y="2366990"/>
            <a:ext cx="2214880" cy="1775460"/>
            <a:chOff x="6729120" y="2366990"/>
            <a:chExt cx="2214880" cy="177546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9120" y="2366990"/>
              <a:ext cx="2214359" cy="177516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848639" y="2450517"/>
              <a:ext cx="2011680" cy="1572895"/>
            </a:xfrm>
            <a:custGeom>
              <a:avLst/>
              <a:gdLst/>
              <a:ahLst/>
              <a:cxnLst/>
              <a:rect l="l" t="t" r="r" b="b"/>
              <a:pathLst>
                <a:path w="2011679" h="1572895">
                  <a:moveTo>
                    <a:pt x="2011324" y="0"/>
                  </a:moveTo>
                  <a:lnTo>
                    <a:pt x="0" y="0"/>
                  </a:lnTo>
                  <a:lnTo>
                    <a:pt x="0" y="1572488"/>
                  </a:lnTo>
                  <a:lnTo>
                    <a:pt x="1005839" y="1572488"/>
                  </a:lnTo>
                  <a:lnTo>
                    <a:pt x="2011324" y="1572488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FDF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48639" y="2450162"/>
              <a:ext cx="2011680" cy="64135"/>
            </a:xfrm>
            <a:custGeom>
              <a:avLst/>
              <a:gdLst/>
              <a:ahLst/>
              <a:cxnLst/>
              <a:rect l="l" t="t" r="r" b="b"/>
              <a:pathLst>
                <a:path w="2011679" h="64135">
                  <a:moveTo>
                    <a:pt x="2011324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005839" y="63715"/>
                  </a:lnTo>
                  <a:lnTo>
                    <a:pt x="2011324" y="63715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45376" y="2539376"/>
            <a:ext cx="1795780" cy="77851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050" b="1" spc="-10" dirty="0">
                <a:solidFill>
                  <a:srgbClr val="E77839"/>
                </a:solidFill>
                <a:latin typeface="Calibri"/>
                <a:cs typeface="Calibri"/>
              </a:rPr>
              <a:t>Deploy</a:t>
            </a:r>
            <a:endParaRPr sz="105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95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FastAPI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backend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+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React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frontend </a:t>
            </a:r>
            <a:r>
              <a:rPr sz="950" spc="-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real-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time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variant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queries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sub-second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latency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42500" y="4388296"/>
            <a:ext cx="24536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Amrita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School</a:t>
            </a:r>
            <a:r>
              <a:rPr sz="80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of</a:t>
            </a:r>
            <a:r>
              <a:rPr sz="80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Engineering</a:t>
            </a:r>
            <a:r>
              <a:rPr sz="80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· 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Bioinformatics</a:t>
            </a:r>
            <a:r>
              <a:rPr sz="80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&amp; ML</a:t>
            </a:r>
            <a:r>
              <a:rPr sz="800" spc="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Project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3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029200" y="182513"/>
            <a:ext cx="4114800" cy="4754880"/>
            <a:chOff x="5029200" y="182513"/>
            <a:chExt cx="4114800" cy="4754880"/>
          </a:xfrm>
        </p:grpSpPr>
        <p:pic>
          <p:nvPicPr>
            <p:cNvPr id="4" name="object 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0" y="182513"/>
              <a:ext cx="2742831" cy="4754524"/>
            </a:xfrm>
            <a:prstGeom prst="rect">
              <a:avLst/>
            </a:prstGeom>
          </p:spPr>
        </p:pic>
        <p:pic>
          <p:nvPicPr>
            <p:cNvPr id="5" name="object 5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200" y="457189"/>
              <a:ext cx="1371244" cy="137088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0780" y="1267106"/>
            <a:ext cx="7194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5" dirty="0">
                <a:solidFill>
                  <a:srgbClr val="2A9EA8"/>
                </a:solidFill>
              </a:rPr>
              <a:t>01</a:t>
            </a:r>
            <a:endParaRPr sz="5400"/>
          </a:p>
        </p:txBody>
      </p:sp>
      <p:sp>
        <p:nvSpPr>
          <p:cNvPr id="7" name="object 7"/>
          <p:cNvSpPr/>
          <p:nvPr/>
        </p:nvSpPr>
        <p:spPr>
          <a:xfrm>
            <a:off x="731164" y="1279806"/>
            <a:ext cx="1280160" cy="822960"/>
          </a:xfrm>
          <a:custGeom>
            <a:avLst/>
            <a:gdLst/>
            <a:ahLst/>
            <a:cxnLst/>
            <a:rect l="l" t="t" r="r" b="b"/>
            <a:pathLst>
              <a:path w="1280160" h="822960">
                <a:moveTo>
                  <a:pt x="640079" y="822591"/>
                </a:moveTo>
                <a:lnTo>
                  <a:pt x="0" y="822591"/>
                </a:lnTo>
                <a:lnTo>
                  <a:pt x="0" y="0"/>
                </a:lnTo>
                <a:lnTo>
                  <a:pt x="1279791" y="0"/>
                </a:lnTo>
                <a:lnTo>
                  <a:pt x="1279791" y="822591"/>
                </a:lnTo>
                <a:lnTo>
                  <a:pt x="640079" y="822591"/>
                </a:lnTo>
                <a:close/>
              </a:path>
            </a:pathLst>
          </a:custGeom>
          <a:ln w="25559">
            <a:solidFill>
              <a:srgbClr val="2A9E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83995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Splice</a:t>
            </a:r>
            <a:r>
              <a:rPr sz="3800" spc="-95" dirty="0"/>
              <a:t> </a:t>
            </a:r>
            <a:r>
              <a:rPr sz="3800" dirty="0"/>
              <a:t>Sites</a:t>
            </a:r>
            <a:r>
              <a:rPr sz="3800" spc="-85" dirty="0"/>
              <a:t> </a:t>
            </a:r>
            <a:r>
              <a:rPr sz="3800" spc="-50" dirty="0"/>
              <a:t>&amp; </a:t>
            </a:r>
            <a:r>
              <a:rPr sz="3800" dirty="0"/>
              <a:t>Disease</a:t>
            </a:r>
            <a:r>
              <a:rPr sz="3800" spc="-60" dirty="0"/>
              <a:t> </a:t>
            </a:r>
            <a:r>
              <a:rPr sz="3800" spc="-10" dirty="0"/>
              <a:t>Biology</a:t>
            </a:r>
            <a:endParaRPr sz="3800"/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400" b="0" spc="-10" dirty="0">
                <a:solidFill>
                  <a:srgbClr val="4DC4CE"/>
                </a:solidFill>
                <a:latin typeface="Calibri"/>
                <a:cs typeface="Calibri"/>
              </a:rPr>
              <a:t>Understanding</a:t>
            </a:r>
            <a:r>
              <a:rPr sz="1400" b="0" spc="-2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4DC4CE"/>
                </a:solidFill>
                <a:latin typeface="Calibri"/>
                <a:cs typeface="Calibri"/>
              </a:rPr>
              <a:t>the</a:t>
            </a:r>
            <a:r>
              <a:rPr sz="1400" b="0" spc="-2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4DC4CE"/>
                </a:solidFill>
                <a:latin typeface="Calibri"/>
                <a:cs typeface="Calibri"/>
              </a:rPr>
              <a:t>molecular</a:t>
            </a:r>
            <a:r>
              <a:rPr sz="1400" b="0" spc="-3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4DC4CE"/>
                </a:solidFill>
                <a:latin typeface="Calibri"/>
                <a:cs typeface="Calibri"/>
              </a:rPr>
              <a:t>basis</a:t>
            </a:r>
            <a:r>
              <a:rPr sz="1400" b="0" spc="-2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4DC4CE"/>
                </a:solidFill>
                <a:latin typeface="Calibri"/>
                <a:cs typeface="Calibri"/>
              </a:rPr>
              <a:t>of</a:t>
            </a:r>
            <a:r>
              <a:rPr sz="1400" b="0" spc="-3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4DC4CE"/>
                </a:solidFill>
                <a:latin typeface="Calibri"/>
                <a:cs typeface="Calibri"/>
              </a:rPr>
              <a:t>pathogenic</a:t>
            </a:r>
            <a:r>
              <a:rPr sz="1400" b="0" spc="-2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4DC4CE"/>
                </a:solidFill>
                <a:latin typeface="Calibri"/>
                <a:cs typeface="Calibri"/>
              </a:rPr>
              <a:t>splice</a:t>
            </a:r>
            <a:r>
              <a:rPr sz="1400" b="0" spc="-3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4DC4CE"/>
                </a:solidFill>
                <a:latin typeface="Calibri"/>
                <a:cs typeface="Calibri"/>
              </a:rPr>
              <a:t>variants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884" y="182513"/>
            <a:ext cx="8898255" cy="2542540"/>
            <a:chOff x="245884" y="182513"/>
            <a:chExt cx="8898255" cy="254254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2480" y="182513"/>
              <a:ext cx="731151" cy="7311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5404" y="66708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4DC4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884" y="693358"/>
              <a:ext cx="2945879" cy="20311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404" y="776886"/>
              <a:ext cx="2743200" cy="1828800"/>
            </a:xfrm>
            <a:custGeom>
              <a:avLst/>
              <a:gdLst/>
              <a:ahLst/>
              <a:cxnLst/>
              <a:rect l="l" t="t" r="r" b="b"/>
              <a:pathLst>
                <a:path w="2743200" h="1828800">
                  <a:moveTo>
                    <a:pt x="274283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1371600" y="1828431"/>
                  </a:lnTo>
                  <a:lnTo>
                    <a:pt x="2742831" y="1828431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404" y="776886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31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371600" y="54355"/>
                  </a:lnTo>
                  <a:lnTo>
                    <a:pt x="2742831" y="54355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Canonical</a:t>
            </a:r>
            <a:r>
              <a:rPr spc="-55" dirty="0"/>
              <a:t> </a:t>
            </a:r>
            <a:r>
              <a:rPr dirty="0"/>
              <a:t>Splice</a:t>
            </a:r>
            <a:r>
              <a:rPr spc="-40" dirty="0"/>
              <a:t> </a:t>
            </a:r>
            <a:r>
              <a:rPr dirty="0"/>
              <a:t>Signals</a:t>
            </a:r>
            <a:r>
              <a:rPr spc="-4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Pathogenic</a:t>
            </a:r>
            <a:r>
              <a:rPr spc="-55" dirty="0"/>
              <a:t> </a:t>
            </a:r>
            <a:r>
              <a:rPr spc="-10" dirty="0"/>
              <a:t>Mechanisms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0860" y="918262"/>
            <a:ext cx="2575560" cy="1151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A9EA8"/>
                </a:solidFill>
                <a:latin typeface="Calibri"/>
                <a:cs typeface="Calibri"/>
              </a:rPr>
              <a:t>Donor</a:t>
            </a:r>
            <a:r>
              <a:rPr sz="1100" b="1" spc="-30" dirty="0">
                <a:solidFill>
                  <a:srgbClr val="2A9EA8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A9EA8"/>
                </a:solidFill>
                <a:latin typeface="Calibri"/>
                <a:cs typeface="Calibri"/>
              </a:rPr>
              <a:t>Site</a:t>
            </a:r>
            <a:r>
              <a:rPr sz="1100" b="1" spc="-15" dirty="0">
                <a:solidFill>
                  <a:srgbClr val="2A9EA8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A9EA8"/>
                </a:solidFill>
                <a:latin typeface="Calibri"/>
                <a:cs typeface="Calibri"/>
              </a:rPr>
              <a:t>(5'</a:t>
            </a:r>
            <a:r>
              <a:rPr sz="1100" b="1" spc="-20" dirty="0">
                <a:solidFill>
                  <a:srgbClr val="2A9EA8"/>
                </a:solidFill>
                <a:latin typeface="Calibri"/>
                <a:cs typeface="Calibri"/>
              </a:rPr>
              <a:t> </a:t>
            </a:r>
            <a:r>
              <a:rPr sz="1100" b="1" spc="-25" dirty="0">
                <a:solidFill>
                  <a:srgbClr val="2A9EA8"/>
                </a:solidFill>
                <a:latin typeface="Calibri"/>
                <a:cs typeface="Calibri"/>
              </a:rPr>
              <a:t>SS)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1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GT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dinucleotide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at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positions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+1/+2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is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more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than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99%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conserved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across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all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known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human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introns.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Any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mutation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here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almost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always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disrupts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splicing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the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spliceosome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simply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cannot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recognise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exon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boundary,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leading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to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exon skipping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or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intron retention.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71964" y="693358"/>
            <a:ext cx="2946400" cy="2031364"/>
            <a:chOff x="3171964" y="693358"/>
            <a:chExt cx="2946400" cy="2031364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1964" y="693358"/>
              <a:ext cx="2945879" cy="203112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91484" y="776886"/>
              <a:ext cx="2743200" cy="1828800"/>
            </a:xfrm>
            <a:custGeom>
              <a:avLst/>
              <a:gdLst/>
              <a:ahLst/>
              <a:cxnLst/>
              <a:rect l="l" t="t" r="r" b="b"/>
              <a:pathLst>
                <a:path w="2743200" h="1828800">
                  <a:moveTo>
                    <a:pt x="274283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1371600" y="1828431"/>
                  </a:lnTo>
                  <a:lnTo>
                    <a:pt x="2742831" y="1828431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91484" y="776886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31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371600" y="54355"/>
                  </a:lnTo>
                  <a:lnTo>
                    <a:pt x="2742831" y="54355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06940" y="918262"/>
            <a:ext cx="2469515" cy="100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7839"/>
                </a:solidFill>
                <a:latin typeface="Calibri"/>
                <a:cs typeface="Calibri"/>
              </a:rPr>
              <a:t>Acceptor</a:t>
            </a:r>
            <a:r>
              <a:rPr sz="1100" b="1" spc="-35" dirty="0">
                <a:solidFill>
                  <a:srgbClr val="E7783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7839"/>
                </a:solidFill>
                <a:latin typeface="Calibri"/>
                <a:cs typeface="Calibri"/>
              </a:rPr>
              <a:t>Site</a:t>
            </a:r>
            <a:r>
              <a:rPr sz="1100" b="1" spc="-35" dirty="0">
                <a:solidFill>
                  <a:srgbClr val="E7783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7839"/>
                </a:solidFill>
                <a:latin typeface="Calibri"/>
                <a:cs typeface="Calibri"/>
              </a:rPr>
              <a:t>(3'</a:t>
            </a:r>
            <a:r>
              <a:rPr sz="1100" b="1" spc="-40" dirty="0">
                <a:solidFill>
                  <a:srgbClr val="E77839"/>
                </a:solidFill>
                <a:latin typeface="Calibri"/>
                <a:cs typeface="Calibri"/>
              </a:rPr>
              <a:t> </a:t>
            </a:r>
            <a:r>
              <a:rPr sz="1100" b="1" spc="-25" dirty="0">
                <a:solidFill>
                  <a:srgbClr val="E77839"/>
                </a:solidFill>
                <a:latin typeface="Calibri"/>
                <a:cs typeface="Calibri"/>
              </a:rPr>
              <a:t>SS)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1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AG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dinucleotide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at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positions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−2/−1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just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upstream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exon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is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required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for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3'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splice recognition.</a:t>
            </a:r>
            <a:r>
              <a:rPr sz="9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Substitution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at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these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positions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causes exon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exclusion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introduces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a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frameshift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in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downstream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coding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98044" y="693358"/>
            <a:ext cx="2946400" cy="2031364"/>
            <a:chOff x="6098044" y="693358"/>
            <a:chExt cx="2946400" cy="2031364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8044" y="693358"/>
              <a:ext cx="2945879" cy="203112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17564" y="776886"/>
              <a:ext cx="2743200" cy="1828800"/>
            </a:xfrm>
            <a:custGeom>
              <a:avLst/>
              <a:gdLst/>
              <a:ahLst/>
              <a:cxnLst/>
              <a:rect l="l" t="t" r="r" b="b"/>
              <a:pathLst>
                <a:path w="2743200" h="1828800">
                  <a:moveTo>
                    <a:pt x="274283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1371600" y="1828431"/>
                  </a:lnTo>
                  <a:lnTo>
                    <a:pt x="2742831" y="1828431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17564" y="776886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31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371600" y="54355"/>
                  </a:lnTo>
                  <a:lnTo>
                    <a:pt x="2742831" y="54355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2D9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33020" y="918262"/>
            <a:ext cx="2523490" cy="1151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D9D67"/>
                </a:solidFill>
                <a:latin typeface="Calibri"/>
                <a:cs typeface="Calibri"/>
              </a:rPr>
              <a:t>Cryptic</a:t>
            </a:r>
            <a:r>
              <a:rPr sz="1100" b="1" spc="-50" dirty="0">
                <a:solidFill>
                  <a:srgbClr val="2D9D6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9D67"/>
                </a:solidFill>
                <a:latin typeface="Calibri"/>
                <a:cs typeface="Calibri"/>
              </a:rPr>
              <a:t>Splice</a:t>
            </a:r>
            <a:r>
              <a:rPr sz="1100" b="1" spc="-40" dirty="0">
                <a:solidFill>
                  <a:srgbClr val="2D9D67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D9D67"/>
                </a:solidFill>
                <a:latin typeface="Calibri"/>
                <a:cs typeface="Calibri"/>
              </a:rPr>
              <a:t>Sites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1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When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canonical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site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is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lost,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latent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sequences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partial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signal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homology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can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get</a:t>
            </a:r>
            <a:r>
              <a:rPr sz="950" spc="-4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activated.</a:t>
            </a:r>
            <a:endParaRPr sz="950">
              <a:latin typeface="Calibri"/>
              <a:cs typeface="Calibri"/>
            </a:endParaRPr>
          </a:p>
          <a:p>
            <a:pPr marL="12700" marR="106045">
              <a:lnSpc>
                <a:spcPct val="100000"/>
              </a:lnSpc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These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cryptic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sites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compete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remaining canonical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signals,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generating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aberrant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mRNA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isoforms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partial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intron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retention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altered protein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function.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2696" y="2794218"/>
            <a:ext cx="2230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C3A6D"/>
                </a:solidFill>
                <a:latin typeface="Calibri"/>
                <a:cs typeface="Calibri"/>
              </a:rPr>
              <a:t>PWM</a:t>
            </a:r>
            <a:r>
              <a:rPr sz="1200" b="1" spc="-10" dirty="0">
                <a:solidFill>
                  <a:srgbClr val="0C3A6D"/>
                </a:solidFill>
                <a:latin typeface="Calibri"/>
                <a:cs typeface="Calibri"/>
              </a:rPr>
              <a:t> Position</a:t>
            </a:r>
            <a:r>
              <a:rPr sz="1200" b="1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C3A6D"/>
                </a:solidFill>
                <a:latin typeface="Calibri"/>
                <a:cs typeface="Calibri"/>
              </a:rPr>
              <a:t>Conservation</a:t>
            </a:r>
            <a:r>
              <a:rPr sz="1200" b="1" spc="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C3A6D"/>
                </a:solidFill>
                <a:latin typeface="Calibri"/>
                <a:cs typeface="Calibri"/>
              </a:rPr>
              <a:t>Scores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62901" y="3060383"/>
          <a:ext cx="4663439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Position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Conservation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+1</a:t>
                      </a:r>
                      <a:r>
                        <a:rPr sz="1000" spc="-3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(Donor)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5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99.9%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1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Critical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+2</a:t>
                      </a:r>
                      <a:r>
                        <a:rPr sz="1000" spc="-3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(Donor)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5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99.8%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1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Critical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0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(Acceptor)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5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96.1%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20" dirty="0">
                          <a:solidFill>
                            <a:srgbClr val="E77839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0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(Acceptor)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5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95.0%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20" dirty="0">
                          <a:solidFill>
                            <a:srgbClr val="E77839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+5</a:t>
                      </a:r>
                      <a:r>
                        <a:rPr sz="1000" spc="-3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(Donor)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5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84.0%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10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Moderate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5183644" y="2641309"/>
            <a:ext cx="3677920" cy="2442845"/>
            <a:chOff x="5183644" y="2641309"/>
            <a:chExt cx="3677920" cy="244284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3644" y="2641309"/>
              <a:ext cx="3677399" cy="244261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303164" y="2724837"/>
              <a:ext cx="3474720" cy="2240280"/>
            </a:xfrm>
            <a:custGeom>
              <a:avLst/>
              <a:gdLst/>
              <a:ahLst/>
              <a:cxnLst/>
              <a:rect l="l" t="t" r="r" b="b"/>
              <a:pathLst>
                <a:path w="3474720" h="2240279">
                  <a:moveTo>
                    <a:pt x="3474351" y="0"/>
                  </a:moveTo>
                  <a:lnTo>
                    <a:pt x="0" y="0"/>
                  </a:lnTo>
                  <a:lnTo>
                    <a:pt x="0" y="2239924"/>
                  </a:lnTo>
                  <a:lnTo>
                    <a:pt x="1737359" y="2239924"/>
                  </a:lnTo>
                  <a:lnTo>
                    <a:pt x="3474351" y="2239924"/>
                  </a:lnTo>
                  <a:lnTo>
                    <a:pt x="3474351" y="0"/>
                  </a:lnTo>
                  <a:close/>
                </a:path>
              </a:pathLst>
            </a:custGeom>
            <a:solidFill>
              <a:srgbClr val="0C3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17616" y="2858302"/>
            <a:ext cx="3022600" cy="933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A9EA8"/>
                </a:solidFill>
                <a:latin typeface="Calibri"/>
                <a:cs typeface="Calibri"/>
              </a:rPr>
              <a:t>Pathogenicity </a:t>
            </a:r>
            <a:r>
              <a:rPr sz="1200" b="1" spc="-20" dirty="0">
                <a:solidFill>
                  <a:srgbClr val="2A9EA8"/>
                </a:solidFill>
                <a:latin typeface="Calibri"/>
                <a:cs typeface="Calibri"/>
              </a:rPr>
              <a:t>Logic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45"/>
              </a:spcBef>
            </a:pP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PWM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 (Position</a:t>
            </a:r>
            <a:r>
              <a:rPr sz="950" spc="-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Weight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Matrix)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scoring</a:t>
            </a:r>
            <a:r>
              <a:rPr sz="950" spc="-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quantifies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CCDCED"/>
                </a:solidFill>
                <a:latin typeface="Calibri"/>
                <a:cs typeface="Calibri"/>
              </a:rPr>
              <a:t>each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 nucleotide</a:t>
            </a:r>
            <a:r>
              <a:rPr sz="950" spc="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position's</a:t>
            </a:r>
            <a:r>
              <a:rPr sz="950" spc="-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conservation.</a:t>
            </a:r>
            <a:r>
              <a:rPr sz="950" spc="1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For</a:t>
            </a:r>
            <a:r>
              <a:rPr sz="950" spc="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each variant, 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we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 compute</a:t>
            </a:r>
            <a:r>
              <a:rPr sz="950" spc="-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a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 score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delta</a:t>
            </a:r>
            <a:r>
              <a:rPr sz="950" spc="-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difference</a:t>
            </a:r>
            <a:r>
              <a:rPr sz="950" spc="-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between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REF</a:t>
            </a:r>
            <a:r>
              <a:rPr sz="950" spc="-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ALT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 sequence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scores.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17616" y="3910586"/>
            <a:ext cx="280225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Δ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score</a:t>
            </a:r>
            <a:r>
              <a:rPr sz="950" spc="-2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→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disrupted</a:t>
            </a:r>
            <a:r>
              <a:rPr sz="950" spc="-2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canonical</a:t>
            </a:r>
            <a:r>
              <a:rPr sz="950" spc="-2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site</a:t>
            </a:r>
            <a:r>
              <a:rPr sz="950" spc="-2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=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high</a:t>
            </a:r>
            <a:r>
              <a:rPr sz="950" spc="-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pathogenicity signal</a:t>
            </a:r>
            <a:endParaRPr sz="950">
              <a:latin typeface="Calibri"/>
              <a:cs typeface="Calibri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New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high-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score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site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in</a:t>
            </a:r>
            <a:r>
              <a:rPr sz="950" spc="-1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30" dirty="0">
                <a:solidFill>
                  <a:srgbClr val="CCDCED"/>
                </a:solidFill>
                <a:latin typeface="Calibri"/>
                <a:cs typeface="Calibri"/>
              </a:rPr>
              <a:t>ALT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=</a:t>
            </a:r>
            <a:r>
              <a:rPr sz="950" spc="-2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cryptic</a:t>
            </a:r>
            <a:r>
              <a:rPr sz="950" spc="-2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site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 creation</a:t>
            </a:r>
            <a:endParaRPr sz="950">
              <a:latin typeface="Calibri"/>
              <a:cs typeface="Calibri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Combined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disruption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 +</a:t>
            </a:r>
            <a:r>
              <a:rPr sz="950" spc="1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creation</a:t>
            </a:r>
            <a:r>
              <a:rPr sz="950" spc="10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DCED"/>
                </a:solidFill>
                <a:latin typeface="Calibri"/>
                <a:cs typeface="Calibri"/>
              </a:rPr>
              <a:t>=</a:t>
            </a:r>
            <a:r>
              <a:rPr sz="950" spc="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strongest</a:t>
            </a:r>
            <a:r>
              <a:rPr sz="950" spc="5" dirty="0">
                <a:solidFill>
                  <a:srgbClr val="CCDCE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DCED"/>
                </a:solidFill>
                <a:latin typeface="Calibri"/>
                <a:cs typeface="Calibri"/>
              </a:rPr>
              <a:t>signal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09734" y="4859898"/>
            <a:ext cx="252095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Mutation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types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covered: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 SNV ·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Insertion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85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Deletion</a:t>
            </a:r>
            <a:r>
              <a:rPr sz="850" dirty="0">
                <a:solidFill>
                  <a:srgbClr val="6A9DB1"/>
                </a:solidFill>
                <a:latin typeface="Calibri"/>
                <a:cs typeface="Calibri"/>
              </a:rPr>
              <a:t> · </a:t>
            </a:r>
            <a:r>
              <a:rPr sz="850" spc="-25" dirty="0">
                <a:solidFill>
                  <a:srgbClr val="6A9DB1"/>
                </a:solidFill>
                <a:latin typeface="Calibri"/>
                <a:cs typeface="Calibri"/>
              </a:rPr>
              <a:t>MNV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3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182513"/>
            <a:ext cx="2559951" cy="47545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0780" y="1267106"/>
            <a:ext cx="7194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5" dirty="0">
                <a:solidFill>
                  <a:srgbClr val="E77839"/>
                </a:solidFill>
              </a:rPr>
              <a:t>02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731164" y="1279806"/>
            <a:ext cx="1280160" cy="822960"/>
          </a:xfrm>
          <a:custGeom>
            <a:avLst/>
            <a:gdLst/>
            <a:ahLst/>
            <a:cxnLst/>
            <a:rect l="l" t="t" r="r" b="b"/>
            <a:pathLst>
              <a:path w="1280160" h="822960">
                <a:moveTo>
                  <a:pt x="640079" y="822591"/>
                </a:moveTo>
                <a:lnTo>
                  <a:pt x="0" y="822591"/>
                </a:lnTo>
                <a:lnTo>
                  <a:pt x="0" y="0"/>
                </a:lnTo>
                <a:lnTo>
                  <a:pt x="1279791" y="0"/>
                </a:lnTo>
                <a:lnTo>
                  <a:pt x="1279791" y="822591"/>
                </a:lnTo>
                <a:lnTo>
                  <a:pt x="640079" y="822591"/>
                </a:lnTo>
                <a:close/>
              </a:path>
            </a:pathLst>
          </a:custGeom>
          <a:ln w="25559">
            <a:solidFill>
              <a:srgbClr val="E778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8456" y="2288059"/>
            <a:ext cx="448881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68375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38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FFFFFF"/>
                </a:solidFill>
                <a:latin typeface="Calibri"/>
                <a:cs typeface="Calibri"/>
              </a:rPr>
              <a:t>Extraction</a:t>
            </a:r>
            <a:r>
              <a:rPr sz="3800" b="1" spc="9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sz="3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400" spc="-20" dirty="0">
                <a:solidFill>
                  <a:srgbClr val="F4A269"/>
                </a:solidFill>
                <a:latin typeface="Calibri"/>
                <a:cs typeface="Calibri"/>
              </a:rPr>
              <a:t>ClinVar</a:t>
            </a:r>
            <a:r>
              <a:rPr sz="1400" spc="-30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4A269"/>
                </a:solidFill>
                <a:latin typeface="Calibri"/>
                <a:cs typeface="Calibri"/>
              </a:rPr>
              <a:t>variants</a:t>
            </a:r>
            <a:r>
              <a:rPr sz="1400" spc="-2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4A269"/>
                </a:solidFill>
                <a:latin typeface="Calibri"/>
                <a:cs typeface="Calibri"/>
              </a:rPr>
              <a:t>·</a:t>
            </a:r>
            <a:r>
              <a:rPr sz="1400" spc="-20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4A269"/>
                </a:solidFill>
                <a:latin typeface="Calibri"/>
                <a:cs typeface="Calibri"/>
              </a:rPr>
              <a:t>GRCh38</a:t>
            </a:r>
            <a:r>
              <a:rPr sz="1400" spc="-2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4A269"/>
                </a:solidFill>
                <a:latin typeface="Calibri"/>
                <a:cs typeface="Calibri"/>
              </a:rPr>
              <a:t>genome</a:t>
            </a:r>
            <a:r>
              <a:rPr sz="1400" spc="-20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4A269"/>
                </a:solidFill>
                <a:latin typeface="Calibri"/>
                <a:cs typeface="Calibri"/>
              </a:rPr>
              <a:t>·</a:t>
            </a:r>
            <a:r>
              <a:rPr sz="1400" spc="-20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4A269"/>
                </a:solidFill>
                <a:latin typeface="Calibri"/>
                <a:cs typeface="Calibri"/>
              </a:rPr>
              <a:t>Chromosome-</a:t>
            </a:r>
            <a:r>
              <a:rPr sz="1400" dirty="0">
                <a:solidFill>
                  <a:srgbClr val="F4A269"/>
                </a:solidFill>
                <a:latin typeface="Calibri"/>
                <a:cs typeface="Calibri"/>
              </a:rPr>
              <a:t>aware</a:t>
            </a:r>
            <a:r>
              <a:rPr sz="1400" spc="-20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4A269"/>
                </a:solidFill>
                <a:latin typeface="Calibri"/>
                <a:cs typeface="Calibri"/>
              </a:rPr>
              <a:t>splits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Sources</a:t>
            </a:r>
            <a:r>
              <a:rPr spc="-45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spc="-10" dirty="0"/>
              <a:t>Preprocessing</a:t>
            </a:r>
            <a:r>
              <a:rPr spc="-55" dirty="0"/>
              <a:t> </a:t>
            </a:r>
            <a:r>
              <a:rPr spc="-10" dirty="0"/>
              <a:t>Pipeline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0164" y="612357"/>
            <a:ext cx="8577580" cy="1061085"/>
            <a:chOff x="200164" y="612357"/>
            <a:chExt cx="8577580" cy="1061085"/>
          </a:xfrm>
        </p:grpSpPr>
        <p:sp>
          <p:nvSpPr>
            <p:cNvPr id="4" name="object 4"/>
            <p:cNvSpPr/>
            <p:nvPr/>
          </p:nvSpPr>
          <p:spPr>
            <a:xfrm>
              <a:off x="365404" y="612357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164" y="666345"/>
              <a:ext cx="1665719" cy="10069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9684" y="749886"/>
              <a:ext cx="1463040" cy="804545"/>
            </a:xfrm>
            <a:custGeom>
              <a:avLst/>
              <a:gdLst/>
              <a:ahLst/>
              <a:cxnLst/>
              <a:rect l="l" t="t" r="r" b="b"/>
              <a:pathLst>
                <a:path w="1463039" h="804544">
                  <a:moveTo>
                    <a:pt x="146267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731520" y="804240"/>
                  </a:lnTo>
                  <a:lnTo>
                    <a:pt x="1462671" y="804240"/>
                  </a:lnTo>
                  <a:lnTo>
                    <a:pt x="1462671" y="0"/>
                  </a:lnTo>
                  <a:close/>
                </a:path>
              </a:pathLst>
            </a:custGeom>
            <a:solidFill>
              <a:srgbClr val="0C3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9020" y="840145"/>
            <a:ext cx="7029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128905" indent="-635" algn="ctr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ClinVar 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Variants</a:t>
            </a:r>
            <a:endParaRPr sz="10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600"/>
              </a:spcBef>
            </a:pP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Pathogenic</a:t>
            </a:r>
            <a:r>
              <a:rPr sz="750" spc="4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labels</a:t>
            </a:r>
            <a:r>
              <a:rPr sz="750" spc="50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50,388</a:t>
            </a:r>
            <a:r>
              <a:rPr sz="750" spc="5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records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1779" y="1059305"/>
            <a:ext cx="18288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305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37524" y="666345"/>
            <a:ext cx="1666239" cy="1007110"/>
            <a:chOff x="1937524" y="666345"/>
            <a:chExt cx="1666239" cy="10071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7524" y="666345"/>
              <a:ext cx="1665719" cy="10069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57044" y="749886"/>
              <a:ext cx="1463040" cy="804545"/>
            </a:xfrm>
            <a:custGeom>
              <a:avLst/>
              <a:gdLst/>
              <a:ahLst/>
              <a:cxnLst/>
              <a:rect l="l" t="t" r="r" b="b"/>
              <a:pathLst>
                <a:path w="1463039" h="804544">
                  <a:moveTo>
                    <a:pt x="146267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731519" y="804240"/>
                  </a:lnTo>
                  <a:lnTo>
                    <a:pt x="1462671" y="804240"/>
                  </a:lnTo>
                  <a:lnTo>
                    <a:pt x="146267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34945" y="840145"/>
            <a:ext cx="7054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137160" algn="ctr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GRCh38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FASTA</a:t>
            </a:r>
            <a:endParaRPr sz="10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194</a:t>
            </a:r>
            <a:r>
              <a:rPr sz="750" spc="1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chromosome</a:t>
            </a:r>
            <a:r>
              <a:rPr sz="750" spc="50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sequences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29139" y="1059305"/>
            <a:ext cx="18288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305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74884" y="666345"/>
            <a:ext cx="1666239" cy="1007110"/>
            <a:chOff x="3674884" y="666345"/>
            <a:chExt cx="1666239" cy="100711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4884" y="666345"/>
              <a:ext cx="1665719" cy="100693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94404" y="749886"/>
              <a:ext cx="1463040" cy="804545"/>
            </a:xfrm>
            <a:custGeom>
              <a:avLst/>
              <a:gdLst/>
              <a:ahLst/>
              <a:cxnLst/>
              <a:rect l="l" t="t" r="r" b="b"/>
              <a:pathLst>
                <a:path w="1463039" h="804544">
                  <a:moveTo>
                    <a:pt x="146267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731520" y="804240"/>
                  </a:lnTo>
                  <a:lnTo>
                    <a:pt x="1462671" y="804240"/>
                  </a:lnTo>
                  <a:lnTo>
                    <a:pt x="1462671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98226" y="840145"/>
            <a:ext cx="6534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 marR="53340" indent="635" algn="ctr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Window Extraction</a:t>
            </a:r>
            <a:endParaRPr sz="10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±200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bp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 context</a:t>
            </a:r>
            <a:r>
              <a:rPr sz="750" spc="50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per</a:t>
            </a:r>
            <a:r>
              <a:rPr sz="750" spc="-25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variant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6499" y="1059305"/>
            <a:ext cx="18288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305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12244" y="666345"/>
            <a:ext cx="1666239" cy="1007110"/>
            <a:chOff x="5412244" y="666345"/>
            <a:chExt cx="1666239" cy="100711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2244" y="666345"/>
              <a:ext cx="1665719" cy="10069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531764" y="749886"/>
              <a:ext cx="1463040" cy="804545"/>
            </a:xfrm>
            <a:custGeom>
              <a:avLst/>
              <a:gdLst/>
              <a:ahLst/>
              <a:cxnLst/>
              <a:rect l="l" t="t" r="r" b="b"/>
              <a:pathLst>
                <a:path w="1463040" h="804544">
                  <a:moveTo>
                    <a:pt x="146267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731520" y="804240"/>
                  </a:lnTo>
                  <a:lnTo>
                    <a:pt x="1462671" y="804240"/>
                  </a:lnTo>
                  <a:lnTo>
                    <a:pt x="1462671" y="0"/>
                  </a:lnTo>
                  <a:close/>
                </a:path>
              </a:pathLst>
            </a:custGeom>
            <a:solidFill>
              <a:srgbClr val="2D9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951778" y="840145"/>
            <a:ext cx="6223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69" marR="55880" indent="-1270" algn="ctr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Splice 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Windows</a:t>
            </a:r>
            <a:endParaRPr sz="10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99,310</a:t>
            </a:r>
            <a:r>
              <a:rPr sz="750" spc="5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variants</a:t>
            </a:r>
            <a:r>
              <a:rPr sz="750" spc="50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REF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+</a:t>
            </a:r>
            <a:r>
              <a:rPr sz="750" spc="-2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ALT </a:t>
            </a:r>
            <a:r>
              <a:rPr sz="750" spc="-20" dirty="0">
                <a:solidFill>
                  <a:srgbClr val="CCEDFF"/>
                </a:solidFill>
                <a:latin typeface="Calibri"/>
                <a:cs typeface="Calibri"/>
              </a:rPr>
              <a:t>seqs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03858" y="1059305"/>
            <a:ext cx="18288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305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149604" y="666345"/>
            <a:ext cx="1666239" cy="1007110"/>
            <a:chOff x="7149604" y="666345"/>
            <a:chExt cx="1666239" cy="100711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9604" y="666345"/>
              <a:ext cx="1665719" cy="100693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269124" y="749886"/>
              <a:ext cx="1463040" cy="804545"/>
            </a:xfrm>
            <a:custGeom>
              <a:avLst/>
              <a:gdLst/>
              <a:ahLst/>
              <a:cxnLst/>
              <a:rect l="l" t="t" r="r" b="b"/>
              <a:pathLst>
                <a:path w="1463040" h="804544">
                  <a:moveTo>
                    <a:pt x="146267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731520" y="804240"/>
                  </a:lnTo>
                  <a:lnTo>
                    <a:pt x="1462671" y="804240"/>
                  </a:lnTo>
                  <a:lnTo>
                    <a:pt x="1462671" y="0"/>
                  </a:lnTo>
                  <a:close/>
                </a:path>
              </a:pathLst>
            </a:custGeom>
            <a:solidFill>
              <a:srgbClr val="0C3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648461" y="840145"/>
            <a:ext cx="7048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 marR="105410" algn="ctr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Balanced Dataset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50,388</a:t>
            </a:r>
            <a:r>
              <a:rPr sz="750" spc="-5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each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class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1:1</a:t>
            </a:r>
            <a:r>
              <a:rPr sz="750" spc="-5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ratio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0164" y="1653834"/>
            <a:ext cx="2946400" cy="3357245"/>
            <a:chOff x="200164" y="1653834"/>
            <a:chExt cx="2946400" cy="335724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164" y="1653834"/>
              <a:ext cx="2945879" cy="335700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19684" y="1737362"/>
              <a:ext cx="2743200" cy="3154680"/>
            </a:xfrm>
            <a:custGeom>
              <a:avLst/>
              <a:gdLst/>
              <a:ahLst/>
              <a:cxnLst/>
              <a:rect l="l" t="t" r="r" b="b"/>
              <a:pathLst>
                <a:path w="2743200" h="3154679">
                  <a:moveTo>
                    <a:pt x="2742831" y="0"/>
                  </a:moveTo>
                  <a:lnTo>
                    <a:pt x="0" y="0"/>
                  </a:lnTo>
                  <a:lnTo>
                    <a:pt x="0" y="3154324"/>
                  </a:lnTo>
                  <a:lnTo>
                    <a:pt x="1371600" y="3154324"/>
                  </a:lnTo>
                  <a:lnTo>
                    <a:pt x="2742831" y="3154324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9684" y="1737362"/>
              <a:ext cx="2743200" cy="45720"/>
            </a:xfrm>
            <a:custGeom>
              <a:avLst/>
              <a:gdLst/>
              <a:ahLst/>
              <a:cxnLst/>
              <a:rect l="l" t="t" r="r" b="b"/>
              <a:pathLst>
                <a:path w="2743200" h="45719">
                  <a:moveTo>
                    <a:pt x="2742831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371600" y="45364"/>
                  </a:lnTo>
                  <a:lnTo>
                    <a:pt x="2742831" y="45364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0C3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44144" y="1850671"/>
            <a:ext cx="2326005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C3A6D"/>
                </a:solidFill>
                <a:latin typeface="Calibri"/>
                <a:cs typeface="Calibri"/>
              </a:rPr>
              <a:t>ClinVar</a:t>
            </a:r>
            <a:r>
              <a:rPr sz="1100" b="1" spc="-2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C3A6D"/>
                </a:solidFill>
                <a:latin typeface="Calibri"/>
                <a:cs typeface="Calibri"/>
              </a:rPr>
              <a:t>Source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8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50,388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pathogenic splice-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region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variants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pulled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from</a:t>
            </a:r>
            <a:r>
              <a:rPr sz="950" spc="-4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ClinVar.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144" y="2551939"/>
            <a:ext cx="24403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Fields: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chromosome,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position,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ref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allele,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alt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allele, pathogenicity</a:t>
            </a:r>
            <a:r>
              <a:rPr sz="950" spc="6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label.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4144" y="2986102"/>
            <a:ext cx="2559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Original: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50,388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pathogenic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1,231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benign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→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40.9:1 imbalance.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4144" y="3420264"/>
            <a:ext cx="22313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49,157</a:t>
            </a:r>
            <a:r>
              <a:rPr sz="950" spc="-4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additional</a:t>
            </a:r>
            <a:r>
              <a:rPr sz="950" spc="-4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benign</a:t>
            </a:r>
            <a:r>
              <a:rPr sz="950" spc="-4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variants</a:t>
            </a:r>
            <a:r>
              <a:rPr sz="950" spc="-4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sourced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via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augmentation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strategy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to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balance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classes.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144596" y="1653834"/>
            <a:ext cx="2946400" cy="3357245"/>
            <a:chOff x="3144596" y="1653834"/>
            <a:chExt cx="2946400" cy="3357245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4596" y="1653834"/>
              <a:ext cx="2945879" cy="335700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264115" y="1737362"/>
              <a:ext cx="2743200" cy="3154680"/>
            </a:xfrm>
            <a:custGeom>
              <a:avLst/>
              <a:gdLst/>
              <a:ahLst/>
              <a:cxnLst/>
              <a:rect l="l" t="t" r="r" b="b"/>
              <a:pathLst>
                <a:path w="2743200" h="3154679">
                  <a:moveTo>
                    <a:pt x="2742844" y="0"/>
                  </a:moveTo>
                  <a:lnTo>
                    <a:pt x="0" y="0"/>
                  </a:lnTo>
                  <a:lnTo>
                    <a:pt x="0" y="3154324"/>
                  </a:lnTo>
                  <a:lnTo>
                    <a:pt x="1371600" y="3154324"/>
                  </a:lnTo>
                  <a:lnTo>
                    <a:pt x="2742844" y="315432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64115" y="1737362"/>
              <a:ext cx="2743200" cy="45720"/>
            </a:xfrm>
            <a:custGeom>
              <a:avLst/>
              <a:gdLst/>
              <a:ahLst/>
              <a:cxnLst/>
              <a:rect l="l" t="t" r="r" b="b"/>
              <a:pathLst>
                <a:path w="2743200" h="45719">
                  <a:moveTo>
                    <a:pt x="2742844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371600" y="45364"/>
                  </a:lnTo>
                  <a:lnTo>
                    <a:pt x="2742844" y="4536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388575" y="1850671"/>
            <a:ext cx="2559050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A9EA8"/>
                </a:solidFill>
                <a:latin typeface="Calibri"/>
                <a:cs typeface="Calibri"/>
              </a:rPr>
              <a:t>GRCh38</a:t>
            </a:r>
            <a:r>
              <a:rPr sz="1100" b="1" spc="-40" dirty="0">
                <a:solidFill>
                  <a:srgbClr val="2A9EA8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A9EA8"/>
                </a:solidFill>
                <a:latin typeface="Calibri"/>
                <a:cs typeface="Calibri"/>
              </a:rPr>
              <a:t>Reference</a:t>
            </a:r>
            <a:endParaRPr sz="11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8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Primary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assembly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FASTA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genome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loaded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in-memory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at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pipeline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start.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88575" y="2551939"/>
            <a:ext cx="23964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194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chromosome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/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contig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sequences indexed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for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fast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random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access.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88575" y="2986102"/>
            <a:ext cx="24549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±200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bp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window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extracted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around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each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variant</a:t>
            </a:r>
            <a:r>
              <a:rPr sz="950" spc="-5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position.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88575" y="3420264"/>
            <a:ext cx="23990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Both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REF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ALT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sequences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generated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for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every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record.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089040" y="1653834"/>
            <a:ext cx="2946400" cy="3357245"/>
            <a:chOff x="6089040" y="1653834"/>
            <a:chExt cx="2946400" cy="3357245"/>
          </a:xfrm>
        </p:grpSpPr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9040" y="1653834"/>
              <a:ext cx="2945879" cy="335700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208560" y="1737362"/>
              <a:ext cx="2743200" cy="3154680"/>
            </a:xfrm>
            <a:custGeom>
              <a:avLst/>
              <a:gdLst/>
              <a:ahLst/>
              <a:cxnLst/>
              <a:rect l="l" t="t" r="r" b="b"/>
              <a:pathLst>
                <a:path w="2743200" h="3154679">
                  <a:moveTo>
                    <a:pt x="2742844" y="0"/>
                  </a:moveTo>
                  <a:lnTo>
                    <a:pt x="0" y="0"/>
                  </a:lnTo>
                  <a:lnTo>
                    <a:pt x="0" y="3154324"/>
                  </a:lnTo>
                  <a:lnTo>
                    <a:pt x="1371600" y="3154324"/>
                  </a:lnTo>
                  <a:lnTo>
                    <a:pt x="2742844" y="315432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08560" y="1737362"/>
              <a:ext cx="2743200" cy="45720"/>
            </a:xfrm>
            <a:custGeom>
              <a:avLst/>
              <a:gdLst/>
              <a:ahLst/>
              <a:cxnLst/>
              <a:rect l="l" t="t" r="r" b="b"/>
              <a:pathLst>
                <a:path w="2743200" h="45719">
                  <a:moveTo>
                    <a:pt x="2742844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371600" y="45364"/>
                  </a:lnTo>
                  <a:lnTo>
                    <a:pt x="2742844" y="4536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333020" y="1850671"/>
            <a:ext cx="2203450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7839"/>
                </a:solidFill>
                <a:latin typeface="Calibri"/>
                <a:cs typeface="Calibri"/>
              </a:rPr>
              <a:t>Leakage</a:t>
            </a:r>
            <a:r>
              <a:rPr sz="1100" b="1" spc="-35" dirty="0">
                <a:solidFill>
                  <a:srgbClr val="E7783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77839"/>
                </a:solidFill>
                <a:latin typeface="Calibri"/>
                <a:cs typeface="Calibri"/>
              </a:rPr>
              <a:t>Prevention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8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Chromosome-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based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train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/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val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/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test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splitting applied.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33020" y="2551939"/>
            <a:ext cx="195516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Train: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59,586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Val: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19,862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Test: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19,862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33020" y="2841385"/>
            <a:ext cx="21793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Nearby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variant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deduplication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overlapping windows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removed.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33020" y="3275548"/>
            <a:ext cx="24434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Chromosome-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aware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splitting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minimizes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 leakage across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dataset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partitions.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0F7060-55ED-F052-31DB-E5B7C84D3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31E5D05A-B380-2650-7FCB-7EF229F8A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6525"/>
            <a:ext cx="7468485" cy="4350380"/>
          </a:xfrm>
          <a:prstGeom prst="rect">
            <a:avLst/>
          </a:prstGeom>
        </p:spPr>
      </p:pic>
      <p:sp>
        <p:nvSpPr>
          <p:cNvPr id="56" name="object 40">
            <a:extLst>
              <a:ext uri="{FF2B5EF4-FFF2-40B4-BE49-F238E27FC236}">
                <a16:creationId xmlns:a16="http://schemas.microsoft.com/office/drawing/2014/main" id="{56D8123A-1E95-DA73-CC2E-A2802124EC83}"/>
              </a:ext>
            </a:extLst>
          </p:cNvPr>
          <p:cNvSpPr txBox="1"/>
          <p:nvPr/>
        </p:nvSpPr>
        <p:spPr>
          <a:xfrm>
            <a:off x="914400" y="4632325"/>
            <a:ext cx="75438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780"/>
              </a:spcBef>
            </a:pPr>
            <a:r>
              <a:rPr lang="en-IN" sz="1000" dirty="0"/>
              <a:t>The preprocessing pipeline extracted ±200 bp splice windows from GRCh38 reference sequences for 99,310 genomic variants. Chromosome-aware train/validation/test splitting was applied to minimize sequence leakage and improve evaluation reliability.</a:t>
            </a:r>
            <a:endParaRPr sz="95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8953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404" y="182513"/>
            <a:ext cx="8686800" cy="731520"/>
            <a:chOff x="365404" y="182513"/>
            <a:chExt cx="8686800" cy="73152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9" y="182513"/>
              <a:ext cx="731164" cy="7311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5404" y="62136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</a:t>
            </a:r>
            <a:r>
              <a:rPr spc="-45" dirty="0"/>
              <a:t> </a:t>
            </a:r>
            <a:r>
              <a:rPr dirty="0"/>
              <a:t>Imbalance</a:t>
            </a:r>
            <a:r>
              <a:rPr spc="-40" dirty="0"/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Problem</a:t>
            </a:r>
            <a:r>
              <a:rPr spc="-30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spc="-10" dirty="0"/>
              <a:t>Resolution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37324" y="1013398"/>
            <a:ext cx="3677920" cy="3677285"/>
            <a:chOff x="337324" y="1013398"/>
            <a:chExt cx="3677920" cy="36772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324" y="1013398"/>
              <a:ext cx="3677399" cy="367704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6844" y="1096926"/>
              <a:ext cx="3474720" cy="3474720"/>
            </a:xfrm>
            <a:custGeom>
              <a:avLst/>
              <a:gdLst/>
              <a:ahLst/>
              <a:cxnLst/>
              <a:rect l="l" t="t" r="r" b="b"/>
              <a:pathLst>
                <a:path w="3474720" h="3474720">
                  <a:moveTo>
                    <a:pt x="3474351" y="0"/>
                  </a:moveTo>
                  <a:lnTo>
                    <a:pt x="0" y="0"/>
                  </a:lnTo>
                  <a:lnTo>
                    <a:pt x="0" y="3474351"/>
                  </a:lnTo>
                  <a:lnTo>
                    <a:pt x="1737359" y="3474351"/>
                  </a:lnTo>
                  <a:lnTo>
                    <a:pt x="3474351" y="3474351"/>
                  </a:lnTo>
                  <a:lnTo>
                    <a:pt x="3474351" y="0"/>
                  </a:lnTo>
                  <a:close/>
                </a:path>
              </a:pathLst>
            </a:custGeom>
            <a:solidFill>
              <a:srgbClr val="EF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1164" y="1508406"/>
              <a:ext cx="2926080" cy="1828800"/>
            </a:xfrm>
            <a:custGeom>
              <a:avLst/>
              <a:gdLst/>
              <a:ahLst/>
              <a:cxnLst/>
              <a:rect l="l" t="t" r="r" b="b"/>
              <a:pathLst>
                <a:path w="2926079" h="1828800">
                  <a:moveTo>
                    <a:pt x="292571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1463039" y="1828431"/>
                  </a:lnTo>
                  <a:lnTo>
                    <a:pt x="2925711" y="1828431"/>
                  </a:lnTo>
                  <a:lnTo>
                    <a:pt x="2925711" y="0"/>
                  </a:lnTo>
                  <a:close/>
                </a:path>
              </a:pathLst>
            </a:custGeom>
            <a:solidFill>
              <a:srgbClr val="FF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4044" y="1599846"/>
              <a:ext cx="1097280" cy="1645920"/>
            </a:xfrm>
            <a:custGeom>
              <a:avLst/>
              <a:gdLst/>
              <a:ahLst/>
              <a:cxnLst/>
              <a:rect l="l" t="t" r="r" b="b"/>
              <a:pathLst>
                <a:path w="1097280" h="1645920">
                  <a:moveTo>
                    <a:pt x="1096911" y="0"/>
                  </a:moveTo>
                  <a:lnTo>
                    <a:pt x="0" y="0"/>
                  </a:lnTo>
                  <a:lnTo>
                    <a:pt x="0" y="1645551"/>
                  </a:lnTo>
                  <a:lnTo>
                    <a:pt x="548640" y="1645551"/>
                  </a:lnTo>
                  <a:lnTo>
                    <a:pt x="1096911" y="1645551"/>
                  </a:lnTo>
                  <a:lnTo>
                    <a:pt x="1096911" y="0"/>
                  </a:lnTo>
                  <a:close/>
                </a:path>
              </a:pathLst>
            </a:custGeom>
            <a:solidFill>
              <a:srgbClr val="C8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88262" y="2272577"/>
            <a:ext cx="549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50,388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Pathogenic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85644" y="3173046"/>
            <a:ext cx="1097280" cy="73025"/>
          </a:xfrm>
          <a:custGeom>
            <a:avLst/>
            <a:gdLst/>
            <a:ahLst/>
            <a:cxnLst/>
            <a:rect l="l" t="t" r="r" b="b"/>
            <a:pathLst>
              <a:path w="1097279" h="73025">
                <a:moveTo>
                  <a:pt x="1096911" y="0"/>
                </a:moveTo>
                <a:lnTo>
                  <a:pt x="0" y="0"/>
                </a:lnTo>
                <a:lnTo>
                  <a:pt x="0" y="72720"/>
                </a:lnTo>
                <a:lnTo>
                  <a:pt x="548639" y="72720"/>
                </a:lnTo>
                <a:lnTo>
                  <a:pt x="1096911" y="72720"/>
                </a:lnTo>
                <a:lnTo>
                  <a:pt x="1096911" y="0"/>
                </a:lnTo>
                <a:close/>
              </a:path>
            </a:pathLst>
          </a:custGeom>
          <a:solidFill>
            <a:srgbClr val="2D9D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51582" y="3291016"/>
            <a:ext cx="5638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D9D67"/>
                </a:solidFill>
                <a:latin typeface="Calibri"/>
                <a:cs typeface="Calibri"/>
              </a:rPr>
              <a:t>1,231</a:t>
            </a:r>
            <a:r>
              <a:rPr sz="800" spc="-5" dirty="0">
                <a:solidFill>
                  <a:srgbClr val="2D9D6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D9D67"/>
                </a:solidFill>
                <a:latin typeface="Calibri"/>
                <a:cs typeface="Calibri"/>
              </a:rPr>
              <a:t>Benign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69465" y="3348992"/>
            <a:ext cx="4476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C83F3F"/>
                </a:solidFill>
                <a:latin typeface="Calibri"/>
                <a:cs typeface="Calibri"/>
              </a:rPr>
              <a:t>40.9</a:t>
            </a:r>
            <a:r>
              <a:rPr sz="1100" b="1" spc="-15" dirty="0">
                <a:solidFill>
                  <a:srgbClr val="C8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C83F3F"/>
                </a:solidFill>
                <a:latin typeface="Calibri"/>
                <a:cs typeface="Calibri"/>
              </a:rPr>
              <a:t>:</a:t>
            </a:r>
            <a:r>
              <a:rPr sz="1100" b="1" spc="-20" dirty="0">
                <a:solidFill>
                  <a:srgbClr val="C83F3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C83F3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</a:pPr>
            <a:r>
              <a:rPr sz="1100" b="1" spc="-10" dirty="0">
                <a:solidFill>
                  <a:srgbClr val="C83F3F"/>
                </a:solidFill>
                <a:latin typeface="Calibri"/>
                <a:cs typeface="Calibri"/>
              </a:rPr>
              <a:t>ratio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80865" y="2653379"/>
            <a:ext cx="725805" cy="7086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114"/>
              </a:spcBef>
            </a:pPr>
            <a:r>
              <a:rPr sz="2100" spc="665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2100">
              <a:latin typeface="Cambria"/>
              <a:cs typeface="Cambria"/>
            </a:endParaRPr>
          </a:p>
          <a:p>
            <a:pPr marL="137160" marR="115570" indent="-125095">
              <a:lnSpc>
                <a:spcPct val="100000"/>
              </a:lnSpc>
              <a:spcBef>
                <a:spcPts val="925"/>
              </a:spcBef>
            </a:pPr>
            <a:r>
              <a:rPr sz="800" spc="-10" dirty="0">
                <a:solidFill>
                  <a:srgbClr val="3B6377"/>
                </a:solidFill>
                <a:latin typeface="Calibri"/>
                <a:cs typeface="Calibri"/>
              </a:rPr>
              <a:t>Augmentation</a:t>
            </a:r>
            <a:r>
              <a:rPr sz="80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3B6377"/>
                </a:solidFill>
                <a:latin typeface="Calibri"/>
                <a:cs typeface="Calibri"/>
              </a:rPr>
              <a:t>Strategy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17884" y="1013398"/>
            <a:ext cx="3677920" cy="3677285"/>
            <a:chOff x="4817884" y="1013398"/>
            <a:chExt cx="3677920" cy="367728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7884" y="1013398"/>
              <a:ext cx="3677399" cy="367704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937404" y="1096926"/>
              <a:ext cx="3474720" cy="3474720"/>
            </a:xfrm>
            <a:custGeom>
              <a:avLst/>
              <a:gdLst/>
              <a:ahLst/>
              <a:cxnLst/>
              <a:rect l="l" t="t" r="r" b="b"/>
              <a:pathLst>
                <a:path w="3474720" h="3474720">
                  <a:moveTo>
                    <a:pt x="3474351" y="0"/>
                  </a:moveTo>
                  <a:lnTo>
                    <a:pt x="0" y="0"/>
                  </a:lnTo>
                  <a:lnTo>
                    <a:pt x="0" y="3474351"/>
                  </a:lnTo>
                  <a:lnTo>
                    <a:pt x="1737360" y="3474351"/>
                  </a:lnTo>
                  <a:lnTo>
                    <a:pt x="3474351" y="3474351"/>
                  </a:lnTo>
                  <a:lnTo>
                    <a:pt x="3474351" y="0"/>
                  </a:lnTo>
                  <a:close/>
                </a:path>
              </a:pathLst>
            </a:custGeom>
            <a:solidFill>
              <a:srgbClr val="EF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72094" y="744386"/>
            <a:ext cx="5789930" cy="657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Original</a:t>
            </a:r>
            <a:r>
              <a:rPr sz="1100" spc="-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dataset:</a:t>
            </a:r>
            <a:r>
              <a:rPr sz="110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40.9</a:t>
            </a:r>
            <a:r>
              <a:rPr sz="110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:</a:t>
            </a:r>
            <a:r>
              <a:rPr sz="1100" spc="-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1</a:t>
            </a:r>
            <a:r>
              <a:rPr sz="11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B6377"/>
                </a:solidFill>
                <a:latin typeface="Calibri"/>
                <a:cs typeface="Calibri"/>
              </a:rPr>
              <a:t>pathogenic-to-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benign</a:t>
            </a:r>
            <a:r>
              <a:rPr sz="1100" spc="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ratio →</a:t>
            </a:r>
            <a:r>
              <a:rPr sz="1100" spc="-10" dirty="0">
                <a:solidFill>
                  <a:srgbClr val="3B6377"/>
                </a:solidFill>
                <a:latin typeface="Calibri"/>
                <a:cs typeface="Calibri"/>
              </a:rPr>
              <a:t> Corrected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 to</a:t>
            </a:r>
            <a:r>
              <a:rPr sz="11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1</a:t>
            </a:r>
            <a:r>
              <a:rPr sz="1100" spc="-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:</a:t>
            </a:r>
            <a:r>
              <a:rPr sz="1100" spc="-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1</a:t>
            </a:r>
            <a:r>
              <a:rPr sz="1100" spc="-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using</a:t>
            </a:r>
            <a:r>
              <a:rPr sz="1100" spc="-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6377"/>
                </a:solidFill>
                <a:latin typeface="Calibri"/>
                <a:cs typeface="Calibri"/>
              </a:rPr>
              <a:t>augmentation</a:t>
            </a:r>
            <a:r>
              <a:rPr sz="1100" spc="-10" dirty="0">
                <a:solidFill>
                  <a:srgbClr val="3B6377"/>
                </a:solidFill>
                <a:latin typeface="Calibri"/>
                <a:cs typeface="Calibri"/>
              </a:rPr>
              <a:t> strategy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1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  <a:tabLst>
                <a:tab pos="4787900" algn="l"/>
              </a:tabLst>
            </a:pPr>
            <a:r>
              <a:rPr sz="1300" b="1" spc="-10" dirty="0">
                <a:solidFill>
                  <a:srgbClr val="C83F3F"/>
                </a:solidFill>
                <a:latin typeface="Calibri"/>
                <a:cs typeface="Calibri"/>
              </a:rPr>
              <a:t>BEFORE</a:t>
            </a:r>
            <a:r>
              <a:rPr sz="1300" b="1" dirty="0">
                <a:solidFill>
                  <a:srgbClr val="C83F3F"/>
                </a:solidFill>
                <a:latin typeface="Calibri"/>
                <a:cs typeface="Calibri"/>
              </a:rPr>
              <a:t>	</a:t>
            </a:r>
            <a:r>
              <a:rPr sz="1300" b="1" spc="-10" dirty="0">
                <a:solidFill>
                  <a:srgbClr val="2D9D67"/>
                </a:solidFill>
                <a:latin typeface="Calibri"/>
                <a:cs typeface="Calibri"/>
              </a:rPr>
              <a:t>AFTER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66004" y="1508406"/>
            <a:ext cx="2926080" cy="1828800"/>
            <a:chOff x="5166004" y="1508406"/>
            <a:chExt cx="2926080" cy="1828800"/>
          </a:xfrm>
        </p:grpSpPr>
        <p:sp>
          <p:nvSpPr>
            <p:cNvPr id="21" name="object 21"/>
            <p:cNvSpPr/>
            <p:nvPr/>
          </p:nvSpPr>
          <p:spPr>
            <a:xfrm>
              <a:off x="5166004" y="1508406"/>
              <a:ext cx="2926080" cy="1828800"/>
            </a:xfrm>
            <a:custGeom>
              <a:avLst/>
              <a:gdLst/>
              <a:ahLst/>
              <a:cxnLst/>
              <a:rect l="l" t="t" r="r" b="b"/>
              <a:pathLst>
                <a:path w="2926079" h="1828800">
                  <a:moveTo>
                    <a:pt x="292571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1463039" y="1828431"/>
                  </a:lnTo>
                  <a:lnTo>
                    <a:pt x="2925711" y="1828431"/>
                  </a:lnTo>
                  <a:lnTo>
                    <a:pt x="2925711" y="0"/>
                  </a:lnTo>
                  <a:close/>
                </a:path>
              </a:pathLst>
            </a:custGeom>
            <a:solidFill>
              <a:srgbClr val="F4FF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48884" y="1599846"/>
              <a:ext cx="1097280" cy="1645920"/>
            </a:xfrm>
            <a:custGeom>
              <a:avLst/>
              <a:gdLst/>
              <a:ahLst/>
              <a:cxnLst/>
              <a:rect l="l" t="t" r="r" b="b"/>
              <a:pathLst>
                <a:path w="1097279" h="1645920">
                  <a:moveTo>
                    <a:pt x="1096911" y="0"/>
                  </a:moveTo>
                  <a:lnTo>
                    <a:pt x="0" y="0"/>
                  </a:lnTo>
                  <a:lnTo>
                    <a:pt x="0" y="1645551"/>
                  </a:lnTo>
                  <a:lnTo>
                    <a:pt x="548639" y="1645551"/>
                  </a:lnTo>
                  <a:lnTo>
                    <a:pt x="1096911" y="1645551"/>
                  </a:lnTo>
                  <a:lnTo>
                    <a:pt x="1096911" y="0"/>
                  </a:lnTo>
                  <a:close/>
                </a:path>
              </a:pathLst>
            </a:custGeom>
            <a:solidFill>
              <a:srgbClr val="C8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623102" y="2272577"/>
            <a:ext cx="549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50,388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Pathogenic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74764" y="1599846"/>
            <a:ext cx="1097280" cy="1645920"/>
          </a:xfrm>
          <a:custGeom>
            <a:avLst/>
            <a:gdLst/>
            <a:ahLst/>
            <a:cxnLst/>
            <a:rect l="l" t="t" r="r" b="b"/>
            <a:pathLst>
              <a:path w="1097279" h="1645920">
                <a:moveTo>
                  <a:pt x="1096911" y="0"/>
                </a:moveTo>
                <a:lnTo>
                  <a:pt x="0" y="0"/>
                </a:lnTo>
                <a:lnTo>
                  <a:pt x="0" y="1645551"/>
                </a:lnTo>
                <a:lnTo>
                  <a:pt x="548640" y="1645551"/>
                </a:lnTo>
                <a:lnTo>
                  <a:pt x="1096911" y="1645551"/>
                </a:lnTo>
                <a:lnTo>
                  <a:pt x="1096911" y="0"/>
                </a:lnTo>
                <a:close/>
              </a:path>
            </a:pathLst>
          </a:custGeom>
          <a:solidFill>
            <a:srgbClr val="2D9D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047255" y="2272577"/>
            <a:ext cx="352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50,388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Benign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98183" y="3348992"/>
            <a:ext cx="5511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D9D67"/>
                </a:solidFill>
                <a:latin typeface="Calibri"/>
                <a:cs typeface="Calibri"/>
              </a:rPr>
              <a:t>1</a:t>
            </a:r>
            <a:r>
              <a:rPr sz="1100" b="1" spc="-10" dirty="0">
                <a:solidFill>
                  <a:srgbClr val="2D9D6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9D67"/>
                </a:solidFill>
                <a:latin typeface="Calibri"/>
                <a:cs typeface="Calibri"/>
              </a:rPr>
              <a:t>:</a:t>
            </a:r>
            <a:r>
              <a:rPr sz="1100" b="1" spc="-5" dirty="0">
                <a:solidFill>
                  <a:srgbClr val="2D9D67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2D9D67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b="1" spc="-10" dirty="0">
                <a:solidFill>
                  <a:srgbClr val="2D9D67"/>
                </a:solidFill>
                <a:latin typeface="Calibri"/>
                <a:cs typeface="Calibri"/>
              </a:rPr>
              <a:t>balanced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6844" y="4617722"/>
            <a:ext cx="8412480" cy="320040"/>
          </a:xfrm>
          <a:custGeom>
            <a:avLst/>
            <a:gdLst/>
            <a:ahLst/>
            <a:cxnLst/>
            <a:rect l="l" t="t" r="r" b="b"/>
            <a:pathLst>
              <a:path w="8412480" h="320039">
                <a:moveTo>
                  <a:pt x="8412111" y="0"/>
                </a:moveTo>
                <a:lnTo>
                  <a:pt x="0" y="0"/>
                </a:lnTo>
                <a:lnTo>
                  <a:pt x="0" y="319684"/>
                </a:lnTo>
                <a:lnTo>
                  <a:pt x="4206240" y="319684"/>
                </a:lnTo>
                <a:lnTo>
                  <a:pt x="8412111" y="319684"/>
                </a:lnTo>
                <a:lnTo>
                  <a:pt x="8412111" y="0"/>
                </a:lnTo>
                <a:close/>
              </a:path>
            </a:pathLst>
          </a:custGeom>
          <a:solidFill>
            <a:srgbClr val="E9F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44537" y="4687825"/>
            <a:ext cx="74250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3B6377"/>
                </a:solidFill>
                <a:latin typeface="Calibri"/>
                <a:cs typeface="Calibri"/>
              </a:rPr>
              <a:t>Strategy:</a:t>
            </a:r>
            <a:r>
              <a:rPr sz="95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3B6377"/>
                </a:solidFill>
                <a:latin typeface="Calibri"/>
                <a:cs typeface="Calibri"/>
              </a:rPr>
              <a:t>Synthetic 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benign</a:t>
            </a:r>
            <a:r>
              <a:rPr sz="95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3B6377"/>
                </a:solidFill>
                <a:latin typeface="Calibri"/>
                <a:cs typeface="Calibri"/>
              </a:rPr>
              <a:t>augmentation 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from</a:t>
            </a:r>
            <a:r>
              <a:rPr sz="950" spc="-10" dirty="0">
                <a:solidFill>
                  <a:srgbClr val="3B6377"/>
                </a:solidFill>
                <a:latin typeface="Calibri"/>
                <a:cs typeface="Calibri"/>
              </a:rPr>
              <a:t> gnomAD</a:t>
            </a:r>
            <a:r>
              <a:rPr sz="95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variants</a:t>
            </a:r>
            <a:r>
              <a:rPr sz="950" spc="2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·</a:t>
            </a:r>
            <a:r>
              <a:rPr sz="950" spc="19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Oversampling</a:t>
            </a:r>
            <a:r>
              <a:rPr sz="950" spc="19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·</a:t>
            </a:r>
            <a:r>
              <a:rPr sz="950" spc="2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3B6377"/>
                </a:solidFill>
                <a:latin typeface="Calibri"/>
                <a:cs typeface="Calibri"/>
              </a:rPr>
              <a:t>Leakage-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free</a:t>
            </a:r>
            <a:r>
              <a:rPr sz="950" spc="-2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3B6377"/>
                </a:solidFill>
                <a:latin typeface="Calibri"/>
                <a:cs typeface="Calibri"/>
              </a:rPr>
              <a:t>chromosome-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aware</a:t>
            </a:r>
            <a:r>
              <a:rPr sz="950" spc="-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splitting</a:t>
            </a:r>
            <a:r>
              <a:rPr sz="950" spc="19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3B6377"/>
                </a:solidFill>
                <a:latin typeface="Calibri"/>
                <a:cs typeface="Calibri"/>
              </a:rPr>
              <a:t>·</a:t>
            </a:r>
            <a:r>
              <a:rPr sz="950" spc="2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3B6377"/>
                </a:solidFill>
                <a:latin typeface="Calibri"/>
                <a:cs typeface="Calibri"/>
              </a:rPr>
              <a:t>Duplicate</a:t>
            </a:r>
            <a:r>
              <a:rPr sz="95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3B6377"/>
                </a:solidFill>
                <a:latin typeface="Calibri"/>
                <a:cs typeface="Calibri"/>
              </a:rPr>
              <a:t>deduplication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3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182513"/>
            <a:ext cx="2559951" cy="47545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0780" y="1267106"/>
            <a:ext cx="7194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5" dirty="0">
                <a:solidFill>
                  <a:srgbClr val="2A9EA8"/>
                </a:solidFill>
              </a:rPr>
              <a:t>03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731164" y="1279806"/>
            <a:ext cx="1280160" cy="822960"/>
          </a:xfrm>
          <a:custGeom>
            <a:avLst/>
            <a:gdLst/>
            <a:ahLst/>
            <a:cxnLst/>
            <a:rect l="l" t="t" r="r" b="b"/>
            <a:pathLst>
              <a:path w="1280160" h="822960">
                <a:moveTo>
                  <a:pt x="640079" y="822591"/>
                </a:moveTo>
                <a:lnTo>
                  <a:pt x="0" y="822591"/>
                </a:lnTo>
                <a:lnTo>
                  <a:pt x="0" y="0"/>
                </a:lnTo>
                <a:lnTo>
                  <a:pt x="1279791" y="0"/>
                </a:lnTo>
                <a:lnTo>
                  <a:pt x="1279791" y="822591"/>
                </a:lnTo>
                <a:lnTo>
                  <a:pt x="640079" y="822591"/>
                </a:lnTo>
                <a:close/>
              </a:path>
            </a:pathLst>
          </a:custGeom>
          <a:ln w="25559">
            <a:solidFill>
              <a:srgbClr val="2A9E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8456" y="2318666"/>
            <a:ext cx="4926965" cy="159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3905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3600" b="1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Engineering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600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Sequence</a:t>
            </a:r>
            <a:r>
              <a:rPr sz="36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Windows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Building</a:t>
            </a:r>
            <a:r>
              <a:rPr sz="1350" spc="-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a </a:t>
            </a:r>
            <a:r>
              <a:rPr sz="1350" spc="-20" dirty="0">
                <a:solidFill>
                  <a:srgbClr val="4DC4CE"/>
                </a:solidFill>
                <a:latin typeface="Calibri"/>
                <a:cs typeface="Calibri"/>
              </a:rPr>
              <a:t>12,301-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dimensional</a:t>
            </a:r>
            <a:r>
              <a:rPr sz="1350" spc="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4DC4CE"/>
                </a:solidFill>
                <a:latin typeface="Calibri"/>
                <a:cs typeface="Calibri"/>
              </a:rPr>
              <a:t>representation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 of</a:t>
            </a:r>
            <a:r>
              <a:rPr sz="1350" spc="1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every</a:t>
            </a:r>
            <a:r>
              <a:rPr sz="1350" spc="-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genomic</a:t>
            </a:r>
            <a:r>
              <a:rPr sz="1350" spc="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variant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Feature</a:t>
            </a:r>
            <a:r>
              <a:rPr spc="-55" dirty="0"/>
              <a:t> </a:t>
            </a:r>
            <a:r>
              <a:rPr dirty="0"/>
              <a:t>Engineering</a:t>
            </a:r>
            <a:r>
              <a:rPr spc="-50" dirty="0"/>
              <a:t> </a:t>
            </a:r>
            <a:r>
              <a:rPr dirty="0"/>
              <a:t>—</a:t>
            </a:r>
            <a:r>
              <a:rPr spc="-45" dirty="0"/>
              <a:t> </a:t>
            </a:r>
            <a:r>
              <a:rPr spc="-10" dirty="0"/>
              <a:t>12,301-</a:t>
            </a:r>
            <a:r>
              <a:rPr dirty="0"/>
              <a:t>Dimensional</a:t>
            </a:r>
            <a:r>
              <a:rPr spc="-40" dirty="0"/>
              <a:t> </a:t>
            </a:r>
            <a:r>
              <a:rPr spc="-10" dirty="0"/>
              <a:t>Vector</a:t>
            </a:r>
          </a:p>
        </p:txBody>
      </p:sp>
      <p:sp>
        <p:nvSpPr>
          <p:cNvPr id="3" name="object 3"/>
          <p:cNvSpPr/>
          <p:nvPr/>
        </p:nvSpPr>
        <p:spPr>
          <a:xfrm>
            <a:off x="365404" y="621362"/>
            <a:ext cx="8412480" cy="27305"/>
          </a:xfrm>
          <a:custGeom>
            <a:avLst/>
            <a:gdLst/>
            <a:ahLst/>
            <a:cxnLst/>
            <a:rect l="l" t="t" r="r" b="b"/>
            <a:pathLst>
              <a:path w="8412480" h="27304">
                <a:moveTo>
                  <a:pt x="8412111" y="0"/>
                </a:moveTo>
                <a:lnTo>
                  <a:pt x="0" y="0"/>
                </a:lnTo>
                <a:lnTo>
                  <a:pt x="0" y="27000"/>
                </a:lnTo>
                <a:lnTo>
                  <a:pt x="4206240" y="27000"/>
                </a:lnTo>
                <a:lnTo>
                  <a:pt x="8412111" y="27000"/>
                </a:lnTo>
                <a:lnTo>
                  <a:pt x="8412111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3221" y="728537"/>
            <a:ext cx="28327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From</a:t>
            </a:r>
            <a:r>
              <a:rPr sz="9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99,310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variants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Extracted</a:t>
            </a:r>
            <a:r>
              <a:rPr sz="9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in</a:t>
            </a:r>
            <a:r>
              <a:rPr sz="9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56</a:t>
            </a:r>
            <a:r>
              <a:rPr sz="9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seconds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1,752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 it/s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6240" y="922314"/>
            <a:ext cx="4272280" cy="1409700"/>
            <a:chOff x="246240" y="922314"/>
            <a:chExt cx="4272280" cy="1409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40" y="922314"/>
              <a:ext cx="4271759" cy="14094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5760" y="1005842"/>
              <a:ext cx="4069079" cy="1207135"/>
            </a:xfrm>
            <a:custGeom>
              <a:avLst/>
              <a:gdLst/>
              <a:ahLst/>
              <a:cxnLst/>
              <a:rect l="l" t="t" r="r" b="b"/>
              <a:pathLst>
                <a:path w="4069079" h="1207135">
                  <a:moveTo>
                    <a:pt x="4068724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034362" y="1206715"/>
                  </a:lnTo>
                  <a:lnTo>
                    <a:pt x="4068724" y="1206715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404" y="1005842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09" h="1207135">
                  <a:moveTo>
                    <a:pt x="54356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7355" y="1206715"/>
                  </a:lnTo>
                  <a:lnTo>
                    <a:pt x="54356" y="1206715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8855" y="1132461"/>
            <a:ext cx="127444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25" dirty="0">
                <a:solidFill>
                  <a:srgbClr val="0C3A6D"/>
                </a:solidFill>
                <a:latin typeface="Calibri"/>
                <a:cs typeface="Calibri"/>
              </a:rPr>
              <a:t>6-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mer</a:t>
            </a:r>
            <a:r>
              <a:rPr sz="1050" b="1" spc="-2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REF</a:t>
            </a:r>
            <a:r>
              <a:rPr sz="1050" b="1" spc="-2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Frequencies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49040" y="1096926"/>
            <a:ext cx="594360" cy="219710"/>
          </a:xfrm>
          <a:custGeom>
            <a:avLst/>
            <a:gdLst/>
            <a:ahLst/>
            <a:cxnLst/>
            <a:rect l="l" t="t" r="r" b="b"/>
            <a:pathLst>
              <a:path w="594360" h="219709">
                <a:moveTo>
                  <a:pt x="556196" y="0"/>
                </a:moveTo>
                <a:lnTo>
                  <a:pt x="37795" y="0"/>
                </a:lnTo>
                <a:lnTo>
                  <a:pt x="29883" y="2159"/>
                </a:lnTo>
                <a:lnTo>
                  <a:pt x="23037" y="6121"/>
                </a:lnTo>
                <a:lnTo>
                  <a:pt x="15836" y="10071"/>
                </a:lnTo>
                <a:lnTo>
                  <a:pt x="10083" y="15836"/>
                </a:lnTo>
                <a:lnTo>
                  <a:pt x="6121" y="22669"/>
                </a:lnTo>
                <a:lnTo>
                  <a:pt x="2159" y="29870"/>
                </a:lnTo>
                <a:lnTo>
                  <a:pt x="0" y="37795"/>
                </a:lnTo>
                <a:lnTo>
                  <a:pt x="0" y="181800"/>
                </a:lnTo>
                <a:lnTo>
                  <a:pt x="2061" y="189356"/>
                </a:lnTo>
                <a:lnTo>
                  <a:pt x="2159" y="189712"/>
                </a:lnTo>
                <a:lnTo>
                  <a:pt x="6121" y="196557"/>
                </a:lnTo>
                <a:lnTo>
                  <a:pt x="10083" y="203758"/>
                </a:lnTo>
                <a:lnTo>
                  <a:pt x="15836" y="209511"/>
                </a:lnTo>
                <a:lnTo>
                  <a:pt x="22682" y="213474"/>
                </a:lnTo>
                <a:lnTo>
                  <a:pt x="29883" y="217436"/>
                </a:lnTo>
                <a:lnTo>
                  <a:pt x="37795" y="219595"/>
                </a:lnTo>
                <a:lnTo>
                  <a:pt x="556564" y="219240"/>
                </a:lnTo>
                <a:lnTo>
                  <a:pt x="564476" y="217081"/>
                </a:lnTo>
                <a:lnTo>
                  <a:pt x="571322" y="213118"/>
                </a:lnTo>
                <a:lnTo>
                  <a:pt x="578523" y="209156"/>
                </a:lnTo>
                <a:lnTo>
                  <a:pt x="594360" y="173520"/>
                </a:lnTo>
                <a:lnTo>
                  <a:pt x="594004" y="45720"/>
                </a:lnTo>
                <a:lnTo>
                  <a:pt x="594004" y="37795"/>
                </a:lnTo>
                <a:lnTo>
                  <a:pt x="591845" y="29870"/>
                </a:lnTo>
                <a:lnTo>
                  <a:pt x="587883" y="23037"/>
                </a:lnTo>
                <a:lnTo>
                  <a:pt x="583920" y="15836"/>
                </a:lnTo>
                <a:lnTo>
                  <a:pt x="578154" y="10071"/>
                </a:lnTo>
                <a:lnTo>
                  <a:pt x="571322" y="6121"/>
                </a:lnTo>
                <a:lnTo>
                  <a:pt x="564121" y="2159"/>
                </a:lnTo>
                <a:lnTo>
                  <a:pt x="556196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94302" y="1133172"/>
            <a:ext cx="4838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4,096</a:t>
            </a:r>
            <a:r>
              <a:rPr sz="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dims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9224" y="1376897"/>
            <a:ext cx="3808095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All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4^6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=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4,096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hexanucleotide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6-mer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counts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from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reference sequence,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normalised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by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total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30" dirty="0">
                <a:solidFill>
                  <a:srgbClr val="192D3A"/>
                </a:solidFill>
                <a:latin typeface="Calibri"/>
                <a:cs typeface="Calibri"/>
              </a:rPr>
              <a:t>k-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mers.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Captures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local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sequence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composition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 of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wild-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type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allele.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98200" y="922314"/>
            <a:ext cx="4272280" cy="1409700"/>
            <a:chOff x="4498200" y="922314"/>
            <a:chExt cx="4272280" cy="14097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8200" y="922314"/>
              <a:ext cx="4271759" cy="140940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17719" y="1005842"/>
              <a:ext cx="4069079" cy="1207135"/>
            </a:xfrm>
            <a:custGeom>
              <a:avLst/>
              <a:gdLst/>
              <a:ahLst/>
              <a:cxnLst/>
              <a:rect l="l" t="t" r="r" b="b"/>
              <a:pathLst>
                <a:path w="4069079" h="1207135">
                  <a:moveTo>
                    <a:pt x="4068724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034362" y="1206715"/>
                  </a:lnTo>
                  <a:lnTo>
                    <a:pt x="4068724" y="1206715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17364" y="1005842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10" h="1207135">
                  <a:moveTo>
                    <a:pt x="5435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7355" y="1206715"/>
                  </a:lnTo>
                  <a:lnTo>
                    <a:pt x="54355" y="1206715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50815" y="1132461"/>
            <a:ext cx="126619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25" dirty="0">
                <a:solidFill>
                  <a:srgbClr val="0C3A6D"/>
                </a:solidFill>
                <a:latin typeface="Calibri"/>
                <a:cs typeface="Calibri"/>
              </a:rPr>
              <a:t>6-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mer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35" dirty="0">
                <a:solidFill>
                  <a:srgbClr val="0C3A6D"/>
                </a:solidFill>
                <a:latin typeface="Calibri"/>
                <a:cs typeface="Calibri"/>
              </a:rPr>
              <a:t>ALT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Frequencies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001000" y="1096926"/>
            <a:ext cx="594360" cy="219710"/>
          </a:xfrm>
          <a:custGeom>
            <a:avLst/>
            <a:gdLst/>
            <a:ahLst/>
            <a:cxnLst/>
            <a:rect l="l" t="t" r="r" b="b"/>
            <a:pathLst>
              <a:path w="594359" h="219709">
                <a:moveTo>
                  <a:pt x="556196" y="0"/>
                </a:moveTo>
                <a:lnTo>
                  <a:pt x="37795" y="0"/>
                </a:lnTo>
                <a:lnTo>
                  <a:pt x="29883" y="2159"/>
                </a:lnTo>
                <a:lnTo>
                  <a:pt x="23037" y="6121"/>
                </a:lnTo>
                <a:lnTo>
                  <a:pt x="15836" y="10071"/>
                </a:lnTo>
                <a:lnTo>
                  <a:pt x="10083" y="15836"/>
                </a:lnTo>
                <a:lnTo>
                  <a:pt x="6121" y="22669"/>
                </a:lnTo>
                <a:lnTo>
                  <a:pt x="2158" y="29870"/>
                </a:lnTo>
                <a:lnTo>
                  <a:pt x="0" y="37795"/>
                </a:lnTo>
                <a:lnTo>
                  <a:pt x="0" y="181800"/>
                </a:lnTo>
                <a:lnTo>
                  <a:pt x="2061" y="189356"/>
                </a:lnTo>
                <a:lnTo>
                  <a:pt x="2158" y="189712"/>
                </a:lnTo>
                <a:lnTo>
                  <a:pt x="6121" y="196557"/>
                </a:lnTo>
                <a:lnTo>
                  <a:pt x="10083" y="203758"/>
                </a:lnTo>
                <a:lnTo>
                  <a:pt x="15836" y="209511"/>
                </a:lnTo>
                <a:lnTo>
                  <a:pt x="22682" y="213474"/>
                </a:lnTo>
                <a:lnTo>
                  <a:pt x="29883" y="217436"/>
                </a:lnTo>
                <a:lnTo>
                  <a:pt x="37795" y="219595"/>
                </a:lnTo>
                <a:lnTo>
                  <a:pt x="556564" y="219240"/>
                </a:lnTo>
                <a:lnTo>
                  <a:pt x="564476" y="217081"/>
                </a:lnTo>
                <a:lnTo>
                  <a:pt x="571322" y="213118"/>
                </a:lnTo>
                <a:lnTo>
                  <a:pt x="578523" y="209156"/>
                </a:lnTo>
                <a:lnTo>
                  <a:pt x="594359" y="173520"/>
                </a:lnTo>
                <a:lnTo>
                  <a:pt x="594004" y="45720"/>
                </a:lnTo>
                <a:lnTo>
                  <a:pt x="594004" y="37795"/>
                </a:lnTo>
                <a:lnTo>
                  <a:pt x="591845" y="29870"/>
                </a:lnTo>
                <a:lnTo>
                  <a:pt x="587882" y="23037"/>
                </a:lnTo>
                <a:lnTo>
                  <a:pt x="583920" y="15836"/>
                </a:lnTo>
                <a:lnTo>
                  <a:pt x="578154" y="10071"/>
                </a:lnTo>
                <a:lnTo>
                  <a:pt x="571322" y="6121"/>
                </a:lnTo>
                <a:lnTo>
                  <a:pt x="564121" y="2159"/>
                </a:lnTo>
                <a:lnTo>
                  <a:pt x="556196" y="0"/>
                </a:lnTo>
                <a:close/>
              </a:path>
            </a:pathLst>
          </a:custGeom>
          <a:solidFill>
            <a:srgbClr val="E778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046263" y="1133172"/>
            <a:ext cx="4838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4,096</a:t>
            </a:r>
            <a:r>
              <a:rPr sz="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dims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51184" y="1376897"/>
            <a:ext cx="3799840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Same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vector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computed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on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mutated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sequence.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Captures</a:t>
            </a:r>
            <a:r>
              <a:rPr sz="90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k-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mer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shift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post-mutation,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so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any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motif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disruption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shows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up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as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composition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 change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in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this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vector.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6240" y="2275549"/>
            <a:ext cx="4272280" cy="1409700"/>
            <a:chOff x="246240" y="2275549"/>
            <a:chExt cx="4272280" cy="140970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40" y="2275549"/>
              <a:ext cx="4271759" cy="140940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5760" y="2359077"/>
              <a:ext cx="4069079" cy="1207135"/>
            </a:xfrm>
            <a:custGeom>
              <a:avLst/>
              <a:gdLst/>
              <a:ahLst/>
              <a:cxnLst/>
              <a:rect l="l" t="t" r="r" b="b"/>
              <a:pathLst>
                <a:path w="4069079" h="1207135">
                  <a:moveTo>
                    <a:pt x="4068724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2034362" y="1206728"/>
                  </a:lnTo>
                  <a:lnTo>
                    <a:pt x="4068724" y="1206728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5404" y="2359077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09" h="1207135">
                  <a:moveTo>
                    <a:pt x="54356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27355" y="1206728"/>
                  </a:lnTo>
                  <a:lnTo>
                    <a:pt x="54356" y="1206728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2D9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8855" y="2485709"/>
            <a:ext cx="85153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Delta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Direction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49040" y="2450162"/>
            <a:ext cx="594360" cy="219710"/>
          </a:xfrm>
          <a:custGeom>
            <a:avLst/>
            <a:gdLst/>
            <a:ahLst/>
            <a:cxnLst/>
            <a:rect l="l" t="t" r="r" b="b"/>
            <a:pathLst>
              <a:path w="594360" h="219710">
                <a:moveTo>
                  <a:pt x="556196" y="0"/>
                </a:moveTo>
                <a:lnTo>
                  <a:pt x="37795" y="0"/>
                </a:lnTo>
                <a:lnTo>
                  <a:pt x="29883" y="2158"/>
                </a:lnTo>
                <a:lnTo>
                  <a:pt x="23037" y="6121"/>
                </a:lnTo>
                <a:lnTo>
                  <a:pt x="15836" y="10083"/>
                </a:lnTo>
                <a:lnTo>
                  <a:pt x="10083" y="15836"/>
                </a:lnTo>
                <a:lnTo>
                  <a:pt x="6121" y="22682"/>
                </a:lnTo>
                <a:lnTo>
                  <a:pt x="2159" y="29883"/>
                </a:lnTo>
                <a:lnTo>
                  <a:pt x="0" y="37795"/>
                </a:lnTo>
                <a:lnTo>
                  <a:pt x="0" y="181800"/>
                </a:lnTo>
                <a:lnTo>
                  <a:pt x="2058" y="189356"/>
                </a:lnTo>
                <a:lnTo>
                  <a:pt x="2159" y="189725"/>
                </a:lnTo>
                <a:lnTo>
                  <a:pt x="6121" y="196557"/>
                </a:lnTo>
                <a:lnTo>
                  <a:pt x="10083" y="203758"/>
                </a:lnTo>
                <a:lnTo>
                  <a:pt x="15836" y="209524"/>
                </a:lnTo>
                <a:lnTo>
                  <a:pt x="22682" y="213474"/>
                </a:lnTo>
                <a:lnTo>
                  <a:pt x="29883" y="217436"/>
                </a:lnTo>
                <a:lnTo>
                  <a:pt x="37795" y="219595"/>
                </a:lnTo>
                <a:lnTo>
                  <a:pt x="556564" y="219240"/>
                </a:lnTo>
                <a:lnTo>
                  <a:pt x="564476" y="217081"/>
                </a:lnTo>
                <a:lnTo>
                  <a:pt x="571322" y="213118"/>
                </a:lnTo>
                <a:lnTo>
                  <a:pt x="578523" y="209156"/>
                </a:lnTo>
                <a:lnTo>
                  <a:pt x="594360" y="173520"/>
                </a:lnTo>
                <a:lnTo>
                  <a:pt x="594004" y="45719"/>
                </a:lnTo>
                <a:lnTo>
                  <a:pt x="594004" y="37795"/>
                </a:lnTo>
                <a:lnTo>
                  <a:pt x="591845" y="29883"/>
                </a:lnTo>
                <a:lnTo>
                  <a:pt x="587883" y="23037"/>
                </a:lnTo>
                <a:lnTo>
                  <a:pt x="583920" y="15836"/>
                </a:lnTo>
                <a:lnTo>
                  <a:pt x="578154" y="10083"/>
                </a:lnTo>
                <a:lnTo>
                  <a:pt x="571322" y="6121"/>
                </a:lnTo>
                <a:lnTo>
                  <a:pt x="564121" y="2158"/>
                </a:lnTo>
                <a:lnTo>
                  <a:pt x="556196" y="0"/>
                </a:lnTo>
                <a:close/>
              </a:path>
            </a:pathLst>
          </a:custGeom>
          <a:solidFill>
            <a:srgbClr val="2D9D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794302" y="2486420"/>
            <a:ext cx="4838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4,096</a:t>
            </a:r>
            <a:r>
              <a:rPr sz="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dims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9224" y="2730146"/>
            <a:ext cx="3825875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Unit-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normalised difference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vector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(ALT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 −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REF)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/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|ALT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−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REF|.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Encodes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direction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compositional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change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rather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than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magnitude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important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for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catching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directional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motif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loss.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98200" y="2275549"/>
            <a:ext cx="4272280" cy="1409700"/>
            <a:chOff x="4498200" y="2275549"/>
            <a:chExt cx="4272280" cy="140970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8200" y="2275549"/>
              <a:ext cx="4271759" cy="140940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617719" y="2359077"/>
              <a:ext cx="4069079" cy="1207135"/>
            </a:xfrm>
            <a:custGeom>
              <a:avLst/>
              <a:gdLst/>
              <a:ahLst/>
              <a:cxnLst/>
              <a:rect l="l" t="t" r="r" b="b"/>
              <a:pathLst>
                <a:path w="4069079" h="1207135">
                  <a:moveTo>
                    <a:pt x="4068724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2034362" y="1206728"/>
                  </a:lnTo>
                  <a:lnTo>
                    <a:pt x="4068724" y="1206728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17364" y="2359077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10" h="1207135">
                  <a:moveTo>
                    <a:pt x="54355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27355" y="1206728"/>
                  </a:lnTo>
                  <a:lnTo>
                    <a:pt x="54355" y="1206728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750815" y="2485709"/>
            <a:ext cx="94869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Delta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Magnitude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001000" y="2450162"/>
            <a:ext cx="594360" cy="219710"/>
          </a:xfrm>
          <a:custGeom>
            <a:avLst/>
            <a:gdLst/>
            <a:ahLst/>
            <a:cxnLst/>
            <a:rect l="l" t="t" r="r" b="b"/>
            <a:pathLst>
              <a:path w="594359" h="219710">
                <a:moveTo>
                  <a:pt x="556196" y="0"/>
                </a:moveTo>
                <a:lnTo>
                  <a:pt x="37795" y="0"/>
                </a:lnTo>
                <a:lnTo>
                  <a:pt x="29883" y="2158"/>
                </a:lnTo>
                <a:lnTo>
                  <a:pt x="23037" y="6121"/>
                </a:lnTo>
                <a:lnTo>
                  <a:pt x="15836" y="10083"/>
                </a:lnTo>
                <a:lnTo>
                  <a:pt x="10083" y="15836"/>
                </a:lnTo>
                <a:lnTo>
                  <a:pt x="6121" y="22682"/>
                </a:lnTo>
                <a:lnTo>
                  <a:pt x="2158" y="29883"/>
                </a:lnTo>
                <a:lnTo>
                  <a:pt x="0" y="37795"/>
                </a:lnTo>
                <a:lnTo>
                  <a:pt x="0" y="181800"/>
                </a:lnTo>
                <a:lnTo>
                  <a:pt x="2058" y="189356"/>
                </a:lnTo>
                <a:lnTo>
                  <a:pt x="2158" y="189725"/>
                </a:lnTo>
                <a:lnTo>
                  <a:pt x="6121" y="196557"/>
                </a:lnTo>
                <a:lnTo>
                  <a:pt x="10083" y="203758"/>
                </a:lnTo>
                <a:lnTo>
                  <a:pt x="15836" y="209524"/>
                </a:lnTo>
                <a:lnTo>
                  <a:pt x="22682" y="213474"/>
                </a:lnTo>
                <a:lnTo>
                  <a:pt x="29883" y="217436"/>
                </a:lnTo>
                <a:lnTo>
                  <a:pt x="37795" y="219595"/>
                </a:lnTo>
                <a:lnTo>
                  <a:pt x="556564" y="219240"/>
                </a:lnTo>
                <a:lnTo>
                  <a:pt x="564476" y="217081"/>
                </a:lnTo>
                <a:lnTo>
                  <a:pt x="571322" y="213118"/>
                </a:lnTo>
                <a:lnTo>
                  <a:pt x="578523" y="209156"/>
                </a:lnTo>
                <a:lnTo>
                  <a:pt x="594359" y="173520"/>
                </a:lnTo>
                <a:lnTo>
                  <a:pt x="594004" y="45719"/>
                </a:lnTo>
                <a:lnTo>
                  <a:pt x="594004" y="37795"/>
                </a:lnTo>
                <a:lnTo>
                  <a:pt x="591845" y="29883"/>
                </a:lnTo>
                <a:lnTo>
                  <a:pt x="587882" y="23037"/>
                </a:lnTo>
                <a:lnTo>
                  <a:pt x="583920" y="15836"/>
                </a:lnTo>
                <a:lnTo>
                  <a:pt x="578154" y="10083"/>
                </a:lnTo>
                <a:lnTo>
                  <a:pt x="571322" y="6121"/>
                </a:lnTo>
                <a:lnTo>
                  <a:pt x="564121" y="2158"/>
                </a:lnTo>
                <a:lnTo>
                  <a:pt x="556196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156778" y="2486420"/>
            <a:ext cx="2622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Calibri"/>
                <a:cs typeface="Calibri"/>
              </a:rPr>
              <a:t>dim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51184" y="2730146"/>
            <a:ext cx="3627754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L2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norm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(ALT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−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REF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vector)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scalar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measure of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how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drastically sequence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composition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shifted.</a:t>
            </a:r>
            <a:r>
              <a:rPr sz="90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Large</a:t>
            </a:r>
            <a:r>
              <a:rPr sz="90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values</a:t>
            </a:r>
            <a:r>
              <a:rPr sz="90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indicate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 major</a:t>
            </a:r>
            <a:r>
              <a:rPr sz="90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structural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remodelling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 of</a:t>
            </a:r>
            <a:r>
              <a:rPr sz="90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900" spc="-4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region</a:t>
            </a:r>
            <a:r>
              <a:rPr sz="900" spc="-4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context.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46240" y="3628785"/>
            <a:ext cx="4272280" cy="1409700"/>
            <a:chOff x="246240" y="3628785"/>
            <a:chExt cx="4272280" cy="140970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40" y="3628785"/>
              <a:ext cx="4271759" cy="140942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65760" y="3712326"/>
              <a:ext cx="4069079" cy="1207135"/>
            </a:xfrm>
            <a:custGeom>
              <a:avLst/>
              <a:gdLst/>
              <a:ahLst/>
              <a:cxnLst/>
              <a:rect l="l" t="t" r="r" b="b"/>
              <a:pathLst>
                <a:path w="4069079" h="1207135">
                  <a:moveTo>
                    <a:pt x="4068724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034362" y="1206715"/>
                  </a:lnTo>
                  <a:lnTo>
                    <a:pt x="4068724" y="1206715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5404" y="3712326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09" h="1207135">
                  <a:moveTo>
                    <a:pt x="54356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7355" y="1206715"/>
                  </a:lnTo>
                  <a:lnTo>
                    <a:pt x="54356" y="1206715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98855" y="3838945"/>
            <a:ext cx="120332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20" dirty="0">
                <a:solidFill>
                  <a:srgbClr val="0C3A6D"/>
                </a:solidFill>
                <a:latin typeface="Calibri"/>
                <a:cs typeface="Calibri"/>
              </a:rPr>
              <a:t>Variant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 Type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 /</a:t>
            </a:r>
            <a:r>
              <a:rPr sz="1050" b="1" spc="-1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Length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749040" y="3803398"/>
            <a:ext cx="594360" cy="219710"/>
          </a:xfrm>
          <a:custGeom>
            <a:avLst/>
            <a:gdLst/>
            <a:ahLst/>
            <a:cxnLst/>
            <a:rect l="l" t="t" r="r" b="b"/>
            <a:pathLst>
              <a:path w="594360" h="219710">
                <a:moveTo>
                  <a:pt x="556196" y="0"/>
                </a:moveTo>
                <a:lnTo>
                  <a:pt x="37795" y="0"/>
                </a:lnTo>
                <a:lnTo>
                  <a:pt x="29883" y="2158"/>
                </a:lnTo>
                <a:lnTo>
                  <a:pt x="23037" y="6121"/>
                </a:lnTo>
                <a:lnTo>
                  <a:pt x="15836" y="10083"/>
                </a:lnTo>
                <a:lnTo>
                  <a:pt x="10083" y="15849"/>
                </a:lnTo>
                <a:lnTo>
                  <a:pt x="6121" y="22682"/>
                </a:lnTo>
                <a:lnTo>
                  <a:pt x="2159" y="29883"/>
                </a:lnTo>
                <a:lnTo>
                  <a:pt x="0" y="37807"/>
                </a:lnTo>
                <a:lnTo>
                  <a:pt x="0" y="181800"/>
                </a:lnTo>
                <a:lnTo>
                  <a:pt x="2062" y="189369"/>
                </a:lnTo>
                <a:lnTo>
                  <a:pt x="2159" y="189725"/>
                </a:lnTo>
                <a:lnTo>
                  <a:pt x="6121" y="196557"/>
                </a:lnTo>
                <a:lnTo>
                  <a:pt x="10083" y="203758"/>
                </a:lnTo>
                <a:lnTo>
                  <a:pt x="15836" y="209524"/>
                </a:lnTo>
                <a:lnTo>
                  <a:pt x="22682" y="213486"/>
                </a:lnTo>
                <a:lnTo>
                  <a:pt x="29883" y="217449"/>
                </a:lnTo>
                <a:lnTo>
                  <a:pt x="37795" y="219608"/>
                </a:lnTo>
                <a:lnTo>
                  <a:pt x="556564" y="219240"/>
                </a:lnTo>
                <a:lnTo>
                  <a:pt x="564476" y="217081"/>
                </a:lnTo>
                <a:lnTo>
                  <a:pt x="571322" y="213118"/>
                </a:lnTo>
                <a:lnTo>
                  <a:pt x="578523" y="209169"/>
                </a:lnTo>
                <a:lnTo>
                  <a:pt x="594360" y="173520"/>
                </a:lnTo>
                <a:lnTo>
                  <a:pt x="594004" y="45719"/>
                </a:lnTo>
                <a:lnTo>
                  <a:pt x="594004" y="37807"/>
                </a:lnTo>
                <a:lnTo>
                  <a:pt x="591845" y="29883"/>
                </a:lnTo>
                <a:lnTo>
                  <a:pt x="587883" y="23037"/>
                </a:lnTo>
                <a:lnTo>
                  <a:pt x="583920" y="15849"/>
                </a:lnTo>
                <a:lnTo>
                  <a:pt x="578154" y="10083"/>
                </a:lnTo>
                <a:lnTo>
                  <a:pt x="571322" y="6121"/>
                </a:lnTo>
                <a:lnTo>
                  <a:pt x="564121" y="2158"/>
                </a:lnTo>
                <a:lnTo>
                  <a:pt x="556196" y="0"/>
                </a:lnTo>
                <a:close/>
              </a:path>
            </a:pathLst>
          </a:custGeom>
          <a:solidFill>
            <a:srgbClr val="E778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885019" y="3839656"/>
            <a:ext cx="3035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dims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9224" y="4083382"/>
            <a:ext cx="3672840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SNV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(0),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INS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(1),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DEL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(2),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MNV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(3)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encoded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as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integer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plus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reference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length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alternate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length.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Captures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size-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class</a:t>
            </a:r>
            <a:r>
              <a:rPr sz="90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information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 that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affects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splice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geometry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differently.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498200" y="3628785"/>
            <a:ext cx="4272280" cy="1409700"/>
            <a:chOff x="4498200" y="3628785"/>
            <a:chExt cx="4272280" cy="1409700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8200" y="3628785"/>
              <a:ext cx="4271759" cy="140942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617719" y="3712326"/>
              <a:ext cx="4069079" cy="1207135"/>
            </a:xfrm>
            <a:custGeom>
              <a:avLst/>
              <a:gdLst/>
              <a:ahLst/>
              <a:cxnLst/>
              <a:rect l="l" t="t" r="r" b="b"/>
              <a:pathLst>
                <a:path w="4069079" h="1207135">
                  <a:moveTo>
                    <a:pt x="4068724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034362" y="1206715"/>
                  </a:lnTo>
                  <a:lnTo>
                    <a:pt x="4068724" y="1206715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17364" y="3712326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10" h="1207135">
                  <a:moveTo>
                    <a:pt x="5435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7355" y="1206715"/>
                  </a:lnTo>
                  <a:lnTo>
                    <a:pt x="54355" y="1206715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2D9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750815" y="3838945"/>
            <a:ext cx="101028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Biological</a:t>
            </a:r>
            <a:r>
              <a:rPr sz="1050" b="1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C3A6D"/>
                </a:solidFill>
                <a:latin typeface="Calibri"/>
                <a:cs typeface="Calibri"/>
              </a:rPr>
              <a:t>Context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001000" y="3803398"/>
            <a:ext cx="594360" cy="219710"/>
          </a:xfrm>
          <a:custGeom>
            <a:avLst/>
            <a:gdLst/>
            <a:ahLst/>
            <a:cxnLst/>
            <a:rect l="l" t="t" r="r" b="b"/>
            <a:pathLst>
              <a:path w="594359" h="219710">
                <a:moveTo>
                  <a:pt x="556196" y="0"/>
                </a:moveTo>
                <a:lnTo>
                  <a:pt x="37795" y="0"/>
                </a:lnTo>
                <a:lnTo>
                  <a:pt x="29883" y="2158"/>
                </a:lnTo>
                <a:lnTo>
                  <a:pt x="23037" y="6121"/>
                </a:lnTo>
                <a:lnTo>
                  <a:pt x="15836" y="10083"/>
                </a:lnTo>
                <a:lnTo>
                  <a:pt x="10083" y="15849"/>
                </a:lnTo>
                <a:lnTo>
                  <a:pt x="6121" y="22682"/>
                </a:lnTo>
                <a:lnTo>
                  <a:pt x="2158" y="29883"/>
                </a:lnTo>
                <a:lnTo>
                  <a:pt x="0" y="37807"/>
                </a:lnTo>
                <a:lnTo>
                  <a:pt x="0" y="181800"/>
                </a:lnTo>
                <a:lnTo>
                  <a:pt x="2062" y="189369"/>
                </a:lnTo>
                <a:lnTo>
                  <a:pt x="2158" y="189725"/>
                </a:lnTo>
                <a:lnTo>
                  <a:pt x="6121" y="196557"/>
                </a:lnTo>
                <a:lnTo>
                  <a:pt x="10083" y="203758"/>
                </a:lnTo>
                <a:lnTo>
                  <a:pt x="15836" y="209524"/>
                </a:lnTo>
                <a:lnTo>
                  <a:pt x="22682" y="213486"/>
                </a:lnTo>
                <a:lnTo>
                  <a:pt x="29883" y="217449"/>
                </a:lnTo>
                <a:lnTo>
                  <a:pt x="37795" y="219608"/>
                </a:lnTo>
                <a:lnTo>
                  <a:pt x="556564" y="219240"/>
                </a:lnTo>
                <a:lnTo>
                  <a:pt x="564476" y="217081"/>
                </a:lnTo>
                <a:lnTo>
                  <a:pt x="571322" y="213118"/>
                </a:lnTo>
                <a:lnTo>
                  <a:pt x="578523" y="209169"/>
                </a:lnTo>
                <a:lnTo>
                  <a:pt x="594359" y="173520"/>
                </a:lnTo>
                <a:lnTo>
                  <a:pt x="594004" y="45719"/>
                </a:lnTo>
                <a:lnTo>
                  <a:pt x="594004" y="37807"/>
                </a:lnTo>
                <a:lnTo>
                  <a:pt x="591845" y="29883"/>
                </a:lnTo>
                <a:lnTo>
                  <a:pt x="587882" y="23037"/>
                </a:lnTo>
                <a:lnTo>
                  <a:pt x="583920" y="15849"/>
                </a:lnTo>
                <a:lnTo>
                  <a:pt x="578154" y="10083"/>
                </a:lnTo>
                <a:lnTo>
                  <a:pt x="571322" y="6121"/>
                </a:lnTo>
                <a:lnTo>
                  <a:pt x="564121" y="2158"/>
                </a:lnTo>
                <a:lnTo>
                  <a:pt x="556196" y="0"/>
                </a:lnTo>
                <a:close/>
              </a:path>
            </a:pathLst>
          </a:custGeom>
          <a:solidFill>
            <a:srgbClr val="2D9D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136978" y="3839656"/>
            <a:ext cx="3035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r>
              <a:rPr sz="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dims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51184" y="4083382"/>
            <a:ext cx="3825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GT/AG</a:t>
            </a:r>
            <a:r>
              <a:rPr sz="900" spc="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dinucleotide</a:t>
            </a:r>
            <a:r>
              <a:rPr sz="90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flags,</a:t>
            </a:r>
            <a:r>
              <a:rPr sz="90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donor/acceptor</a:t>
            </a:r>
            <a:r>
              <a:rPr sz="90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disruption</a:t>
            </a:r>
            <a:r>
              <a:rPr sz="90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indicators,</a:t>
            </a:r>
            <a:r>
              <a:rPr sz="90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90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GC</a:t>
            </a:r>
            <a:r>
              <a:rPr sz="90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content</a:t>
            </a:r>
            <a:r>
              <a:rPr sz="90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90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window.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Directly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encodes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biologically-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known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90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signals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for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interpretability.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65404" y="4663442"/>
            <a:ext cx="8412480" cy="292735"/>
          </a:xfrm>
          <a:custGeom>
            <a:avLst/>
            <a:gdLst/>
            <a:ahLst/>
            <a:cxnLst/>
            <a:rect l="l" t="t" r="r" b="b"/>
            <a:pathLst>
              <a:path w="8412480" h="292735">
                <a:moveTo>
                  <a:pt x="8412111" y="0"/>
                </a:moveTo>
                <a:lnTo>
                  <a:pt x="0" y="0"/>
                </a:lnTo>
                <a:lnTo>
                  <a:pt x="0" y="292315"/>
                </a:lnTo>
                <a:lnTo>
                  <a:pt x="4206240" y="292315"/>
                </a:lnTo>
                <a:lnTo>
                  <a:pt x="8412111" y="292315"/>
                </a:lnTo>
                <a:lnTo>
                  <a:pt x="8412111" y="0"/>
                </a:lnTo>
                <a:close/>
              </a:path>
            </a:pathLst>
          </a:custGeom>
          <a:solidFill>
            <a:srgbClr val="0C3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99261" y="4728148"/>
            <a:ext cx="71450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Feature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Vector: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4,096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4,096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4,096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+ 9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12,301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dimensions</a:t>
            </a:r>
            <a:r>
              <a:rPr sz="900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00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matrix: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(99,310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×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12,301)</a:t>
            </a:r>
            <a:r>
              <a:rPr sz="900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00" spc="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Train: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59,586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Val: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19,862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Test: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19,862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55645C-1CC6-3C8A-F6D0-AC160BEF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40">
            <a:extLst>
              <a:ext uri="{FF2B5EF4-FFF2-40B4-BE49-F238E27FC236}">
                <a16:creationId xmlns:a16="http://schemas.microsoft.com/office/drawing/2014/main" id="{8C7FB7BF-30C1-5F4E-3462-AA9E584E0289}"/>
              </a:ext>
            </a:extLst>
          </p:cNvPr>
          <p:cNvSpPr txBox="1"/>
          <p:nvPr/>
        </p:nvSpPr>
        <p:spPr>
          <a:xfrm>
            <a:off x="1447800" y="3565525"/>
            <a:ext cx="60960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780"/>
              </a:spcBef>
            </a:pPr>
            <a:r>
              <a:rPr lang="en-US" sz="1400" dirty="0"/>
              <a:t>Feature extraction generated a 12,301-dimensional representation for each splice variant using k-</a:t>
            </a:r>
            <a:r>
              <a:rPr lang="en-US" sz="1400" dirty="0" err="1"/>
              <a:t>mer</a:t>
            </a:r>
            <a:r>
              <a:rPr lang="en-US" sz="1400" dirty="0"/>
              <a:t> composition, biological splice indicators, GC content, and mutation-context statistics.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B1B408-76E9-ED03-C6F4-992940CCC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46125"/>
            <a:ext cx="8153400" cy="246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58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3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182513"/>
            <a:ext cx="2559951" cy="47545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0780" y="1267106"/>
            <a:ext cx="7194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5" dirty="0">
                <a:solidFill>
                  <a:srgbClr val="E77839"/>
                </a:solidFill>
              </a:rPr>
              <a:t>04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731164" y="1279806"/>
            <a:ext cx="1280160" cy="822960"/>
          </a:xfrm>
          <a:custGeom>
            <a:avLst/>
            <a:gdLst/>
            <a:ahLst/>
            <a:cxnLst/>
            <a:rect l="l" t="t" r="r" b="b"/>
            <a:pathLst>
              <a:path w="1280160" h="822960">
                <a:moveTo>
                  <a:pt x="640079" y="822591"/>
                </a:moveTo>
                <a:lnTo>
                  <a:pt x="0" y="822591"/>
                </a:lnTo>
                <a:lnTo>
                  <a:pt x="0" y="0"/>
                </a:lnTo>
                <a:lnTo>
                  <a:pt x="1279791" y="0"/>
                </a:lnTo>
                <a:lnTo>
                  <a:pt x="1279791" y="822591"/>
                </a:lnTo>
                <a:lnTo>
                  <a:pt x="640079" y="822591"/>
                </a:lnTo>
                <a:close/>
              </a:path>
            </a:pathLst>
          </a:custGeom>
          <a:ln w="25559">
            <a:solidFill>
              <a:srgbClr val="E778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53415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125" dirty="0"/>
              <a:t> </a:t>
            </a:r>
            <a:r>
              <a:rPr spc="-10" dirty="0"/>
              <a:t>Training </a:t>
            </a:r>
            <a:r>
              <a:rPr spc="-20" dirty="0"/>
              <a:t>XGBoost</a:t>
            </a:r>
            <a:r>
              <a:rPr spc="-75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spc="-55" dirty="0"/>
              <a:t>DNABERT-</a:t>
            </a:r>
            <a:r>
              <a:rPr spc="-50" dirty="0"/>
              <a:t>2</a:t>
            </a: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1350" b="0" spc="-10" dirty="0">
                <a:solidFill>
                  <a:srgbClr val="F4A269"/>
                </a:solidFill>
                <a:latin typeface="Calibri"/>
                <a:cs typeface="Calibri"/>
              </a:rPr>
              <a:t>GPU-</a:t>
            </a:r>
            <a:r>
              <a:rPr sz="1350" b="0" spc="-20" dirty="0">
                <a:solidFill>
                  <a:srgbClr val="F4A269"/>
                </a:solidFill>
                <a:latin typeface="Calibri"/>
                <a:cs typeface="Calibri"/>
              </a:rPr>
              <a:t>accelerated</a:t>
            </a:r>
            <a:r>
              <a:rPr sz="1350" b="0" spc="-1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F4A269"/>
                </a:solidFill>
                <a:latin typeface="Calibri"/>
                <a:cs typeface="Calibri"/>
              </a:rPr>
              <a:t>training</a:t>
            </a:r>
            <a:r>
              <a:rPr sz="1350" b="0" spc="-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F4A269"/>
                </a:solidFill>
                <a:latin typeface="Calibri"/>
                <a:cs typeface="Calibri"/>
              </a:rPr>
              <a:t>·</a:t>
            </a:r>
            <a:r>
              <a:rPr sz="1350" b="0" spc="-10" dirty="0">
                <a:solidFill>
                  <a:srgbClr val="F4A269"/>
                </a:solidFill>
                <a:latin typeface="Calibri"/>
                <a:cs typeface="Calibri"/>
              </a:rPr>
              <a:t> Threshold</a:t>
            </a:r>
            <a:r>
              <a:rPr sz="1350" b="0" spc="-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F4A269"/>
                </a:solidFill>
                <a:latin typeface="Calibri"/>
                <a:cs typeface="Calibri"/>
              </a:rPr>
              <a:t>optimisation </a:t>
            </a:r>
            <a:r>
              <a:rPr sz="1350" b="0" dirty="0">
                <a:solidFill>
                  <a:srgbClr val="F4A269"/>
                </a:solidFill>
                <a:latin typeface="Calibri"/>
                <a:cs typeface="Calibri"/>
              </a:rPr>
              <a:t>·</a:t>
            </a:r>
            <a:r>
              <a:rPr sz="1350" b="0" spc="-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b="0" spc="-20" dirty="0">
                <a:solidFill>
                  <a:srgbClr val="F4A269"/>
                </a:solidFill>
                <a:latin typeface="Calibri"/>
                <a:cs typeface="Calibri"/>
              </a:rPr>
              <a:t>Weighted</a:t>
            </a:r>
            <a:r>
              <a:rPr sz="1350" b="0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F4A269"/>
                </a:solidFill>
                <a:latin typeface="Calibri"/>
                <a:cs typeface="Calibri"/>
              </a:rPr>
              <a:t>ensemble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404" y="182513"/>
            <a:ext cx="8686800" cy="731520"/>
            <a:chOff x="365404" y="182513"/>
            <a:chExt cx="8686800" cy="73152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9" y="182513"/>
              <a:ext cx="731164" cy="7311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5404" y="62136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XGBoost</a:t>
            </a:r>
            <a:r>
              <a:rPr spc="-45" dirty="0"/>
              <a:t> </a:t>
            </a:r>
            <a:r>
              <a:rPr dirty="0"/>
              <a:t>—</a:t>
            </a:r>
            <a:r>
              <a:rPr spc="-35" dirty="0"/>
              <a:t> </a:t>
            </a:r>
            <a:r>
              <a:rPr spc="-20" dirty="0"/>
              <a:t>Training</a:t>
            </a:r>
            <a:r>
              <a:rPr spc="-40" dirty="0"/>
              <a:t> </a:t>
            </a:r>
            <a:r>
              <a:rPr spc="-10" dirty="0"/>
              <a:t>Configuration</a:t>
            </a:r>
            <a:r>
              <a:rPr spc="-4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90464" y="728537"/>
            <a:ext cx="34048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99,310</a:t>
            </a:r>
            <a:r>
              <a:rPr sz="9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variants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12,301 features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CUDA</a:t>
            </a:r>
            <a:r>
              <a:rPr sz="9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GPU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-2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1,000 boosting</a:t>
            </a:r>
            <a:r>
              <a:rPr sz="9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rounds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5759" y="914402"/>
            <a:ext cx="5303520" cy="2743200"/>
            <a:chOff x="365759" y="914402"/>
            <a:chExt cx="5303520" cy="2743200"/>
          </a:xfrm>
        </p:grpSpPr>
        <p:sp>
          <p:nvSpPr>
            <p:cNvPr id="8" name="object 8"/>
            <p:cNvSpPr/>
            <p:nvPr/>
          </p:nvSpPr>
          <p:spPr>
            <a:xfrm>
              <a:off x="365759" y="914402"/>
              <a:ext cx="5303520" cy="2743200"/>
            </a:xfrm>
            <a:custGeom>
              <a:avLst/>
              <a:gdLst/>
              <a:ahLst/>
              <a:cxnLst/>
              <a:rect l="l" t="t" r="r" b="b"/>
              <a:pathLst>
                <a:path w="5303520" h="2743200">
                  <a:moveTo>
                    <a:pt x="5303164" y="0"/>
                  </a:moveTo>
                  <a:lnTo>
                    <a:pt x="0" y="0"/>
                  </a:lnTo>
                  <a:lnTo>
                    <a:pt x="0" y="2742844"/>
                  </a:lnTo>
                  <a:lnTo>
                    <a:pt x="2651760" y="2742844"/>
                  </a:lnTo>
                  <a:lnTo>
                    <a:pt x="5303164" y="2742844"/>
                  </a:lnTo>
                  <a:lnTo>
                    <a:pt x="5303164" y="0"/>
                  </a:lnTo>
                  <a:close/>
                </a:path>
              </a:pathLst>
            </a:custGeom>
            <a:solidFill>
              <a:srgbClr val="EF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8757" y="1097282"/>
              <a:ext cx="4324350" cy="1610360"/>
            </a:xfrm>
            <a:custGeom>
              <a:avLst/>
              <a:gdLst/>
              <a:ahLst/>
              <a:cxnLst/>
              <a:rect l="l" t="t" r="r" b="b"/>
              <a:pathLst>
                <a:path w="4324350" h="1610360">
                  <a:moveTo>
                    <a:pt x="4324324" y="1609915"/>
                  </a:moveTo>
                  <a:lnTo>
                    <a:pt x="0" y="1609915"/>
                  </a:lnTo>
                </a:path>
                <a:path w="4324350" h="1610360">
                  <a:moveTo>
                    <a:pt x="4324324" y="1288084"/>
                  </a:moveTo>
                  <a:lnTo>
                    <a:pt x="0" y="1288084"/>
                  </a:lnTo>
                </a:path>
                <a:path w="4324350" h="1610360">
                  <a:moveTo>
                    <a:pt x="4324324" y="966241"/>
                  </a:moveTo>
                  <a:lnTo>
                    <a:pt x="0" y="966241"/>
                  </a:lnTo>
                </a:path>
                <a:path w="4324350" h="1610360">
                  <a:moveTo>
                    <a:pt x="4324324" y="644397"/>
                  </a:moveTo>
                  <a:lnTo>
                    <a:pt x="0" y="644397"/>
                  </a:lnTo>
                </a:path>
                <a:path w="4324350" h="1610360">
                  <a:moveTo>
                    <a:pt x="4324324" y="322198"/>
                  </a:moveTo>
                  <a:lnTo>
                    <a:pt x="0" y="322198"/>
                  </a:lnTo>
                </a:path>
                <a:path w="4324350" h="1610360">
                  <a:moveTo>
                    <a:pt x="4324324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D4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4757" y="968402"/>
              <a:ext cx="4378325" cy="1793239"/>
            </a:xfrm>
            <a:custGeom>
              <a:avLst/>
              <a:gdLst/>
              <a:ahLst/>
              <a:cxnLst/>
              <a:rect l="l" t="t" r="r" b="b"/>
              <a:pathLst>
                <a:path w="4378325" h="1793239">
                  <a:moveTo>
                    <a:pt x="54000" y="1792795"/>
                  </a:moveTo>
                  <a:lnTo>
                    <a:pt x="54000" y="1738795"/>
                  </a:lnTo>
                </a:path>
                <a:path w="4378325" h="1793239">
                  <a:moveTo>
                    <a:pt x="447116" y="1792795"/>
                  </a:moveTo>
                  <a:lnTo>
                    <a:pt x="447116" y="1738795"/>
                  </a:lnTo>
                </a:path>
                <a:path w="4378325" h="1793239">
                  <a:moveTo>
                    <a:pt x="840244" y="1792795"/>
                  </a:moveTo>
                  <a:lnTo>
                    <a:pt x="840244" y="1738795"/>
                  </a:lnTo>
                </a:path>
                <a:path w="4378325" h="1793239">
                  <a:moveTo>
                    <a:pt x="1233360" y="1792795"/>
                  </a:moveTo>
                  <a:lnTo>
                    <a:pt x="1233360" y="1738795"/>
                  </a:lnTo>
                </a:path>
                <a:path w="4378325" h="1793239">
                  <a:moveTo>
                    <a:pt x="1626476" y="1792795"/>
                  </a:moveTo>
                  <a:lnTo>
                    <a:pt x="1626476" y="1738795"/>
                  </a:lnTo>
                </a:path>
                <a:path w="4378325" h="1793239">
                  <a:moveTo>
                    <a:pt x="2019236" y="1792795"/>
                  </a:moveTo>
                  <a:lnTo>
                    <a:pt x="2019236" y="1738795"/>
                  </a:lnTo>
                </a:path>
                <a:path w="4378325" h="1793239">
                  <a:moveTo>
                    <a:pt x="2412365" y="1792795"/>
                  </a:moveTo>
                  <a:lnTo>
                    <a:pt x="2412365" y="1738795"/>
                  </a:lnTo>
                </a:path>
                <a:path w="4378325" h="1793239">
                  <a:moveTo>
                    <a:pt x="2805480" y="1792795"/>
                  </a:moveTo>
                  <a:lnTo>
                    <a:pt x="2805480" y="1738795"/>
                  </a:lnTo>
                </a:path>
                <a:path w="4378325" h="1793239">
                  <a:moveTo>
                    <a:pt x="3198596" y="1792795"/>
                  </a:moveTo>
                  <a:lnTo>
                    <a:pt x="3198596" y="1738795"/>
                  </a:lnTo>
                </a:path>
                <a:path w="4378325" h="1793239">
                  <a:moveTo>
                    <a:pt x="3591725" y="1792795"/>
                  </a:moveTo>
                  <a:lnTo>
                    <a:pt x="3591725" y="1738795"/>
                  </a:lnTo>
                </a:path>
                <a:path w="4378325" h="1793239">
                  <a:moveTo>
                    <a:pt x="3984840" y="1792795"/>
                  </a:moveTo>
                  <a:lnTo>
                    <a:pt x="3984840" y="1738795"/>
                  </a:lnTo>
                </a:path>
                <a:path w="4378325" h="1793239">
                  <a:moveTo>
                    <a:pt x="4378325" y="1792795"/>
                  </a:moveTo>
                  <a:lnTo>
                    <a:pt x="4378325" y="1738795"/>
                  </a:lnTo>
                </a:path>
                <a:path w="4378325" h="1793239">
                  <a:moveTo>
                    <a:pt x="54000" y="1738795"/>
                  </a:moveTo>
                  <a:lnTo>
                    <a:pt x="4378325" y="1738795"/>
                  </a:lnTo>
                </a:path>
                <a:path w="4378325" h="1793239">
                  <a:moveTo>
                    <a:pt x="0" y="1738795"/>
                  </a:moveTo>
                  <a:lnTo>
                    <a:pt x="54000" y="1738795"/>
                  </a:lnTo>
                </a:path>
                <a:path w="4378325" h="1793239">
                  <a:moveTo>
                    <a:pt x="0" y="1416964"/>
                  </a:moveTo>
                  <a:lnTo>
                    <a:pt x="54000" y="1416964"/>
                  </a:lnTo>
                </a:path>
                <a:path w="4378325" h="1793239">
                  <a:moveTo>
                    <a:pt x="0" y="1095120"/>
                  </a:moveTo>
                  <a:lnTo>
                    <a:pt x="54000" y="1095120"/>
                  </a:lnTo>
                </a:path>
                <a:path w="4378325" h="1793239">
                  <a:moveTo>
                    <a:pt x="0" y="773277"/>
                  </a:moveTo>
                  <a:lnTo>
                    <a:pt x="54000" y="773277"/>
                  </a:lnTo>
                </a:path>
                <a:path w="4378325" h="1793239">
                  <a:moveTo>
                    <a:pt x="0" y="451078"/>
                  </a:moveTo>
                  <a:lnTo>
                    <a:pt x="54000" y="451078"/>
                  </a:lnTo>
                </a:path>
                <a:path w="4378325" h="1793239">
                  <a:moveTo>
                    <a:pt x="0" y="128879"/>
                  </a:moveTo>
                  <a:lnTo>
                    <a:pt x="54000" y="128879"/>
                  </a:lnTo>
                </a:path>
                <a:path w="4378325" h="1793239">
                  <a:moveTo>
                    <a:pt x="54000" y="1738795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7165" y="1149479"/>
              <a:ext cx="4007154" cy="133847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26477" y="2594434"/>
            <a:ext cx="2343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0.7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0803" y="2272641"/>
            <a:ext cx="31940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0.75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6477" y="1950480"/>
            <a:ext cx="2343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0.8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0803" y="1628687"/>
            <a:ext cx="31940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0.85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6477" y="1306527"/>
            <a:ext cx="2343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0.9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0803" y="984366"/>
            <a:ext cx="31940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0.95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224760" y="3519718"/>
            <a:ext cx="1176655" cy="68580"/>
            <a:chOff x="2224760" y="3519718"/>
            <a:chExt cx="1176655" cy="68580"/>
          </a:xfrm>
        </p:grpSpPr>
        <p:sp>
          <p:nvSpPr>
            <p:cNvPr id="19" name="object 19"/>
            <p:cNvSpPr/>
            <p:nvPr/>
          </p:nvSpPr>
          <p:spPr>
            <a:xfrm>
              <a:off x="2240635" y="3553919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0" y="0"/>
                  </a:moveTo>
                  <a:lnTo>
                    <a:pt x="288010" y="0"/>
                  </a:lnTo>
                </a:path>
              </a:pathLst>
            </a:custGeom>
            <a:ln w="31677">
              <a:solidFill>
                <a:srgbClr val="0C3A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0439" y="3519718"/>
              <a:ext cx="68402" cy="6840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7440" y="3553919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0" y="0"/>
                  </a:moveTo>
                  <a:lnTo>
                    <a:pt x="287997" y="0"/>
                  </a:lnTo>
                </a:path>
              </a:pathLst>
            </a:custGeom>
            <a:ln w="31677">
              <a:solidFill>
                <a:srgbClr val="2A9E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7245" y="3519718"/>
              <a:ext cx="68389" cy="6840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551760" y="3464803"/>
            <a:ext cx="4870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Train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AUC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08870" y="3464803"/>
            <a:ext cx="3917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Val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AUC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4363" y="2670341"/>
            <a:ext cx="4117340" cy="53530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320040" algn="l"/>
                <a:tab pos="713105" algn="l"/>
                <a:tab pos="1106170" algn="l"/>
                <a:tab pos="1499235" algn="l"/>
                <a:tab pos="1892300" algn="l"/>
                <a:tab pos="2285365" algn="l"/>
                <a:tab pos="2678430" algn="l"/>
                <a:tab pos="3071495" algn="l"/>
                <a:tab pos="3464560" algn="l"/>
                <a:tab pos="3857625" algn="l"/>
              </a:tabLst>
            </a:pP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100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200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300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400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500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600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700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800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900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999</a:t>
            </a:r>
            <a:endParaRPr sz="1200">
              <a:latin typeface="Arial MT"/>
              <a:cs typeface="Arial MT"/>
            </a:endParaRPr>
          </a:p>
          <a:p>
            <a:pPr marL="1385570">
              <a:lnSpc>
                <a:spcPct val="100000"/>
              </a:lnSpc>
              <a:spcBef>
                <a:spcPts val="625"/>
              </a:spcBef>
            </a:pPr>
            <a:r>
              <a:rPr sz="1000" spc="-10" dirty="0">
                <a:latin typeface="Arial MT"/>
                <a:cs typeface="Arial MT"/>
              </a:rPr>
              <a:t>Boosting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Round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2992" y="1816600"/>
            <a:ext cx="167640" cy="288925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latin typeface="Arial MT"/>
                <a:cs typeface="Arial MT"/>
              </a:rPr>
              <a:t>AUC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32284" y="830518"/>
            <a:ext cx="3129280" cy="2945765"/>
            <a:chOff x="5732284" y="830518"/>
            <a:chExt cx="3129280" cy="294576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2284" y="830518"/>
              <a:ext cx="3128759" cy="294552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851804" y="914046"/>
              <a:ext cx="2926080" cy="2743200"/>
            </a:xfrm>
            <a:custGeom>
              <a:avLst/>
              <a:gdLst/>
              <a:ahLst/>
              <a:cxnLst/>
              <a:rect l="l" t="t" r="r" b="b"/>
              <a:pathLst>
                <a:path w="2926079" h="2743200">
                  <a:moveTo>
                    <a:pt x="2925711" y="0"/>
                  </a:moveTo>
                  <a:lnTo>
                    <a:pt x="0" y="0"/>
                  </a:lnTo>
                  <a:lnTo>
                    <a:pt x="0" y="2742831"/>
                  </a:lnTo>
                  <a:lnTo>
                    <a:pt x="1463039" y="2742831"/>
                  </a:lnTo>
                  <a:lnTo>
                    <a:pt x="2925711" y="2742831"/>
                  </a:lnTo>
                  <a:lnTo>
                    <a:pt x="292571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30544" y="1027711"/>
            <a:ext cx="1125220" cy="175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C3A6D"/>
                </a:solidFill>
                <a:latin typeface="Calibri"/>
                <a:cs typeface="Calibri"/>
              </a:rPr>
              <a:t>Final</a:t>
            </a:r>
            <a:r>
              <a:rPr sz="1100" b="1" spc="-2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100" b="1" spc="-25" dirty="0">
                <a:solidFill>
                  <a:srgbClr val="0C3A6D"/>
                </a:solidFill>
                <a:latin typeface="Calibri"/>
                <a:cs typeface="Calibri"/>
              </a:rPr>
              <a:t>Test</a:t>
            </a:r>
            <a:r>
              <a:rPr sz="1100" b="1" spc="-2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C3A6D"/>
                </a:solidFill>
                <a:latin typeface="Calibri"/>
                <a:cs typeface="Calibri"/>
              </a:rPr>
              <a:t>Metrics</a:t>
            </a:r>
            <a:endParaRPr sz="1100">
              <a:latin typeface="Calibri"/>
              <a:cs typeface="Calibri"/>
            </a:endParaRPr>
          </a:p>
          <a:p>
            <a:pPr marL="12700" marR="349250">
              <a:lnSpc>
                <a:spcPct val="186600"/>
              </a:lnSpc>
              <a:spcBef>
                <a:spcPts val="170"/>
              </a:spcBef>
            </a:pP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Rows</a:t>
            </a:r>
            <a:r>
              <a:rPr sz="900" spc="-3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·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Features:</a:t>
            </a:r>
            <a:r>
              <a:rPr sz="90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Device:</a:t>
            </a:r>
            <a:r>
              <a:rPr sz="90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Objective:</a:t>
            </a:r>
            <a:endParaRPr sz="900">
              <a:latin typeface="Calibri"/>
              <a:cs typeface="Calibri"/>
            </a:endParaRPr>
          </a:p>
          <a:p>
            <a:pPr marL="12700" marR="325120">
              <a:lnSpc>
                <a:spcPts val="2020"/>
              </a:lnSpc>
              <a:spcBef>
                <a:spcPts val="219"/>
              </a:spcBef>
            </a:pP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Train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AUC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(final):</a:t>
            </a:r>
            <a:r>
              <a:rPr sz="90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Val</a:t>
            </a:r>
            <a:r>
              <a:rPr sz="90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AUC: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900" spc="-25" dirty="0">
                <a:solidFill>
                  <a:srgbClr val="3B6377"/>
                </a:solidFill>
                <a:latin typeface="Calibri"/>
                <a:cs typeface="Calibri"/>
              </a:rPr>
              <a:t>Test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 AUC: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96859" y="1335508"/>
            <a:ext cx="758190" cy="1443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99,310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/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 12,301</a:t>
            </a:r>
            <a:endParaRPr sz="900">
              <a:latin typeface="Calibri"/>
              <a:cs typeface="Calibri"/>
            </a:endParaRPr>
          </a:p>
          <a:p>
            <a:pPr marL="245745">
              <a:lnSpc>
                <a:spcPct val="100000"/>
              </a:lnSpc>
              <a:spcBef>
                <a:spcPts val="935"/>
              </a:spcBef>
            </a:pP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CUDA</a:t>
            </a:r>
            <a:r>
              <a:rPr sz="90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192D3A"/>
                </a:solidFill>
                <a:latin typeface="Calibri"/>
                <a:cs typeface="Calibri"/>
              </a:rPr>
              <a:t>GPU</a:t>
            </a:r>
            <a:endParaRPr sz="9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935"/>
              </a:spcBef>
            </a:pP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Binary</a:t>
            </a:r>
            <a:r>
              <a:rPr sz="90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Logistic</a:t>
            </a:r>
            <a:endParaRPr sz="9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935"/>
              </a:spcBef>
            </a:pP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0.9356</a:t>
            </a:r>
            <a:endParaRPr sz="9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940"/>
              </a:spcBef>
            </a:pP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0.9319</a:t>
            </a:r>
            <a:endParaRPr sz="9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935"/>
              </a:spcBef>
            </a:pPr>
            <a:r>
              <a:rPr sz="900" b="1" spc="-10" dirty="0">
                <a:solidFill>
                  <a:srgbClr val="2A9EA8"/>
                </a:solidFill>
                <a:latin typeface="Calibri"/>
                <a:cs typeface="Calibri"/>
              </a:rPr>
              <a:t>0.8579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30544" y="2871624"/>
            <a:ext cx="518795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PR-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AUC: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86600"/>
              </a:lnSpc>
            </a:pP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Threshold:</a:t>
            </a:r>
            <a:r>
              <a:rPr sz="90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Macro</a:t>
            </a:r>
            <a:r>
              <a:rPr sz="900" spc="-3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B6377"/>
                </a:solidFill>
                <a:latin typeface="Calibri"/>
                <a:cs typeface="Calibri"/>
              </a:rPr>
              <a:t>F1: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69504" y="2871624"/>
            <a:ext cx="785495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0.8438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900" dirty="0">
                <a:solidFill>
                  <a:srgbClr val="192D3A"/>
                </a:solidFill>
                <a:latin typeface="Calibri"/>
                <a:cs typeface="Calibri"/>
              </a:rPr>
              <a:t>0.51</a:t>
            </a:r>
            <a:r>
              <a:rPr sz="90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192D3A"/>
                </a:solidFill>
                <a:latin typeface="Calibri"/>
                <a:cs typeface="Calibri"/>
              </a:rPr>
              <a:t>(optimised)</a:t>
            </a:r>
            <a:endParaRPr sz="900">
              <a:latin typeface="Calibri"/>
              <a:cs typeface="Calibri"/>
            </a:endParaRPr>
          </a:p>
          <a:p>
            <a:pPr marL="451484">
              <a:lnSpc>
                <a:spcPct val="100000"/>
              </a:lnSpc>
              <a:spcBef>
                <a:spcPts val="935"/>
              </a:spcBef>
            </a:pPr>
            <a:r>
              <a:rPr sz="900" b="1" spc="-10" dirty="0">
                <a:solidFill>
                  <a:srgbClr val="2A9EA8"/>
                </a:solidFill>
                <a:latin typeface="Calibri"/>
                <a:cs typeface="Calibri"/>
              </a:rPr>
              <a:t>0.8427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2696" y="3825991"/>
            <a:ext cx="15925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C3A6D"/>
                </a:solidFill>
                <a:latin typeface="Calibri"/>
                <a:cs typeface="Calibri"/>
              </a:rPr>
              <a:t>Confusion</a:t>
            </a:r>
            <a:r>
              <a:rPr sz="1100" b="1" spc="-3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C3A6D"/>
                </a:solidFill>
                <a:latin typeface="Calibri"/>
                <a:cs typeface="Calibri"/>
              </a:rPr>
              <a:t>Matrix</a:t>
            </a:r>
            <a:r>
              <a:rPr sz="1100" b="1" spc="-3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0C3A6D"/>
                </a:solidFill>
                <a:latin typeface="Calibri"/>
                <a:cs typeface="Calibri"/>
              </a:rPr>
              <a:t>(Test</a:t>
            </a:r>
            <a:r>
              <a:rPr sz="1100" b="1" spc="-2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0C3A6D"/>
                </a:solidFill>
                <a:latin typeface="Calibri"/>
                <a:cs typeface="Calibri"/>
              </a:rPr>
              <a:t>Set)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362901" y="4066223"/>
          <a:ext cx="5212080" cy="1042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Pred</a:t>
                      </a:r>
                      <a:r>
                        <a:rPr sz="105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Benign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Pred</a:t>
                      </a:r>
                      <a:r>
                        <a:rPr sz="105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Pathogenic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r>
                        <a:rPr sz="105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Benign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3B6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50" b="1" spc="-10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8,651</a:t>
                      </a:r>
                      <a:r>
                        <a:rPr sz="1050" b="1" spc="-30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TN</a:t>
                      </a:r>
                      <a:r>
                        <a:rPr sz="1050" b="1" spc="-25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2D9D67"/>
                          </a:solidFill>
                          <a:latin typeface="Yu Gothic"/>
                          <a:cs typeface="Yu Gothic"/>
                        </a:rPr>
                        <a:t>✓</a:t>
                      </a:r>
                      <a:endParaRPr sz="1050">
                        <a:latin typeface="Yu Gothic"/>
                        <a:cs typeface="Yu Gothic"/>
                      </a:endParaRPr>
                    </a:p>
                  </a:txBody>
                  <a:tcPr marL="0" marR="0" marT="85725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D3EF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50" spc="-1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1,403</a:t>
                      </a:r>
                      <a:r>
                        <a:rPr sz="1050" spc="-4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FP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FC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r>
                        <a:rPr sz="105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Pathogenic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3B6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50" spc="-1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1,682</a:t>
                      </a:r>
                      <a:r>
                        <a:rPr sz="1050" spc="-4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FN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050" b="1" spc="-10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8,126</a:t>
                      </a:r>
                      <a:r>
                        <a:rPr sz="1050" b="1" spc="-35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TP</a:t>
                      </a:r>
                      <a:r>
                        <a:rPr sz="1050" b="1" spc="-25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2D9D67"/>
                          </a:solidFill>
                          <a:latin typeface="Yu Gothic"/>
                          <a:cs typeface="Yu Gothic"/>
                        </a:rPr>
                        <a:t>✓</a:t>
                      </a:r>
                      <a:endParaRPr sz="1050">
                        <a:latin typeface="Yu Gothic"/>
                        <a:cs typeface="Yu Gothic"/>
                      </a:endParaRPr>
                    </a:p>
                  </a:txBody>
                  <a:tcPr marL="0" marR="0" marT="85725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D3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object 36"/>
          <p:cNvSpPr/>
          <p:nvPr/>
        </p:nvSpPr>
        <p:spPr>
          <a:xfrm>
            <a:off x="5851804" y="3794762"/>
            <a:ext cx="2926080" cy="1143000"/>
          </a:xfrm>
          <a:custGeom>
            <a:avLst/>
            <a:gdLst/>
            <a:ahLst/>
            <a:cxnLst/>
            <a:rect l="l" t="t" r="r" b="b"/>
            <a:pathLst>
              <a:path w="2926079" h="1143000">
                <a:moveTo>
                  <a:pt x="2925711" y="0"/>
                </a:moveTo>
                <a:lnTo>
                  <a:pt x="0" y="0"/>
                </a:lnTo>
                <a:lnTo>
                  <a:pt x="0" y="1142644"/>
                </a:lnTo>
                <a:lnTo>
                  <a:pt x="1463039" y="1142644"/>
                </a:lnTo>
                <a:lnTo>
                  <a:pt x="2925711" y="1142644"/>
                </a:lnTo>
                <a:lnTo>
                  <a:pt x="2925711" y="0"/>
                </a:lnTo>
                <a:close/>
              </a:path>
            </a:pathLst>
          </a:custGeom>
          <a:solidFill>
            <a:srgbClr val="E9F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930544" y="3888271"/>
            <a:ext cx="2056130" cy="814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0C3A6D"/>
                </a:solidFill>
                <a:latin typeface="Calibri"/>
                <a:cs typeface="Calibri"/>
              </a:rPr>
              <a:t>Classification </a:t>
            </a:r>
            <a:r>
              <a:rPr sz="1000" b="1" dirty="0">
                <a:solidFill>
                  <a:srgbClr val="0C3A6D"/>
                </a:solidFill>
                <a:latin typeface="Calibri"/>
                <a:cs typeface="Calibri"/>
              </a:rPr>
              <a:t>Report </a:t>
            </a:r>
            <a:r>
              <a:rPr sz="1000" b="1" spc="-10" dirty="0">
                <a:solidFill>
                  <a:srgbClr val="0C3A6D"/>
                </a:solidFill>
                <a:latin typeface="Calibri"/>
                <a:cs typeface="Calibri"/>
              </a:rPr>
              <a:t>(Test)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950" b="1" spc="-10" dirty="0">
                <a:solidFill>
                  <a:srgbClr val="3B6377"/>
                </a:solidFill>
                <a:latin typeface="Calibri"/>
                <a:cs typeface="Calibri"/>
              </a:rPr>
              <a:t>Benign:</a:t>
            </a:r>
            <a:r>
              <a:rPr sz="950" b="1" dirty="0">
                <a:solidFill>
                  <a:srgbClr val="3B6377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P=0.85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R=0.86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F1=0.85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950" b="1" spc="-10" dirty="0">
                <a:solidFill>
                  <a:srgbClr val="3B6377"/>
                </a:solidFill>
                <a:latin typeface="Calibri"/>
                <a:cs typeface="Calibri"/>
              </a:rPr>
              <a:t>Pathogenic:</a:t>
            </a:r>
            <a:r>
              <a:rPr sz="950" b="1" dirty="0">
                <a:solidFill>
                  <a:srgbClr val="3B6377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P=0.84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R=0.83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F1=0.84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36C416-0FF8-1133-1CD5-BBA28AAB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311D008F-2A2C-69CC-88D3-9D716C9E1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6786"/>
            <a:ext cx="4572000" cy="4836278"/>
          </a:xfrm>
          <a:prstGeom prst="rect">
            <a:avLst/>
          </a:prstGeom>
        </p:spPr>
      </p:pic>
      <p:sp>
        <p:nvSpPr>
          <p:cNvPr id="42" name="object 40">
            <a:extLst>
              <a:ext uri="{FF2B5EF4-FFF2-40B4-BE49-F238E27FC236}">
                <a16:creationId xmlns:a16="http://schemas.microsoft.com/office/drawing/2014/main" id="{215FE023-7043-A2F8-C956-CE42E345868E}"/>
              </a:ext>
            </a:extLst>
          </p:cNvPr>
          <p:cNvSpPr txBox="1"/>
          <p:nvPr/>
        </p:nvSpPr>
        <p:spPr>
          <a:xfrm>
            <a:off x="5257800" y="1889125"/>
            <a:ext cx="38100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780"/>
              </a:spcBef>
            </a:pPr>
            <a:r>
              <a:rPr lang="en-US" sz="1400" dirty="0" err="1"/>
              <a:t>XGBoost</a:t>
            </a:r>
            <a:r>
              <a:rPr lang="en-US" sz="1400" dirty="0"/>
              <a:t> training achieved stable convergence across 1,000 boosting rounds, reaching validation AUC above 0.93 before final evaluation on held-out chromosome-aware test data.</a:t>
            </a: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5110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404" y="182513"/>
            <a:ext cx="8686800" cy="731520"/>
            <a:chOff x="365404" y="182513"/>
            <a:chExt cx="8686800" cy="73152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9" y="182513"/>
              <a:ext cx="731164" cy="7311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5404" y="62136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DNABERT-</a:t>
            </a:r>
            <a:r>
              <a:rPr dirty="0"/>
              <a:t>2</a:t>
            </a:r>
            <a:r>
              <a:rPr spc="-2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spc="-40" dirty="0"/>
              <a:t>Fine-</a:t>
            </a:r>
            <a:r>
              <a:rPr spc="-10" dirty="0"/>
              <a:t>Tuning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10263" y="728537"/>
            <a:ext cx="338582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zhihan1996/DNABERT-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2-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117M</a:t>
            </a:r>
            <a:r>
              <a:rPr sz="950" spc="19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2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15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epochs</a:t>
            </a:r>
            <a:r>
              <a:rPr sz="950" spc="204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19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RTX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4050</a:t>
            </a:r>
            <a:r>
              <a:rPr sz="950" spc="204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19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AMP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FP16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5759" y="914402"/>
            <a:ext cx="5303520" cy="2743200"/>
            <a:chOff x="365759" y="914402"/>
            <a:chExt cx="5303520" cy="2743200"/>
          </a:xfrm>
        </p:grpSpPr>
        <p:sp>
          <p:nvSpPr>
            <p:cNvPr id="8" name="object 8"/>
            <p:cNvSpPr/>
            <p:nvPr/>
          </p:nvSpPr>
          <p:spPr>
            <a:xfrm>
              <a:off x="365759" y="914402"/>
              <a:ext cx="5303520" cy="2743200"/>
            </a:xfrm>
            <a:custGeom>
              <a:avLst/>
              <a:gdLst/>
              <a:ahLst/>
              <a:cxnLst/>
              <a:rect l="l" t="t" r="r" b="b"/>
              <a:pathLst>
                <a:path w="5303520" h="2743200">
                  <a:moveTo>
                    <a:pt x="5303164" y="0"/>
                  </a:moveTo>
                  <a:lnTo>
                    <a:pt x="0" y="0"/>
                  </a:lnTo>
                  <a:lnTo>
                    <a:pt x="0" y="2742844"/>
                  </a:lnTo>
                  <a:lnTo>
                    <a:pt x="2651760" y="2742844"/>
                  </a:lnTo>
                  <a:lnTo>
                    <a:pt x="5303164" y="2742844"/>
                  </a:lnTo>
                  <a:lnTo>
                    <a:pt x="5303164" y="0"/>
                  </a:lnTo>
                  <a:close/>
                </a:path>
              </a:pathLst>
            </a:custGeom>
            <a:solidFill>
              <a:srgbClr val="EF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7161" y="1097282"/>
              <a:ext cx="4705985" cy="1610360"/>
            </a:xfrm>
            <a:custGeom>
              <a:avLst/>
              <a:gdLst/>
              <a:ahLst/>
              <a:cxnLst/>
              <a:rect l="l" t="t" r="r" b="b"/>
              <a:pathLst>
                <a:path w="4705985" h="1610360">
                  <a:moveTo>
                    <a:pt x="4705553" y="1609915"/>
                  </a:moveTo>
                  <a:lnTo>
                    <a:pt x="0" y="1609915"/>
                  </a:lnTo>
                </a:path>
                <a:path w="4705985" h="1610360">
                  <a:moveTo>
                    <a:pt x="4705553" y="1287716"/>
                  </a:moveTo>
                  <a:lnTo>
                    <a:pt x="0" y="1287716"/>
                  </a:lnTo>
                </a:path>
                <a:path w="4705985" h="1610360">
                  <a:moveTo>
                    <a:pt x="4705553" y="966241"/>
                  </a:moveTo>
                  <a:lnTo>
                    <a:pt x="0" y="966241"/>
                  </a:lnTo>
                </a:path>
                <a:path w="4705985" h="1610360">
                  <a:moveTo>
                    <a:pt x="4705553" y="644042"/>
                  </a:moveTo>
                  <a:lnTo>
                    <a:pt x="0" y="644042"/>
                  </a:lnTo>
                </a:path>
                <a:path w="4705985" h="1610360">
                  <a:moveTo>
                    <a:pt x="4705553" y="322198"/>
                  </a:moveTo>
                  <a:lnTo>
                    <a:pt x="0" y="322198"/>
                  </a:lnTo>
                </a:path>
                <a:path w="4705985" h="1610360">
                  <a:moveTo>
                    <a:pt x="4705553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D4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3160" y="968758"/>
              <a:ext cx="4759960" cy="1792605"/>
            </a:xfrm>
            <a:custGeom>
              <a:avLst/>
              <a:gdLst/>
              <a:ahLst/>
              <a:cxnLst/>
              <a:rect l="l" t="t" r="r" b="b"/>
              <a:pathLst>
                <a:path w="4759960" h="1792605">
                  <a:moveTo>
                    <a:pt x="54000" y="1792439"/>
                  </a:moveTo>
                  <a:lnTo>
                    <a:pt x="54000" y="1738439"/>
                  </a:lnTo>
                </a:path>
                <a:path w="4759960" h="1792605">
                  <a:moveTo>
                    <a:pt x="367563" y="1792439"/>
                  </a:moveTo>
                  <a:lnTo>
                    <a:pt x="367563" y="1738439"/>
                  </a:lnTo>
                </a:path>
                <a:path w="4759960" h="1792605">
                  <a:moveTo>
                    <a:pt x="681482" y="1792439"/>
                  </a:moveTo>
                  <a:lnTo>
                    <a:pt x="681482" y="1738439"/>
                  </a:lnTo>
                </a:path>
                <a:path w="4759960" h="1792605">
                  <a:moveTo>
                    <a:pt x="995045" y="1792439"/>
                  </a:moveTo>
                  <a:lnTo>
                    <a:pt x="995045" y="1738439"/>
                  </a:lnTo>
                </a:path>
                <a:path w="4759960" h="1792605">
                  <a:moveTo>
                    <a:pt x="1308963" y="1792439"/>
                  </a:moveTo>
                  <a:lnTo>
                    <a:pt x="1308963" y="1738439"/>
                  </a:lnTo>
                </a:path>
                <a:path w="4759960" h="1792605">
                  <a:moveTo>
                    <a:pt x="1622513" y="1792439"/>
                  </a:moveTo>
                  <a:lnTo>
                    <a:pt x="1622513" y="1738439"/>
                  </a:lnTo>
                </a:path>
                <a:path w="4759960" h="1792605">
                  <a:moveTo>
                    <a:pt x="1936445" y="1792439"/>
                  </a:moveTo>
                  <a:lnTo>
                    <a:pt x="1936445" y="1738439"/>
                  </a:lnTo>
                </a:path>
                <a:path w="4759960" h="1792605">
                  <a:moveTo>
                    <a:pt x="2249639" y="1792439"/>
                  </a:moveTo>
                  <a:lnTo>
                    <a:pt x="2249639" y="1738439"/>
                  </a:lnTo>
                </a:path>
                <a:path w="4759960" h="1792605">
                  <a:moveTo>
                    <a:pt x="2563558" y="1792439"/>
                  </a:moveTo>
                  <a:lnTo>
                    <a:pt x="2563558" y="1738439"/>
                  </a:lnTo>
                </a:path>
                <a:path w="4759960" h="1792605">
                  <a:moveTo>
                    <a:pt x="2877121" y="1792439"/>
                  </a:moveTo>
                  <a:lnTo>
                    <a:pt x="2877121" y="1738439"/>
                  </a:lnTo>
                </a:path>
                <a:path w="4759960" h="1792605">
                  <a:moveTo>
                    <a:pt x="3191040" y="1792439"/>
                  </a:moveTo>
                  <a:lnTo>
                    <a:pt x="3191040" y="1738439"/>
                  </a:lnTo>
                </a:path>
                <a:path w="4759960" h="1792605">
                  <a:moveTo>
                    <a:pt x="3504603" y="1792439"/>
                  </a:moveTo>
                  <a:lnTo>
                    <a:pt x="3504603" y="1738439"/>
                  </a:lnTo>
                </a:path>
                <a:path w="4759960" h="1792605">
                  <a:moveTo>
                    <a:pt x="3818521" y="1792439"/>
                  </a:moveTo>
                  <a:lnTo>
                    <a:pt x="3818521" y="1738439"/>
                  </a:lnTo>
                </a:path>
                <a:path w="4759960" h="1792605">
                  <a:moveTo>
                    <a:pt x="4132084" y="1792439"/>
                  </a:moveTo>
                  <a:lnTo>
                    <a:pt x="4132084" y="1738439"/>
                  </a:lnTo>
                </a:path>
                <a:path w="4759960" h="1792605">
                  <a:moveTo>
                    <a:pt x="4446003" y="1792439"/>
                  </a:moveTo>
                  <a:lnTo>
                    <a:pt x="4446003" y="1738439"/>
                  </a:lnTo>
                </a:path>
                <a:path w="4759960" h="1792605">
                  <a:moveTo>
                    <a:pt x="4759553" y="1792439"/>
                  </a:moveTo>
                  <a:lnTo>
                    <a:pt x="4759553" y="1738439"/>
                  </a:lnTo>
                </a:path>
                <a:path w="4759960" h="1792605">
                  <a:moveTo>
                    <a:pt x="54000" y="1738439"/>
                  </a:moveTo>
                  <a:lnTo>
                    <a:pt x="4759553" y="1738439"/>
                  </a:lnTo>
                </a:path>
                <a:path w="4759960" h="1792605">
                  <a:moveTo>
                    <a:pt x="0" y="1738439"/>
                  </a:moveTo>
                  <a:lnTo>
                    <a:pt x="54000" y="1738439"/>
                  </a:lnTo>
                </a:path>
                <a:path w="4759960" h="1792605">
                  <a:moveTo>
                    <a:pt x="0" y="1416240"/>
                  </a:moveTo>
                  <a:lnTo>
                    <a:pt x="54000" y="1416240"/>
                  </a:lnTo>
                </a:path>
                <a:path w="4759960" h="1792605">
                  <a:moveTo>
                    <a:pt x="0" y="1094765"/>
                  </a:moveTo>
                  <a:lnTo>
                    <a:pt x="54000" y="1094765"/>
                  </a:lnTo>
                </a:path>
                <a:path w="4759960" h="1792605">
                  <a:moveTo>
                    <a:pt x="0" y="772566"/>
                  </a:moveTo>
                  <a:lnTo>
                    <a:pt x="54000" y="772566"/>
                  </a:lnTo>
                </a:path>
                <a:path w="4759960" h="1792605">
                  <a:moveTo>
                    <a:pt x="0" y="450722"/>
                  </a:moveTo>
                  <a:lnTo>
                    <a:pt x="54000" y="450722"/>
                  </a:lnTo>
                </a:path>
                <a:path w="4759960" h="1792605">
                  <a:moveTo>
                    <a:pt x="0" y="128524"/>
                  </a:moveTo>
                  <a:lnTo>
                    <a:pt x="54000" y="128524"/>
                  </a:lnTo>
                </a:path>
                <a:path w="4759960" h="1792605">
                  <a:moveTo>
                    <a:pt x="54000" y="1738439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5601" y="1329844"/>
              <a:ext cx="4468672" cy="119627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62837" y="2765414"/>
            <a:ext cx="453644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6390" algn="l"/>
                <a:tab pos="639445" algn="l"/>
                <a:tab pos="953769" algn="l"/>
                <a:tab pos="1267460" algn="l"/>
                <a:tab pos="1581150" algn="l"/>
                <a:tab pos="1894839" algn="l"/>
                <a:tab pos="2208530" algn="l"/>
                <a:tab pos="2522220" algn="l"/>
                <a:tab pos="2793365" algn="l"/>
                <a:tab pos="3107055" algn="l"/>
                <a:tab pos="3420745" algn="l"/>
                <a:tab pos="3734435" algn="l"/>
                <a:tab pos="4048125" algn="l"/>
                <a:tab pos="4361815" algn="l"/>
              </a:tabLst>
            </a:pP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1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2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3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4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5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6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7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8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9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10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11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12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13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14</a:t>
            </a:r>
            <a:r>
              <a:rPr sz="1200" dirty="0">
                <a:solidFill>
                  <a:srgbClr val="63738A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231" y="2594434"/>
            <a:ext cx="31940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0.65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4906" y="2272286"/>
            <a:ext cx="2343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0.7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9231" y="1950480"/>
            <a:ext cx="31940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0.75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4906" y="1628332"/>
            <a:ext cx="2343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0.8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9231" y="1306527"/>
            <a:ext cx="31940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0.85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4906" y="984366"/>
            <a:ext cx="2343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0.9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63000" y="3519718"/>
            <a:ext cx="920115" cy="68580"/>
            <a:chOff x="2363000" y="3519718"/>
            <a:chExt cx="920115" cy="68580"/>
          </a:xfrm>
        </p:grpSpPr>
        <p:sp>
          <p:nvSpPr>
            <p:cNvPr id="20" name="object 20"/>
            <p:cNvSpPr/>
            <p:nvPr/>
          </p:nvSpPr>
          <p:spPr>
            <a:xfrm>
              <a:off x="2378875" y="3553919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0" y="0"/>
                  </a:moveTo>
                  <a:lnTo>
                    <a:pt x="288010" y="0"/>
                  </a:lnTo>
                </a:path>
              </a:pathLst>
            </a:custGeom>
            <a:ln w="31677">
              <a:solidFill>
                <a:srgbClr val="E77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8679" y="3519718"/>
              <a:ext cx="68402" cy="6840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979000" y="3553919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4">
                  <a:moveTo>
                    <a:pt x="0" y="0"/>
                  </a:moveTo>
                  <a:lnTo>
                    <a:pt x="287642" y="0"/>
                  </a:lnTo>
                </a:path>
              </a:pathLst>
            </a:custGeom>
            <a:ln w="31677">
              <a:solidFill>
                <a:srgbClr val="2A9E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8436" y="3519718"/>
              <a:ext cx="68402" cy="6840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689999" y="3464803"/>
            <a:ext cx="2197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libri"/>
                <a:cs typeface="Calibri"/>
              </a:rPr>
              <a:t>AUC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90074" y="3464803"/>
            <a:ext cx="3822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libri"/>
                <a:cs typeface="Calibri"/>
              </a:rPr>
              <a:t>PR-</a:t>
            </a:r>
            <a:r>
              <a:rPr sz="900" spc="-25" dirty="0">
                <a:latin typeface="Calibri"/>
                <a:cs typeface="Calibri"/>
              </a:rPr>
              <a:t>AUC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32912" y="3027465"/>
            <a:ext cx="3727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Epoch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32284" y="830518"/>
            <a:ext cx="3129280" cy="2945765"/>
            <a:chOff x="5732284" y="830518"/>
            <a:chExt cx="3129280" cy="294576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2284" y="830518"/>
              <a:ext cx="3128759" cy="294552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851804" y="914046"/>
              <a:ext cx="2926080" cy="2743200"/>
            </a:xfrm>
            <a:custGeom>
              <a:avLst/>
              <a:gdLst/>
              <a:ahLst/>
              <a:cxnLst/>
              <a:rect l="l" t="t" r="r" b="b"/>
              <a:pathLst>
                <a:path w="2926079" h="2743200">
                  <a:moveTo>
                    <a:pt x="2925711" y="0"/>
                  </a:moveTo>
                  <a:lnTo>
                    <a:pt x="0" y="0"/>
                  </a:lnTo>
                  <a:lnTo>
                    <a:pt x="0" y="2742831"/>
                  </a:lnTo>
                  <a:lnTo>
                    <a:pt x="1463039" y="2742831"/>
                  </a:lnTo>
                  <a:lnTo>
                    <a:pt x="2925711" y="2742831"/>
                  </a:lnTo>
                  <a:lnTo>
                    <a:pt x="292571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30544" y="1027711"/>
            <a:ext cx="1243965" cy="2556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C3A6D"/>
                </a:solidFill>
                <a:latin typeface="Calibri"/>
                <a:cs typeface="Calibri"/>
              </a:rPr>
              <a:t>Model</a:t>
            </a:r>
            <a:r>
              <a:rPr sz="1100" b="1" spc="-3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C3A6D"/>
                </a:solidFill>
                <a:latin typeface="Calibri"/>
                <a:cs typeface="Calibri"/>
              </a:rPr>
              <a:t>Architecture</a:t>
            </a:r>
            <a:endParaRPr sz="1100">
              <a:latin typeface="Calibri"/>
              <a:cs typeface="Calibri"/>
            </a:endParaRPr>
          </a:p>
          <a:p>
            <a:pPr marL="12700" marR="487680">
              <a:lnSpc>
                <a:spcPct val="180000"/>
              </a:lnSpc>
              <a:spcBef>
                <a:spcPts val="245"/>
              </a:spcBef>
            </a:pPr>
            <a:r>
              <a:rPr sz="850" dirty="0">
                <a:solidFill>
                  <a:srgbClr val="3B6377"/>
                </a:solidFill>
                <a:latin typeface="Calibri"/>
                <a:cs typeface="Calibri"/>
              </a:rPr>
              <a:t>Base</a:t>
            </a:r>
            <a:r>
              <a:rPr sz="850" spc="-4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Model:</a:t>
            </a:r>
            <a:r>
              <a:rPr sz="85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Parameters:</a:t>
            </a:r>
            <a:r>
              <a:rPr sz="85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B6377"/>
                </a:solidFill>
                <a:latin typeface="Calibri"/>
                <a:cs typeface="Calibri"/>
              </a:rPr>
              <a:t>Hidden</a:t>
            </a:r>
            <a:r>
              <a:rPr sz="850" spc="-4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Size:</a:t>
            </a:r>
            <a:r>
              <a:rPr sz="85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3B6377"/>
                </a:solidFill>
                <a:latin typeface="Calibri"/>
                <a:cs typeface="Calibri"/>
              </a:rPr>
              <a:t>Attention</a:t>
            </a:r>
            <a:r>
              <a:rPr sz="850" spc="4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Heads:</a:t>
            </a:r>
            <a:r>
              <a:rPr sz="85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Layers:</a:t>
            </a:r>
            <a:endParaRPr sz="850">
              <a:latin typeface="Calibri"/>
              <a:cs typeface="Calibri"/>
            </a:endParaRPr>
          </a:p>
          <a:p>
            <a:pPr marL="12700" marR="559435">
              <a:lnSpc>
                <a:spcPts val="1839"/>
              </a:lnSpc>
              <a:spcBef>
                <a:spcPts val="195"/>
              </a:spcBef>
            </a:pPr>
            <a:r>
              <a:rPr sz="850" dirty="0">
                <a:solidFill>
                  <a:srgbClr val="3B6377"/>
                </a:solidFill>
                <a:latin typeface="Calibri"/>
                <a:cs typeface="Calibri"/>
              </a:rPr>
              <a:t>Max</a:t>
            </a:r>
            <a:r>
              <a:rPr sz="850" spc="-3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Length:</a:t>
            </a:r>
            <a:r>
              <a:rPr sz="85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Positional</a:t>
            </a:r>
            <a:r>
              <a:rPr sz="850" spc="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Enc.:</a:t>
            </a:r>
            <a:endParaRPr sz="850">
              <a:latin typeface="Calibri"/>
              <a:cs typeface="Calibri"/>
            </a:endParaRPr>
          </a:p>
          <a:p>
            <a:pPr marL="12700" marR="624840">
              <a:lnSpc>
                <a:spcPts val="1830"/>
              </a:lnSpc>
            </a:pP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Classification:</a:t>
            </a:r>
            <a:r>
              <a:rPr sz="85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Dropout: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850" dirty="0">
                <a:solidFill>
                  <a:srgbClr val="3B6377"/>
                </a:solidFill>
                <a:latin typeface="Calibri"/>
                <a:cs typeface="Calibri"/>
              </a:rPr>
              <a:t>AMP</a:t>
            </a:r>
            <a:r>
              <a:rPr sz="850" spc="-2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B6377"/>
                </a:solidFill>
                <a:latin typeface="Calibri"/>
                <a:cs typeface="Calibri"/>
              </a:rPr>
              <a:t>Training: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38541" y="1330466"/>
            <a:ext cx="815975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192D3A"/>
                </a:solidFill>
                <a:latin typeface="Calibri"/>
                <a:cs typeface="Calibri"/>
              </a:rPr>
              <a:t>DNABERT-</a:t>
            </a:r>
            <a:r>
              <a:rPr sz="850" dirty="0">
                <a:solidFill>
                  <a:srgbClr val="192D3A"/>
                </a:solidFill>
                <a:latin typeface="Calibri"/>
                <a:cs typeface="Calibri"/>
              </a:rPr>
              <a:t>2-</a:t>
            </a:r>
            <a:r>
              <a:rPr sz="850" spc="-20" dirty="0">
                <a:solidFill>
                  <a:srgbClr val="192D3A"/>
                </a:solidFill>
                <a:latin typeface="Calibri"/>
                <a:cs typeface="Calibri"/>
              </a:rPr>
              <a:t>117M</a:t>
            </a:r>
            <a:endParaRPr sz="85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815"/>
              </a:spcBef>
            </a:pPr>
            <a:r>
              <a:rPr sz="850" dirty="0">
                <a:solidFill>
                  <a:srgbClr val="192D3A"/>
                </a:solidFill>
                <a:latin typeface="Calibri"/>
                <a:cs typeface="Calibri"/>
              </a:rPr>
              <a:t>117</a:t>
            </a:r>
            <a:r>
              <a:rPr sz="8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2D3A"/>
                </a:solidFill>
                <a:latin typeface="Calibri"/>
                <a:cs typeface="Calibri"/>
              </a:rPr>
              <a:t>million</a:t>
            </a:r>
            <a:endParaRPr sz="850">
              <a:latin typeface="Calibri"/>
              <a:cs typeface="Calibri"/>
            </a:endParaRPr>
          </a:p>
          <a:p>
            <a:pPr marR="6985" algn="r">
              <a:lnSpc>
                <a:spcPct val="100000"/>
              </a:lnSpc>
              <a:spcBef>
                <a:spcPts val="815"/>
              </a:spcBef>
            </a:pPr>
            <a:r>
              <a:rPr sz="850" dirty="0">
                <a:solidFill>
                  <a:srgbClr val="192D3A"/>
                </a:solidFill>
                <a:latin typeface="Calibri"/>
                <a:cs typeface="Calibri"/>
              </a:rPr>
              <a:t>768</a:t>
            </a:r>
            <a:r>
              <a:rPr sz="8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2D3A"/>
                </a:solidFill>
                <a:latin typeface="Calibri"/>
                <a:cs typeface="Calibri"/>
              </a:rPr>
              <a:t>dimensions</a:t>
            </a:r>
            <a:endParaRPr sz="850">
              <a:latin typeface="Calibri"/>
              <a:cs typeface="Calibri"/>
            </a:endParaRPr>
          </a:p>
          <a:p>
            <a:pPr marR="6350" algn="r">
              <a:lnSpc>
                <a:spcPct val="100000"/>
              </a:lnSpc>
              <a:spcBef>
                <a:spcPts val="815"/>
              </a:spcBef>
            </a:pPr>
            <a:r>
              <a:rPr sz="850" spc="-25" dirty="0">
                <a:solidFill>
                  <a:srgbClr val="192D3A"/>
                </a:solidFill>
                <a:latin typeface="Calibri"/>
                <a:cs typeface="Calibri"/>
              </a:rPr>
              <a:t>12</a:t>
            </a:r>
            <a:endParaRPr sz="850">
              <a:latin typeface="Calibri"/>
              <a:cs typeface="Calibri"/>
            </a:endParaRPr>
          </a:p>
          <a:p>
            <a:pPr marL="143510" algn="just">
              <a:lnSpc>
                <a:spcPct val="100000"/>
              </a:lnSpc>
              <a:spcBef>
                <a:spcPts val="820"/>
              </a:spcBef>
            </a:pPr>
            <a:r>
              <a:rPr sz="850" dirty="0">
                <a:solidFill>
                  <a:srgbClr val="192D3A"/>
                </a:solidFill>
                <a:latin typeface="Calibri"/>
                <a:cs typeface="Calibri"/>
              </a:rPr>
              <a:t>12 </a:t>
            </a:r>
            <a:r>
              <a:rPr sz="850" spc="-10" dirty="0">
                <a:solidFill>
                  <a:srgbClr val="192D3A"/>
                </a:solidFill>
                <a:latin typeface="Calibri"/>
                <a:cs typeface="Calibri"/>
              </a:rPr>
              <a:t>transformer</a:t>
            </a:r>
            <a:endParaRPr sz="850">
              <a:latin typeface="Calibri"/>
              <a:cs typeface="Calibri"/>
            </a:endParaRPr>
          </a:p>
          <a:p>
            <a:pPr marL="100965" marR="5080" indent="222250" algn="just">
              <a:lnSpc>
                <a:spcPts val="1839"/>
              </a:lnSpc>
              <a:spcBef>
                <a:spcPts val="190"/>
              </a:spcBef>
            </a:pPr>
            <a:r>
              <a:rPr sz="850" dirty="0">
                <a:solidFill>
                  <a:srgbClr val="192D3A"/>
                </a:solidFill>
                <a:latin typeface="Calibri"/>
                <a:cs typeface="Calibri"/>
              </a:rPr>
              <a:t>128</a:t>
            </a:r>
            <a:r>
              <a:rPr sz="8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92D3A"/>
                </a:solidFill>
                <a:latin typeface="Calibri"/>
                <a:cs typeface="Calibri"/>
              </a:rPr>
              <a:t>tokens</a:t>
            </a:r>
            <a:r>
              <a:rPr sz="85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2D3A"/>
                </a:solidFill>
                <a:latin typeface="Calibri"/>
                <a:cs typeface="Calibri"/>
              </a:rPr>
              <a:t>ALiBi</a:t>
            </a:r>
            <a:r>
              <a:rPr sz="850" spc="-4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2D3A"/>
                </a:solidFill>
                <a:latin typeface="Calibri"/>
                <a:cs typeface="Calibri"/>
              </a:rPr>
              <a:t>(patched)</a:t>
            </a:r>
            <a:r>
              <a:rPr sz="85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2D3A"/>
                </a:solidFill>
                <a:latin typeface="Calibri"/>
                <a:cs typeface="Calibri"/>
              </a:rPr>
              <a:t>Linear(768</a:t>
            </a:r>
            <a:r>
              <a:rPr sz="8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2D3A"/>
                </a:solidFill>
                <a:latin typeface="Calibri"/>
                <a:cs typeface="Calibri"/>
              </a:rPr>
              <a:t>→</a:t>
            </a:r>
            <a:r>
              <a:rPr sz="850" spc="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192D3A"/>
                </a:solidFill>
                <a:latin typeface="Calibri"/>
                <a:cs typeface="Calibri"/>
              </a:rPr>
              <a:t>2)</a:t>
            </a:r>
            <a:endParaRPr sz="850">
              <a:latin typeface="Calibri"/>
              <a:cs typeface="Calibri"/>
            </a:endParaRPr>
          </a:p>
          <a:p>
            <a:pPr marR="6350" algn="r">
              <a:lnSpc>
                <a:spcPct val="100000"/>
              </a:lnSpc>
              <a:spcBef>
                <a:spcPts val="610"/>
              </a:spcBef>
            </a:pPr>
            <a:r>
              <a:rPr sz="850" spc="-25" dirty="0">
                <a:solidFill>
                  <a:srgbClr val="192D3A"/>
                </a:solidFill>
                <a:latin typeface="Calibri"/>
                <a:cs typeface="Calibri"/>
              </a:rPr>
              <a:t>0.1</a:t>
            </a:r>
            <a:endParaRPr sz="850">
              <a:latin typeface="Calibri"/>
              <a:cs typeface="Calibri"/>
            </a:endParaRPr>
          </a:p>
          <a:p>
            <a:pPr marL="207645" algn="just">
              <a:lnSpc>
                <a:spcPct val="100000"/>
              </a:lnSpc>
              <a:spcBef>
                <a:spcPts val="815"/>
              </a:spcBef>
            </a:pPr>
            <a:r>
              <a:rPr sz="850" dirty="0">
                <a:solidFill>
                  <a:srgbClr val="192D3A"/>
                </a:solidFill>
                <a:latin typeface="Calibri"/>
                <a:cs typeface="Calibri"/>
              </a:rPr>
              <a:t>FP16</a:t>
            </a:r>
            <a:r>
              <a:rPr sz="8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2D3A"/>
                </a:solidFill>
                <a:latin typeface="Calibri"/>
                <a:cs typeface="Calibri"/>
              </a:rPr>
              <a:t>enabled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5884" y="3710878"/>
            <a:ext cx="8615680" cy="1299845"/>
            <a:chOff x="245884" y="3710878"/>
            <a:chExt cx="8615680" cy="1299845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5884" y="3710878"/>
              <a:ext cx="8615159" cy="129960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65404" y="3794406"/>
              <a:ext cx="8412480" cy="1097280"/>
            </a:xfrm>
            <a:custGeom>
              <a:avLst/>
              <a:gdLst/>
              <a:ahLst/>
              <a:cxnLst/>
              <a:rect l="l" t="t" r="r" b="b"/>
              <a:pathLst>
                <a:path w="8412480" h="1097279">
                  <a:moveTo>
                    <a:pt x="8412111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4206240" y="1096911"/>
                  </a:lnTo>
                  <a:lnTo>
                    <a:pt x="8412111" y="1096911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5404" y="3794406"/>
              <a:ext cx="54610" cy="1097280"/>
            </a:xfrm>
            <a:custGeom>
              <a:avLst/>
              <a:gdLst/>
              <a:ahLst/>
              <a:cxnLst/>
              <a:rect l="l" t="t" r="r" b="b"/>
              <a:pathLst>
                <a:path w="54609" h="1097279">
                  <a:moveTo>
                    <a:pt x="54356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27355" y="1096911"/>
                  </a:lnTo>
                  <a:lnTo>
                    <a:pt x="54356" y="1096911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07225" y="3890062"/>
            <a:ext cx="7673340" cy="735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77839"/>
                </a:solidFill>
                <a:latin typeface="Calibri"/>
                <a:cs typeface="Calibri"/>
              </a:rPr>
              <a:t>Engineering</a:t>
            </a:r>
            <a:r>
              <a:rPr sz="1100" b="1" spc="-60" dirty="0">
                <a:solidFill>
                  <a:srgbClr val="E7783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E77839"/>
                </a:solidFill>
                <a:latin typeface="Calibri"/>
                <a:cs typeface="Calibri"/>
              </a:rPr>
              <a:t>Challenges</a:t>
            </a:r>
            <a:r>
              <a:rPr sz="1100" b="1" spc="-45" dirty="0">
                <a:solidFill>
                  <a:srgbClr val="E7783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E77839"/>
                </a:solidFill>
                <a:latin typeface="Calibri"/>
                <a:cs typeface="Calibri"/>
              </a:rPr>
              <a:t>Solved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844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ALiBi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positional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encoding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buffer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patch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(custom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rebuild_alibi_tensor)</a:t>
            </a:r>
            <a:r>
              <a:rPr sz="950" spc="16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r>
              <a:rPr sz="950" spc="18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HuggingFace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dynamic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module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conflicts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resolved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by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BertConfig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override</a:t>
            </a:r>
            <a:r>
              <a:rPr sz="950" spc="18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r>
              <a:rPr sz="950" spc="18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Meta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tensor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loading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fixed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via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low_cpu_mem_usage=False</a:t>
            </a:r>
            <a:r>
              <a:rPr sz="950" spc="17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r>
              <a:rPr sz="950" spc="17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Mixed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precision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AMP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training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FP16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enabled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RTX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4050</a:t>
            </a:r>
            <a:r>
              <a:rPr sz="950" spc="17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·</a:t>
            </a:r>
            <a:r>
              <a:rPr sz="950" spc="17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Tuple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output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handling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patched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for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pooled embeddings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732284" y="3647149"/>
            <a:ext cx="1062355" cy="458470"/>
            <a:chOff x="5732284" y="3647149"/>
            <a:chExt cx="1062355" cy="458470"/>
          </a:xfrm>
        </p:grpSpPr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32284" y="3647149"/>
              <a:ext cx="1062354" cy="45829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851804" y="3730677"/>
              <a:ext cx="859790" cy="255904"/>
            </a:xfrm>
            <a:custGeom>
              <a:avLst/>
              <a:gdLst/>
              <a:ahLst/>
              <a:cxnLst/>
              <a:rect l="l" t="t" r="r" b="b"/>
              <a:pathLst>
                <a:path w="859790" h="255904">
                  <a:moveTo>
                    <a:pt x="859320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429831" y="255600"/>
                  </a:lnTo>
                  <a:lnTo>
                    <a:pt x="859320" y="255600"/>
                  </a:lnTo>
                  <a:lnTo>
                    <a:pt x="859320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919736" y="3788538"/>
            <a:ext cx="7232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FFFFF"/>
                </a:solidFill>
                <a:latin typeface="Calibri"/>
                <a:cs typeface="Calibri"/>
              </a:rPr>
              <a:t>AUC:</a:t>
            </a:r>
            <a:r>
              <a:rPr sz="7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Calibri"/>
                <a:cs typeface="Calibri"/>
              </a:rPr>
              <a:t>0.8579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710756" y="3647149"/>
            <a:ext cx="1062355" cy="458470"/>
            <a:chOff x="6710756" y="3647149"/>
            <a:chExt cx="1062355" cy="458470"/>
          </a:xfrm>
        </p:grpSpPr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10756" y="3647149"/>
              <a:ext cx="1062354" cy="45829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830275" y="3730677"/>
              <a:ext cx="859790" cy="255904"/>
            </a:xfrm>
            <a:custGeom>
              <a:avLst/>
              <a:gdLst/>
              <a:ahLst/>
              <a:cxnLst/>
              <a:rect l="l" t="t" r="r" b="b"/>
              <a:pathLst>
                <a:path w="859790" h="255904">
                  <a:moveTo>
                    <a:pt x="859320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429844" y="255600"/>
                  </a:lnTo>
                  <a:lnTo>
                    <a:pt x="859320" y="255600"/>
                  </a:lnTo>
                  <a:lnTo>
                    <a:pt x="859320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951497" y="3788538"/>
            <a:ext cx="6165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7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FFFFF"/>
                </a:solidFill>
                <a:latin typeface="Calibri"/>
                <a:cs typeface="Calibri"/>
              </a:rPr>
              <a:t>Acc.:</a:t>
            </a:r>
            <a:r>
              <a:rPr sz="7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FFFFFF"/>
                </a:solidFill>
                <a:latin typeface="Calibri"/>
                <a:cs typeface="Calibri"/>
              </a:rPr>
              <a:t>84%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689240" y="3647149"/>
            <a:ext cx="1062355" cy="458470"/>
            <a:chOff x="7689240" y="3647149"/>
            <a:chExt cx="1062355" cy="458470"/>
          </a:xfrm>
        </p:grpSpPr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89240" y="3647149"/>
              <a:ext cx="1062354" cy="45829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808760" y="3730677"/>
              <a:ext cx="859790" cy="255904"/>
            </a:xfrm>
            <a:custGeom>
              <a:avLst/>
              <a:gdLst/>
              <a:ahLst/>
              <a:cxnLst/>
              <a:rect l="l" t="t" r="r" b="b"/>
              <a:pathLst>
                <a:path w="859790" h="255904">
                  <a:moveTo>
                    <a:pt x="859320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429844" y="255600"/>
                  </a:lnTo>
                  <a:lnTo>
                    <a:pt x="859320" y="255600"/>
                  </a:lnTo>
                  <a:lnTo>
                    <a:pt x="859320" y="0"/>
                  </a:lnTo>
                  <a:close/>
                </a:path>
              </a:pathLst>
            </a:custGeom>
            <a:solidFill>
              <a:srgbClr val="2D9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917015" y="3788538"/>
            <a:ext cx="64389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Calibri"/>
                <a:cs typeface="Calibri"/>
              </a:rPr>
              <a:t>PR-</a:t>
            </a:r>
            <a:r>
              <a:rPr sz="750" b="1" dirty="0">
                <a:solidFill>
                  <a:srgbClr val="FFFFFF"/>
                </a:solidFill>
                <a:latin typeface="Calibri"/>
                <a:cs typeface="Calibri"/>
              </a:rPr>
              <a:t>AUC:</a:t>
            </a:r>
            <a:r>
              <a:rPr sz="7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FFFFF"/>
                </a:solidFill>
                <a:latin typeface="Calibri"/>
                <a:cs typeface="Calibri"/>
              </a:rPr>
              <a:t>0.8438</a:t>
            </a:r>
            <a:endParaRPr sz="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EB5953-162A-7279-9919-38E4CEE29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4B9F96FD-4DEF-7E38-2D60-2D9B9415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29"/>
          <a:stretch>
            <a:fillRect/>
          </a:stretch>
        </p:blipFill>
        <p:spPr>
          <a:xfrm>
            <a:off x="381000" y="403815"/>
            <a:ext cx="5334000" cy="4276105"/>
          </a:xfrm>
          <a:prstGeom prst="rect">
            <a:avLst/>
          </a:prstGeom>
        </p:spPr>
      </p:pic>
      <p:sp>
        <p:nvSpPr>
          <p:cNvPr id="53" name="object 40">
            <a:extLst>
              <a:ext uri="{FF2B5EF4-FFF2-40B4-BE49-F238E27FC236}">
                <a16:creationId xmlns:a16="http://schemas.microsoft.com/office/drawing/2014/main" id="{FA28149F-BB6F-3D3B-6902-B3430117CCC7}"/>
              </a:ext>
            </a:extLst>
          </p:cNvPr>
          <p:cNvSpPr txBox="1"/>
          <p:nvPr/>
        </p:nvSpPr>
        <p:spPr>
          <a:xfrm>
            <a:off x="6019800" y="1889125"/>
            <a:ext cx="304800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780"/>
              </a:spcBef>
            </a:pPr>
            <a:r>
              <a:rPr lang="en-US" sz="1400" dirty="0"/>
              <a:t>DNABERT-2 fine-tuning showed steady performance improvement across 15 epochs, with both ROC-AUC and PR-AUC increasing consistently during mixed-precision GPU training.</a:t>
            </a: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7621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8C7297-1EC0-7E0E-1836-BF3CF4B9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49">
            <a:extLst>
              <a:ext uri="{FF2B5EF4-FFF2-40B4-BE49-F238E27FC236}">
                <a16:creationId xmlns:a16="http://schemas.microsoft.com/office/drawing/2014/main" id="{9E126499-F658-A5E0-3746-6CF7187A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696" y="223458"/>
            <a:ext cx="5328285" cy="307777"/>
          </a:xfrm>
        </p:spPr>
        <p:txBody>
          <a:bodyPr/>
          <a:lstStyle/>
          <a:p>
            <a:r>
              <a:rPr lang="en-IN" dirty="0"/>
              <a:t>DNABERT Attention Layer Activity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4AD399C-7B4C-1CB3-F332-97A9FD8AA2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45989"/>
            <a:ext cx="4938713" cy="3886200"/>
          </a:xfrm>
          <a:prstGeom prst="rect">
            <a:avLst/>
          </a:prstGeom>
        </p:spPr>
      </p:pic>
      <p:sp>
        <p:nvSpPr>
          <p:cNvPr id="53" name="object 23">
            <a:extLst>
              <a:ext uri="{FF2B5EF4-FFF2-40B4-BE49-F238E27FC236}">
                <a16:creationId xmlns:a16="http://schemas.microsoft.com/office/drawing/2014/main" id="{C5CF691F-EA2A-AEF0-0276-1C58FCA7161C}"/>
              </a:ext>
            </a:extLst>
          </p:cNvPr>
          <p:cNvSpPr txBox="1"/>
          <p:nvPr/>
        </p:nvSpPr>
        <p:spPr>
          <a:xfrm>
            <a:off x="173832" y="4632778"/>
            <a:ext cx="492650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000" dirty="0"/>
              <a:t>Mid-transformer layers (L6–L8) exhibited the highest attention norms, suggesting deeper contextual encoding of splice-relevant sequence dependencies.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54" name="Title 49">
            <a:extLst>
              <a:ext uri="{FF2B5EF4-FFF2-40B4-BE49-F238E27FC236}">
                <a16:creationId xmlns:a16="http://schemas.microsoft.com/office/drawing/2014/main" id="{FC64ED3D-4DA3-C18B-CAB0-52C99BBFBA66}"/>
              </a:ext>
            </a:extLst>
          </p:cNvPr>
          <p:cNvSpPr txBox="1">
            <a:spLocks/>
          </p:cNvSpPr>
          <p:nvPr/>
        </p:nvSpPr>
        <p:spPr>
          <a:xfrm>
            <a:off x="5321282" y="196471"/>
            <a:ext cx="532828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C3A6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 dirty="0"/>
              <a:t>DNABERT Weight Distribution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E694B2C-BAD2-65C8-713F-0A267971F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337" y="631824"/>
            <a:ext cx="3962700" cy="3886201"/>
          </a:xfrm>
          <a:prstGeom prst="rect">
            <a:avLst/>
          </a:prstGeom>
        </p:spPr>
      </p:pic>
      <p:sp>
        <p:nvSpPr>
          <p:cNvPr id="56" name="object 23">
            <a:extLst>
              <a:ext uri="{FF2B5EF4-FFF2-40B4-BE49-F238E27FC236}">
                <a16:creationId xmlns:a16="http://schemas.microsoft.com/office/drawing/2014/main" id="{66AED486-8910-6621-C6CB-433C3F01EB31}"/>
              </a:ext>
            </a:extLst>
          </p:cNvPr>
          <p:cNvSpPr txBox="1"/>
          <p:nvPr/>
        </p:nvSpPr>
        <p:spPr>
          <a:xfrm>
            <a:off x="5181600" y="4605791"/>
            <a:ext cx="3881437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000" dirty="0"/>
              <a:t>Parameter weights remain approximately Gaussian-centered around zero, indicating stable optimization without abnormal parameter explosion.</a:t>
            </a:r>
            <a:endParaRPr sz="95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939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3288DC-0F46-57E8-DFEA-F9536C2A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49">
            <a:extLst>
              <a:ext uri="{FF2B5EF4-FFF2-40B4-BE49-F238E27FC236}">
                <a16:creationId xmlns:a16="http://schemas.microsoft.com/office/drawing/2014/main" id="{52E1C4A4-8C87-ABB6-4A04-C6CC5E52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085" y="196471"/>
            <a:ext cx="5328285" cy="307777"/>
          </a:xfrm>
        </p:spPr>
        <p:txBody>
          <a:bodyPr/>
          <a:lstStyle/>
          <a:p>
            <a:r>
              <a:rPr lang="en-IN" dirty="0"/>
              <a:t>DNABERT Parameter Distribution </a:t>
            </a:r>
          </a:p>
        </p:txBody>
      </p:sp>
      <p:sp>
        <p:nvSpPr>
          <p:cNvPr id="53" name="object 23">
            <a:extLst>
              <a:ext uri="{FF2B5EF4-FFF2-40B4-BE49-F238E27FC236}">
                <a16:creationId xmlns:a16="http://schemas.microsoft.com/office/drawing/2014/main" id="{B5757A34-E9E4-8C8D-41D9-F41A0AD77FB1}"/>
              </a:ext>
            </a:extLst>
          </p:cNvPr>
          <p:cNvSpPr txBox="1"/>
          <p:nvPr/>
        </p:nvSpPr>
        <p:spPr>
          <a:xfrm>
            <a:off x="1075381" y="4645749"/>
            <a:ext cx="688998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000" dirty="0"/>
              <a:t>Most learnable parameters are concentrated within the attention and feedforward blocks, consistent with transformer-based sequence modeling architectures.</a:t>
            </a:r>
            <a:endParaRPr sz="950" dirty="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238FC7-F243-E76B-1105-2E3114D1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93725"/>
            <a:ext cx="6849419" cy="400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40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3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182513"/>
            <a:ext cx="2559951" cy="47545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0780" y="1267106"/>
            <a:ext cx="7194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5" dirty="0">
                <a:solidFill>
                  <a:srgbClr val="2A9EA8"/>
                </a:solidFill>
              </a:rPr>
              <a:t>05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731164" y="1279806"/>
            <a:ext cx="1280160" cy="822960"/>
          </a:xfrm>
          <a:custGeom>
            <a:avLst/>
            <a:gdLst/>
            <a:ahLst/>
            <a:cxnLst/>
            <a:rect l="l" t="t" r="r" b="b"/>
            <a:pathLst>
              <a:path w="1280160" h="822960">
                <a:moveTo>
                  <a:pt x="640079" y="822591"/>
                </a:moveTo>
                <a:lnTo>
                  <a:pt x="0" y="822591"/>
                </a:lnTo>
                <a:lnTo>
                  <a:pt x="0" y="0"/>
                </a:lnTo>
                <a:lnTo>
                  <a:pt x="1279791" y="0"/>
                </a:lnTo>
                <a:lnTo>
                  <a:pt x="1279791" y="822591"/>
                </a:lnTo>
                <a:lnTo>
                  <a:pt x="640079" y="822591"/>
                </a:lnTo>
                <a:close/>
              </a:path>
            </a:pathLst>
          </a:custGeom>
          <a:ln w="25559">
            <a:solidFill>
              <a:srgbClr val="2A9E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8456" y="2318666"/>
            <a:ext cx="3175635" cy="159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398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Results,</a:t>
            </a:r>
            <a:r>
              <a:rPr sz="3600" b="1" spc="-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Metrics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Calibri"/>
                <a:cs typeface="Calibri"/>
              </a:rPr>
              <a:t>Visualizations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1350" spc="-25" dirty="0">
                <a:solidFill>
                  <a:srgbClr val="4DC4CE"/>
                </a:solidFill>
                <a:latin typeface="Calibri"/>
                <a:cs typeface="Calibri"/>
              </a:rPr>
              <a:t>ROC-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AUC</a:t>
            </a:r>
            <a:r>
              <a:rPr sz="1350" spc="-2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·</a:t>
            </a:r>
            <a:r>
              <a:rPr sz="1350" spc="-1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PR-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AUC</a:t>
            </a:r>
            <a:r>
              <a:rPr sz="1350" spc="-2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·</a:t>
            </a:r>
            <a:r>
              <a:rPr sz="1350" spc="-3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SHAP</a:t>
            </a:r>
            <a:r>
              <a:rPr sz="1350" spc="-2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·</a:t>
            </a:r>
            <a:r>
              <a:rPr sz="1350" spc="-2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4DC4CE"/>
                </a:solidFill>
                <a:latin typeface="Calibri"/>
                <a:cs typeface="Calibri"/>
              </a:rPr>
              <a:t>t-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SNE</a:t>
            </a:r>
            <a:r>
              <a:rPr sz="1350" spc="-2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·</a:t>
            </a:r>
            <a:r>
              <a:rPr sz="1350" spc="-2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Calibration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Performance</a:t>
            </a:r>
            <a:r>
              <a:rPr spc="-30" dirty="0"/>
              <a:t> </a:t>
            </a:r>
            <a:r>
              <a:rPr dirty="0"/>
              <a:t>Metrics</a:t>
            </a:r>
            <a:r>
              <a:rPr spc="-25" dirty="0"/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spc="-10" dirty="0"/>
              <a:t>XGBoost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30" dirty="0"/>
              <a:t>DNABERT-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365404" y="621362"/>
            <a:ext cx="8412480" cy="27305"/>
          </a:xfrm>
          <a:custGeom>
            <a:avLst/>
            <a:gdLst/>
            <a:ahLst/>
            <a:cxnLst/>
            <a:rect l="l" t="t" r="r" b="b"/>
            <a:pathLst>
              <a:path w="8412480" h="27304">
                <a:moveTo>
                  <a:pt x="8412111" y="0"/>
                </a:moveTo>
                <a:lnTo>
                  <a:pt x="0" y="0"/>
                </a:lnTo>
                <a:lnTo>
                  <a:pt x="0" y="27000"/>
                </a:lnTo>
                <a:lnTo>
                  <a:pt x="4206240" y="27000"/>
                </a:lnTo>
                <a:lnTo>
                  <a:pt x="8412111" y="27000"/>
                </a:lnTo>
                <a:lnTo>
                  <a:pt x="8412111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376931" y="1056340"/>
            <a:ext cx="2214880" cy="1482725"/>
            <a:chOff x="245884" y="693358"/>
            <a:chExt cx="2214880" cy="1482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884" y="693358"/>
              <a:ext cx="2214359" cy="148248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404" y="776886"/>
              <a:ext cx="2011680" cy="1280160"/>
            </a:xfrm>
            <a:custGeom>
              <a:avLst/>
              <a:gdLst/>
              <a:ahLst/>
              <a:cxnLst/>
              <a:rect l="l" t="t" r="r" b="b"/>
              <a:pathLst>
                <a:path w="2011680" h="1280160">
                  <a:moveTo>
                    <a:pt x="2011311" y="0"/>
                  </a:moveTo>
                  <a:lnTo>
                    <a:pt x="0" y="0"/>
                  </a:lnTo>
                  <a:lnTo>
                    <a:pt x="0" y="1279791"/>
                  </a:lnTo>
                  <a:lnTo>
                    <a:pt x="1005839" y="1279791"/>
                  </a:lnTo>
                  <a:lnTo>
                    <a:pt x="2011311" y="1279791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404" y="777242"/>
              <a:ext cx="2011680" cy="45720"/>
            </a:xfrm>
            <a:custGeom>
              <a:avLst/>
              <a:gdLst/>
              <a:ahLst/>
              <a:cxnLst/>
              <a:rect l="l" t="t" r="r" b="b"/>
              <a:pathLst>
                <a:path w="2011680" h="45719">
                  <a:moveTo>
                    <a:pt x="2011311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005839" y="45364"/>
                  </a:lnTo>
                  <a:lnTo>
                    <a:pt x="2011311" y="45364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533065" y="1100235"/>
            <a:ext cx="1934210" cy="1165860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705"/>
              </a:spcBef>
            </a:pPr>
            <a:r>
              <a:rPr sz="3200" b="1" spc="-10" dirty="0">
                <a:solidFill>
                  <a:srgbClr val="2A9EA8"/>
                </a:solidFill>
                <a:latin typeface="Calibri"/>
                <a:cs typeface="Calibri"/>
              </a:rPr>
              <a:t>0.8579</a:t>
            </a:r>
            <a:endParaRPr sz="3200" dirty="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  <a:spcBef>
                <a:spcPts val="505"/>
              </a:spcBef>
            </a:pPr>
            <a:r>
              <a:rPr sz="1000" b="1" spc="-35" dirty="0">
                <a:solidFill>
                  <a:srgbClr val="0C3A6D"/>
                </a:solidFill>
                <a:latin typeface="Calibri"/>
                <a:cs typeface="Calibri"/>
              </a:rPr>
              <a:t>ROC-</a:t>
            </a:r>
            <a:r>
              <a:rPr sz="1000" b="1" spc="-25" dirty="0">
                <a:solidFill>
                  <a:srgbClr val="0C3A6D"/>
                </a:solidFill>
                <a:latin typeface="Calibri"/>
                <a:cs typeface="Calibri"/>
              </a:rPr>
              <a:t>AUC</a:t>
            </a:r>
            <a:endParaRPr sz="1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Area</a:t>
            </a:r>
            <a:r>
              <a:rPr sz="800" spc="-2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under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the</a:t>
            </a:r>
            <a:r>
              <a:rPr sz="80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ROC</a:t>
            </a:r>
            <a:r>
              <a:rPr sz="80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curve</a:t>
            </a:r>
            <a:r>
              <a:rPr sz="80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on</a:t>
            </a:r>
            <a:r>
              <a:rPr sz="80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held-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out</a:t>
            </a:r>
            <a:r>
              <a:rPr sz="80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test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6A9DB1"/>
                </a:solidFill>
                <a:latin typeface="Calibri"/>
                <a:cs typeface="Calibri"/>
              </a:rPr>
              <a:t>set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53127" y="1056340"/>
            <a:ext cx="2214880" cy="1482725"/>
            <a:chOff x="2422080" y="693358"/>
            <a:chExt cx="2214880" cy="14827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2080" y="693358"/>
              <a:ext cx="2214359" cy="14824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41600" y="776886"/>
              <a:ext cx="2011680" cy="1280160"/>
            </a:xfrm>
            <a:custGeom>
              <a:avLst/>
              <a:gdLst/>
              <a:ahLst/>
              <a:cxnLst/>
              <a:rect l="l" t="t" r="r" b="b"/>
              <a:pathLst>
                <a:path w="2011679" h="1280160">
                  <a:moveTo>
                    <a:pt x="2011324" y="0"/>
                  </a:moveTo>
                  <a:lnTo>
                    <a:pt x="0" y="0"/>
                  </a:lnTo>
                  <a:lnTo>
                    <a:pt x="0" y="1279791"/>
                  </a:lnTo>
                  <a:lnTo>
                    <a:pt x="1005840" y="1279791"/>
                  </a:lnTo>
                  <a:lnTo>
                    <a:pt x="2011324" y="1279791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41600" y="777242"/>
              <a:ext cx="2011680" cy="45720"/>
            </a:xfrm>
            <a:custGeom>
              <a:avLst/>
              <a:gdLst/>
              <a:ahLst/>
              <a:cxnLst/>
              <a:rect l="l" t="t" r="r" b="b"/>
              <a:pathLst>
                <a:path w="2011679" h="45719">
                  <a:moveTo>
                    <a:pt x="2011324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005840" y="45364"/>
                  </a:lnTo>
                  <a:lnTo>
                    <a:pt x="2011324" y="45364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14671" y="1100235"/>
            <a:ext cx="1923414" cy="1226185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705"/>
              </a:spcBef>
            </a:pPr>
            <a:r>
              <a:rPr sz="3200" b="1" spc="-10" dirty="0">
                <a:solidFill>
                  <a:srgbClr val="E77839"/>
                </a:solidFill>
                <a:latin typeface="Calibri"/>
                <a:cs typeface="Calibri"/>
              </a:rPr>
              <a:t>0.8438</a:t>
            </a:r>
            <a:endParaRPr sz="320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  <a:spcBef>
                <a:spcPts val="505"/>
              </a:spcBef>
            </a:pPr>
            <a:r>
              <a:rPr sz="1000" b="1" spc="-25" dirty="0">
                <a:solidFill>
                  <a:srgbClr val="0C3A6D"/>
                </a:solidFill>
                <a:latin typeface="Calibri"/>
                <a:cs typeface="Calibri"/>
              </a:rPr>
              <a:t>PR-AUC</a:t>
            </a:r>
            <a:endParaRPr sz="10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385"/>
              </a:spcBef>
            </a:pP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Precision-Recall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AUC</a:t>
            </a:r>
            <a:r>
              <a:rPr sz="80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—</a:t>
            </a:r>
            <a:r>
              <a:rPr sz="80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robust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for</a:t>
            </a:r>
            <a:r>
              <a:rPr sz="80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imbalanced</a:t>
            </a:r>
            <a:r>
              <a:rPr sz="800" spc="50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6A9DB1"/>
                </a:solidFill>
                <a:latin typeface="Calibri"/>
                <a:cs typeface="Calibri"/>
              </a:rPr>
              <a:t>data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4" name="object 14"/>
          <p:cNvGrpSpPr/>
          <p:nvPr/>
        </p:nvGrpSpPr>
        <p:grpSpPr>
          <a:xfrm>
            <a:off x="2377084" y="2727325"/>
            <a:ext cx="2214880" cy="1482725"/>
            <a:chOff x="4598276" y="693358"/>
            <a:chExt cx="2214880" cy="1482725"/>
          </a:xfrm>
        </p:grpSpPr>
        <p:pic>
          <p:nvPicPr>
            <p:cNvPr id="5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8276" y="693358"/>
              <a:ext cx="2214359" cy="1482483"/>
            </a:xfrm>
            <a:prstGeom prst="rect">
              <a:avLst/>
            </a:prstGeom>
          </p:spPr>
        </p:pic>
        <p:sp>
          <p:nvSpPr>
            <p:cNvPr id="56" name="object 16"/>
            <p:cNvSpPr/>
            <p:nvPr/>
          </p:nvSpPr>
          <p:spPr>
            <a:xfrm>
              <a:off x="4717796" y="776886"/>
              <a:ext cx="2011680" cy="1280160"/>
            </a:xfrm>
            <a:custGeom>
              <a:avLst/>
              <a:gdLst/>
              <a:ahLst/>
              <a:cxnLst/>
              <a:rect l="l" t="t" r="r" b="b"/>
              <a:pathLst>
                <a:path w="2011679" h="1280160">
                  <a:moveTo>
                    <a:pt x="2011324" y="0"/>
                  </a:moveTo>
                  <a:lnTo>
                    <a:pt x="0" y="0"/>
                  </a:lnTo>
                  <a:lnTo>
                    <a:pt x="0" y="1279791"/>
                  </a:lnTo>
                  <a:lnTo>
                    <a:pt x="1005839" y="1279791"/>
                  </a:lnTo>
                  <a:lnTo>
                    <a:pt x="2011324" y="1279791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7"/>
            <p:cNvSpPr/>
            <p:nvPr/>
          </p:nvSpPr>
          <p:spPr>
            <a:xfrm>
              <a:off x="4717796" y="777242"/>
              <a:ext cx="2011680" cy="45720"/>
            </a:xfrm>
            <a:custGeom>
              <a:avLst/>
              <a:gdLst/>
              <a:ahLst/>
              <a:cxnLst/>
              <a:rect l="l" t="t" r="r" b="b"/>
              <a:pathLst>
                <a:path w="2011679" h="45719">
                  <a:moveTo>
                    <a:pt x="2011324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005839" y="45364"/>
                  </a:lnTo>
                  <a:lnTo>
                    <a:pt x="2011324" y="45364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2D9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18"/>
          <p:cNvSpPr txBox="1"/>
          <p:nvPr/>
        </p:nvSpPr>
        <p:spPr>
          <a:xfrm>
            <a:off x="2701709" y="2771220"/>
            <a:ext cx="1598930" cy="1165860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705"/>
              </a:spcBef>
            </a:pPr>
            <a:r>
              <a:rPr sz="3200" b="1" spc="-10" dirty="0">
                <a:solidFill>
                  <a:srgbClr val="2D9D67"/>
                </a:solidFill>
                <a:latin typeface="Calibri"/>
                <a:cs typeface="Calibri"/>
              </a:rPr>
              <a:t>0.8427</a:t>
            </a:r>
            <a:endParaRPr sz="32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505"/>
              </a:spcBef>
            </a:pPr>
            <a:r>
              <a:rPr sz="1000" b="1" dirty="0">
                <a:solidFill>
                  <a:srgbClr val="0C3A6D"/>
                </a:solidFill>
                <a:latin typeface="Calibri"/>
                <a:cs typeface="Calibri"/>
              </a:rPr>
              <a:t>Macro</a:t>
            </a:r>
            <a:r>
              <a:rPr sz="1000" b="1" spc="-4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0C3A6D"/>
                </a:solidFill>
                <a:latin typeface="Calibri"/>
                <a:cs typeface="Calibri"/>
              </a:rPr>
              <a:t>F1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Equal-weighted</a:t>
            </a:r>
            <a:r>
              <a:rPr sz="80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F1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across both</a:t>
            </a:r>
            <a:r>
              <a:rPr sz="80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classes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9" name="object 19"/>
          <p:cNvGrpSpPr/>
          <p:nvPr/>
        </p:nvGrpSpPr>
        <p:grpSpPr>
          <a:xfrm>
            <a:off x="4553648" y="2727325"/>
            <a:ext cx="2214880" cy="1482725"/>
            <a:chOff x="6774840" y="693358"/>
            <a:chExt cx="2214880" cy="1482725"/>
          </a:xfrm>
        </p:grpSpPr>
        <p:pic>
          <p:nvPicPr>
            <p:cNvPr id="6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4840" y="693358"/>
              <a:ext cx="2214359" cy="1482483"/>
            </a:xfrm>
            <a:prstGeom prst="rect">
              <a:avLst/>
            </a:prstGeom>
          </p:spPr>
        </p:pic>
        <p:sp>
          <p:nvSpPr>
            <p:cNvPr id="61" name="object 21"/>
            <p:cNvSpPr/>
            <p:nvPr/>
          </p:nvSpPr>
          <p:spPr>
            <a:xfrm>
              <a:off x="6894360" y="776886"/>
              <a:ext cx="2011680" cy="1280160"/>
            </a:xfrm>
            <a:custGeom>
              <a:avLst/>
              <a:gdLst/>
              <a:ahLst/>
              <a:cxnLst/>
              <a:rect l="l" t="t" r="r" b="b"/>
              <a:pathLst>
                <a:path w="2011679" h="1280160">
                  <a:moveTo>
                    <a:pt x="2011324" y="0"/>
                  </a:moveTo>
                  <a:lnTo>
                    <a:pt x="0" y="0"/>
                  </a:lnTo>
                  <a:lnTo>
                    <a:pt x="0" y="1279791"/>
                  </a:lnTo>
                  <a:lnTo>
                    <a:pt x="1005839" y="1279791"/>
                  </a:lnTo>
                  <a:lnTo>
                    <a:pt x="2011324" y="1279791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22"/>
            <p:cNvSpPr/>
            <p:nvPr/>
          </p:nvSpPr>
          <p:spPr>
            <a:xfrm>
              <a:off x="6894360" y="777242"/>
              <a:ext cx="2011680" cy="45720"/>
            </a:xfrm>
            <a:custGeom>
              <a:avLst/>
              <a:gdLst/>
              <a:ahLst/>
              <a:cxnLst/>
              <a:rect l="l" t="t" r="r" b="b"/>
              <a:pathLst>
                <a:path w="2011679" h="45719">
                  <a:moveTo>
                    <a:pt x="2011324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005839" y="45364"/>
                  </a:lnTo>
                  <a:lnTo>
                    <a:pt x="2011324" y="45364"/>
                  </a:lnTo>
                  <a:lnTo>
                    <a:pt x="2011324" y="0"/>
                  </a:lnTo>
                  <a:close/>
                </a:path>
              </a:pathLst>
            </a:custGeom>
            <a:solidFill>
              <a:srgbClr val="6A8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23"/>
          <p:cNvSpPr txBox="1"/>
          <p:nvPr/>
        </p:nvSpPr>
        <p:spPr>
          <a:xfrm>
            <a:off x="4823904" y="2771220"/>
            <a:ext cx="1707514" cy="1165860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705"/>
              </a:spcBef>
            </a:pPr>
            <a:r>
              <a:rPr sz="3200" b="1" spc="-25" dirty="0">
                <a:solidFill>
                  <a:srgbClr val="6A8EA7"/>
                </a:solidFill>
                <a:latin typeface="Calibri"/>
                <a:cs typeface="Calibri"/>
              </a:rPr>
              <a:t>84%</a:t>
            </a:r>
            <a:endParaRPr sz="32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505"/>
              </a:spcBef>
            </a:pPr>
            <a:r>
              <a:rPr sz="1000" b="1" spc="-10" dirty="0">
                <a:solidFill>
                  <a:srgbClr val="0C3A6D"/>
                </a:solidFill>
                <a:latin typeface="Calibri"/>
                <a:cs typeface="Calibri"/>
              </a:rPr>
              <a:t>Accuracy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Overall</a:t>
            </a:r>
            <a:r>
              <a:rPr sz="800" spc="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classification</a:t>
            </a:r>
            <a:r>
              <a:rPr sz="80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A9DB1"/>
                </a:solidFill>
                <a:latin typeface="Calibri"/>
                <a:cs typeface="Calibri"/>
              </a:rPr>
              <a:t>accuracy</a:t>
            </a:r>
            <a:r>
              <a:rPr sz="800" spc="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on</a:t>
            </a:r>
            <a:r>
              <a:rPr sz="800" spc="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A9DB1"/>
                </a:solidFill>
                <a:latin typeface="Calibri"/>
                <a:cs typeface="Calibri"/>
              </a:rPr>
              <a:t>test</a:t>
            </a:r>
            <a:r>
              <a:rPr sz="800" spc="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6A9DB1"/>
                </a:solidFill>
                <a:latin typeface="Calibri"/>
                <a:cs typeface="Calibri"/>
              </a:rPr>
              <a:t>set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E2E9A9-88F8-FD6E-01E7-02872B8E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F131809-71F8-46AC-5130-5E9C788D4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212725"/>
            <a:ext cx="5328285" cy="330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	ROC CURVE</a:t>
            </a:r>
            <a:endParaRPr spc="-5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11CD46E-7D6D-C0C6-B764-00C6E96EA6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69925"/>
            <a:ext cx="4176415" cy="4174325"/>
          </a:xfrm>
          <a:prstGeom prst="rect">
            <a:avLst/>
          </a:prstGeom>
        </p:spPr>
      </p:pic>
      <p:sp>
        <p:nvSpPr>
          <p:cNvPr id="55" name="object 2" descr="$PPTXTitle">
            <a:extLst>
              <a:ext uri="{FF2B5EF4-FFF2-40B4-BE49-F238E27FC236}">
                <a16:creationId xmlns:a16="http://schemas.microsoft.com/office/drawing/2014/main" id="{71C47B91-2200-954C-D340-BAED42BEBC68}"/>
              </a:ext>
            </a:extLst>
          </p:cNvPr>
          <p:cNvSpPr txBox="1">
            <a:spLocks/>
          </p:cNvSpPr>
          <p:nvPr/>
        </p:nvSpPr>
        <p:spPr>
          <a:xfrm>
            <a:off x="5410200" y="222958"/>
            <a:ext cx="53282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rgbClr val="0C3A6D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pc="-50" dirty="0"/>
              <a:t>	</a:t>
            </a:r>
            <a:r>
              <a:rPr lang="en-IN" dirty="0"/>
              <a:t>PR</a:t>
            </a:r>
            <a:r>
              <a:rPr lang="en-IN" spc="-35" dirty="0"/>
              <a:t> </a:t>
            </a:r>
            <a:r>
              <a:rPr lang="en-IN" spc="-10" dirty="0"/>
              <a:t>CURVE</a:t>
            </a:r>
            <a:endParaRPr lang="en-IN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D12F716-3E1D-4B0A-CA6F-66CE13B582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838" y="669925"/>
            <a:ext cx="4177780" cy="41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06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060582-CC99-04C9-3FA5-D7D62846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03E3F4B-2774-F2B7-D8CD-84AE18A6B9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88466"/>
            <a:ext cx="5328285" cy="330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Confusion Matrix</a:t>
            </a:r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910FA-B1C6-F042-78C3-D34901F24A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517526"/>
            <a:ext cx="4572000" cy="3910628"/>
          </a:xfrm>
          <a:prstGeom prst="rect">
            <a:avLst/>
          </a:prstGeom>
        </p:spPr>
      </p:pic>
      <p:sp>
        <p:nvSpPr>
          <p:cNvPr id="5" name="object 23">
            <a:extLst>
              <a:ext uri="{FF2B5EF4-FFF2-40B4-BE49-F238E27FC236}">
                <a16:creationId xmlns:a16="http://schemas.microsoft.com/office/drawing/2014/main" id="{1D8445DE-E48D-4557-F140-D02860EE0C92}"/>
              </a:ext>
            </a:extLst>
          </p:cNvPr>
          <p:cNvSpPr txBox="1"/>
          <p:nvPr/>
        </p:nvSpPr>
        <p:spPr>
          <a:xfrm>
            <a:off x="380999" y="4526380"/>
            <a:ext cx="4343401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000" dirty="0"/>
              <a:t>The confusion matrix shows balanced prediction behavior with low false-positive and false-negative rates, achieving 84% overall classification accuracy on the held-out chromosome-aware test set.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6" name="object 2" descr="$PPTXTitle">
            <a:extLst>
              <a:ext uri="{FF2B5EF4-FFF2-40B4-BE49-F238E27FC236}">
                <a16:creationId xmlns:a16="http://schemas.microsoft.com/office/drawing/2014/main" id="{CE5C9A67-9F19-C7D7-5BB0-4AE97DC85C2B}"/>
              </a:ext>
            </a:extLst>
          </p:cNvPr>
          <p:cNvSpPr txBox="1">
            <a:spLocks/>
          </p:cNvSpPr>
          <p:nvPr/>
        </p:nvSpPr>
        <p:spPr>
          <a:xfrm>
            <a:off x="5715000" y="88466"/>
            <a:ext cx="5328285" cy="330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rgbClr val="0C3A6D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pc="-50" dirty="0"/>
              <a:t>Feature Importance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61B773-EC02-2236-B8E0-B948F74F54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163" y="517526"/>
            <a:ext cx="4208436" cy="3880465"/>
          </a:xfrm>
          <a:prstGeom prst="rect">
            <a:avLst/>
          </a:prstGeom>
        </p:spPr>
      </p:pic>
      <p:sp>
        <p:nvSpPr>
          <p:cNvPr id="9" name="object 23">
            <a:extLst>
              <a:ext uri="{FF2B5EF4-FFF2-40B4-BE49-F238E27FC236}">
                <a16:creationId xmlns:a16="http://schemas.microsoft.com/office/drawing/2014/main" id="{85E9BA8B-A6D7-4A80-EE56-459E0E03FA86}"/>
              </a:ext>
            </a:extLst>
          </p:cNvPr>
          <p:cNvSpPr txBox="1"/>
          <p:nvPr/>
        </p:nvSpPr>
        <p:spPr>
          <a:xfrm>
            <a:off x="4800599" y="4433007"/>
            <a:ext cx="434340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000" dirty="0"/>
              <a:t>Feature importance analysis shows that GC content, splice motifs, entropy, and high-order k-</a:t>
            </a:r>
            <a:r>
              <a:rPr lang="en-US" sz="1000" dirty="0" err="1"/>
              <a:t>mer</a:t>
            </a:r>
            <a:r>
              <a:rPr lang="en-US" sz="1000" dirty="0"/>
              <a:t> patterns contribute most strongly to pathogenicity prediction. These features capture both biological splice-site signals and sequence composition changes caused by mutations.</a:t>
            </a:r>
            <a:endParaRPr sz="95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8296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BD4A0C-921A-109E-FBC9-50671945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03B5A71-695B-338A-9139-AD4AFE7B36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355416"/>
            <a:ext cx="53282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pc="-10" dirty="0"/>
              <a:t>Probability Distribution</a:t>
            </a:r>
            <a:endParaRPr lang="en-IN" dirty="0"/>
          </a:p>
        </p:txBody>
      </p:sp>
      <p:sp>
        <p:nvSpPr>
          <p:cNvPr id="55" name="object 2" descr="$PPTXTitle">
            <a:extLst>
              <a:ext uri="{FF2B5EF4-FFF2-40B4-BE49-F238E27FC236}">
                <a16:creationId xmlns:a16="http://schemas.microsoft.com/office/drawing/2014/main" id="{FB16FAA7-1642-787A-8FCF-17D2A6742BDE}"/>
              </a:ext>
            </a:extLst>
          </p:cNvPr>
          <p:cNvSpPr txBox="1">
            <a:spLocks/>
          </p:cNvSpPr>
          <p:nvPr/>
        </p:nvSpPr>
        <p:spPr>
          <a:xfrm>
            <a:off x="6248400" y="355416"/>
            <a:ext cx="532828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rgbClr val="0C3A6D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pc="-50" dirty="0"/>
              <a:t>Calibration Curve</a:t>
            </a:r>
          </a:p>
          <a:p>
            <a:pPr marL="12700">
              <a:spcBef>
                <a:spcPts val="100"/>
              </a:spcBef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9E998B-C857-0BEE-4EE9-CE3BC31028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233"/>
            <a:ext cx="5401287" cy="3488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F20E6D-2B71-1E7F-B931-1FD029A26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85233"/>
            <a:ext cx="3490347" cy="348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59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2700" y="182513"/>
            <a:ext cx="8789503" cy="4271189"/>
            <a:chOff x="262700" y="182513"/>
            <a:chExt cx="8789503" cy="4271189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9" y="182513"/>
              <a:ext cx="731164" cy="7311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5404" y="62136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700" y="1792991"/>
              <a:ext cx="4363199" cy="26607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0554" y="1790669"/>
              <a:ext cx="4160520" cy="2493620"/>
            </a:xfrm>
            <a:custGeom>
              <a:avLst/>
              <a:gdLst/>
              <a:ahLst/>
              <a:cxnLst/>
              <a:rect l="l" t="t" r="r" b="b"/>
              <a:pathLst>
                <a:path w="4160520" h="4114800">
                  <a:moveTo>
                    <a:pt x="4160164" y="0"/>
                  </a:moveTo>
                  <a:lnTo>
                    <a:pt x="0" y="0"/>
                  </a:lnTo>
                  <a:lnTo>
                    <a:pt x="0" y="4114431"/>
                  </a:lnTo>
                  <a:lnTo>
                    <a:pt x="2080082" y="4114431"/>
                  </a:lnTo>
                  <a:lnTo>
                    <a:pt x="4160164" y="4114431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3044" y="1785717"/>
              <a:ext cx="4160520" cy="36830"/>
            </a:xfrm>
            <a:custGeom>
              <a:avLst/>
              <a:gdLst/>
              <a:ahLst/>
              <a:cxnLst/>
              <a:rect l="l" t="t" r="r" b="b"/>
              <a:pathLst>
                <a:path w="4160520" h="36830">
                  <a:moveTo>
                    <a:pt x="4160164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2080082" y="36360"/>
                  </a:lnTo>
                  <a:lnTo>
                    <a:pt x="4160164" y="36360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Interpretability</a:t>
            </a:r>
            <a:r>
              <a:rPr spc="-30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SHAP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DNABERT</a:t>
            </a:r>
            <a:r>
              <a:rPr spc="-35" dirty="0"/>
              <a:t> </a:t>
            </a:r>
            <a:r>
              <a:rPr spc="-10" dirty="0"/>
              <a:t>Embeddings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9413" y="1855338"/>
            <a:ext cx="1357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C3A6D"/>
                </a:solidFill>
                <a:latin typeface="Calibri"/>
                <a:cs typeface="Calibri"/>
              </a:rPr>
              <a:t>SHAP</a:t>
            </a:r>
            <a:r>
              <a:rPr sz="1200" b="1" spc="-4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C3A6D"/>
                </a:solidFill>
                <a:latin typeface="Calibri"/>
                <a:cs typeface="Calibri"/>
              </a:rPr>
              <a:t>Interpretability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2476" y="2142358"/>
            <a:ext cx="3858895" cy="1664335"/>
          </a:xfrm>
          <a:custGeom>
            <a:avLst/>
            <a:gdLst/>
            <a:ahLst/>
            <a:cxnLst/>
            <a:rect l="l" t="t" r="r" b="b"/>
            <a:pathLst>
              <a:path w="3858895" h="1664335">
                <a:moveTo>
                  <a:pt x="3858475" y="0"/>
                </a:moveTo>
                <a:lnTo>
                  <a:pt x="0" y="0"/>
                </a:lnTo>
                <a:lnTo>
                  <a:pt x="0" y="1663928"/>
                </a:lnTo>
                <a:lnTo>
                  <a:pt x="1929244" y="1663928"/>
                </a:lnTo>
                <a:lnTo>
                  <a:pt x="3858475" y="1663928"/>
                </a:lnTo>
                <a:lnTo>
                  <a:pt x="3858475" y="0"/>
                </a:lnTo>
                <a:close/>
              </a:path>
            </a:pathLst>
          </a:custGeom>
          <a:solidFill>
            <a:srgbClr val="E7F3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9917" y="2457937"/>
            <a:ext cx="35299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SHAP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(SHapley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Additive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exPlanations)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quantifies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each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feature's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marginal contribution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to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individual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predictions.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732" y="3071859"/>
            <a:ext cx="3486150" cy="74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Top</a:t>
            </a:r>
            <a:r>
              <a:rPr sz="9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influential</a:t>
            </a:r>
            <a:r>
              <a:rPr sz="950" spc="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features:</a:t>
            </a:r>
            <a:endParaRPr sz="950" dirty="0">
              <a:latin typeface="Calibri"/>
              <a:cs typeface="Calibri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k-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mer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delta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magnitude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how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much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6-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mer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composition changed</a:t>
            </a:r>
            <a:endParaRPr sz="950" dirty="0">
              <a:latin typeface="Calibri"/>
              <a:cs typeface="Calibri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GT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/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AG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dinucleotide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flags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canonical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signal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presence</a:t>
            </a:r>
            <a:endParaRPr sz="950" dirty="0">
              <a:latin typeface="Calibri"/>
              <a:cs typeface="Calibri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GC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content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—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local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sequence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composition</a:t>
            </a:r>
            <a:endParaRPr sz="950" dirty="0">
              <a:latin typeface="Calibri"/>
              <a:cs typeface="Calibri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Donor-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site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biological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features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position-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specific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signals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88996" y="1665359"/>
            <a:ext cx="4343400" cy="2795967"/>
            <a:chOff x="4609439" y="693358"/>
            <a:chExt cx="4343400" cy="2795967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9439" y="693358"/>
              <a:ext cx="4343400" cy="279596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09160" y="776886"/>
              <a:ext cx="4160520" cy="2577184"/>
            </a:xfrm>
            <a:custGeom>
              <a:avLst/>
              <a:gdLst/>
              <a:ahLst/>
              <a:cxnLst/>
              <a:rect l="l" t="t" r="r" b="b"/>
              <a:pathLst>
                <a:path w="4160520" h="4114800">
                  <a:moveTo>
                    <a:pt x="4160164" y="0"/>
                  </a:moveTo>
                  <a:lnTo>
                    <a:pt x="0" y="0"/>
                  </a:lnTo>
                  <a:lnTo>
                    <a:pt x="0" y="4114431"/>
                  </a:lnTo>
                  <a:lnTo>
                    <a:pt x="2080082" y="4114431"/>
                  </a:lnTo>
                  <a:lnTo>
                    <a:pt x="4160164" y="4114431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09160" y="776886"/>
              <a:ext cx="4160520" cy="36830"/>
            </a:xfrm>
            <a:custGeom>
              <a:avLst/>
              <a:gdLst/>
              <a:ahLst/>
              <a:cxnLst/>
              <a:rect l="l" t="t" r="r" b="b"/>
              <a:pathLst>
                <a:path w="4160520" h="36830">
                  <a:moveTo>
                    <a:pt x="4160164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2080082" y="36360"/>
                  </a:lnTo>
                  <a:lnTo>
                    <a:pt x="4160164" y="36360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02813" y="1855338"/>
            <a:ext cx="2389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0" dirty="0">
                <a:solidFill>
                  <a:srgbClr val="0C3A6D"/>
                </a:solidFill>
                <a:latin typeface="Calibri"/>
                <a:cs typeface="Calibri"/>
              </a:rPr>
              <a:t>DNABERT-</a:t>
            </a:r>
            <a:r>
              <a:rPr sz="1200" b="1" dirty="0">
                <a:solidFill>
                  <a:srgbClr val="0C3A6D"/>
                </a:solidFill>
                <a:latin typeface="Calibri"/>
                <a:cs typeface="Calibri"/>
              </a:rPr>
              <a:t>2</a:t>
            </a:r>
            <a:r>
              <a:rPr sz="1200" b="1" spc="4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C3A6D"/>
                </a:solidFill>
                <a:latin typeface="Calibri"/>
                <a:cs typeface="Calibri"/>
              </a:rPr>
              <a:t>Embedding</a:t>
            </a:r>
            <a:r>
              <a:rPr sz="1200" b="1" spc="3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C3A6D"/>
                </a:solidFill>
                <a:latin typeface="Calibri"/>
                <a:cs typeface="Calibri"/>
              </a:rPr>
              <a:t>Visualizations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83527" y="2378123"/>
            <a:ext cx="37096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t-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SNE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reveals whether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pathogenic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benign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variants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form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separable clusters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in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DNABERT-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2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embedding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space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validating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that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transformer captures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biologically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meaningful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differences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beyond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simple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k-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mer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composition.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81939" y="3185072"/>
            <a:ext cx="371284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PCA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provides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complementary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linear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projection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of the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same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embedding space,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showing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variance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structure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learned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representations across 768</a:t>
            </a:r>
            <a:r>
              <a:rPr sz="950" spc="-4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hidden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dimensions.</a:t>
            </a:r>
            <a:endParaRPr sz="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2E973B-37F2-CA99-A1B9-8E9E61C81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64F1AE76-8177-AB0D-67D2-F6926184A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143837"/>
            <a:ext cx="5328285" cy="307777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SHAP</a:t>
            </a:r>
            <a:r>
              <a:rPr lang="en-IN" spc="-40" dirty="0"/>
              <a:t> </a:t>
            </a:r>
            <a:r>
              <a:rPr lang="en-IN" spc="-10" dirty="0"/>
              <a:t>Interpretability</a:t>
            </a:r>
            <a:endParaRPr lang="en-IN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024E1CE-7FB2-F0AB-4441-7390B777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93725"/>
            <a:ext cx="6400800" cy="441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42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B54994-C1AD-B72E-099D-934CD13B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32C95B19-CDC8-0972-0074-E09A2E8A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36910"/>
            <a:ext cx="5328285" cy="307777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t-SNE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6DE2C2-FC9F-F38A-621B-3999534F54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4" y="622641"/>
            <a:ext cx="4405968" cy="4402133"/>
          </a:xfrm>
          <a:prstGeom prst="rect">
            <a:avLst/>
          </a:prstGeom>
        </p:spPr>
      </p:pic>
      <p:sp>
        <p:nvSpPr>
          <p:cNvPr id="4" name="Title 27">
            <a:extLst>
              <a:ext uri="{FF2B5EF4-FFF2-40B4-BE49-F238E27FC236}">
                <a16:creationId xmlns:a16="http://schemas.microsoft.com/office/drawing/2014/main" id="{1A63744F-49B2-C7F3-560B-1E537EBAD243}"/>
              </a:ext>
            </a:extLst>
          </p:cNvPr>
          <p:cNvSpPr txBox="1">
            <a:spLocks/>
          </p:cNvSpPr>
          <p:nvPr/>
        </p:nvSpPr>
        <p:spPr>
          <a:xfrm>
            <a:off x="6553200" y="138089"/>
            <a:ext cx="532828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C3A6D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dirty="0"/>
              <a:t>PCA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D12D27-3DB5-4410-B1A9-45F24D80E6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104" y="622641"/>
            <a:ext cx="4405968" cy="440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19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3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182513"/>
            <a:ext cx="2559951" cy="47545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0780" y="1267106"/>
            <a:ext cx="7194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5" dirty="0">
                <a:solidFill>
                  <a:srgbClr val="E77839"/>
                </a:solidFill>
              </a:rPr>
              <a:t>06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731164" y="1279806"/>
            <a:ext cx="1280160" cy="822960"/>
          </a:xfrm>
          <a:custGeom>
            <a:avLst/>
            <a:gdLst/>
            <a:ahLst/>
            <a:cxnLst/>
            <a:rect l="l" t="t" r="r" b="b"/>
            <a:pathLst>
              <a:path w="1280160" h="822960">
                <a:moveTo>
                  <a:pt x="640079" y="822591"/>
                </a:moveTo>
                <a:lnTo>
                  <a:pt x="0" y="822591"/>
                </a:lnTo>
                <a:lnTo>
                  <a:pt x="0" y="0"/>
                </a:lnTo>
                <a:lnTo>
                  <a:pt x="1279791" y="0"/>
                </a:lnTo>
                <a:lnTo>
                  <a:pt x="1279791" y="822591"/>
                </a:lnTo>
                <a:lnTo>
                  <a:pt x="640079" y="822591"/>
                </a:lnTo>
                <a:close/>
              </a:path>
            </a:pathLst>
          </a:custGeom>
          <a:ln w="25559">
            <a:solidFill>
              <a:srgbClr val="E778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8456" y="2318666"/>
            <a:ext cx="4190365" cy="159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09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API,</a:t>
            </a:r>
            <a:r>
              <a:rPr sz="3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Frontend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1350" spc="-10" dirty="0">
                <a:solidFill>
                  <a:srgbClr val="F4A269"/>
                </a:solidFill>
                <a:latin typeface="Calibri"/>
                <a:cs typeface="Calibri"/>
              </a:rPr>
              <a:t>FastAPI</a:t>
            </a:r>
            <a:r>
              <a:rPr sz="1350" spc="-2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F4A269"/>
                </a:solidFill>
                <a:latin typeface="Calibri"/>
                <a:cs typeface="Calibri"/>
              </a:rPr>
              <a:t>inference</a:t>
            </a:r>
            <a:r>
              <a:rPr sz="1350" spc="-3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4A269"/>
                </a:solidFill>
                <a:latin typeface="Calibri"/>
                <a:cs typeface="Calibri"/>
              </a:rPr>
              <a:t>engine</a:t>
            </a:r>
            <a:r>
              <a:rPr sz="1350" spc="-3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4A269"/>
                </a:solidFill>
                <a:latin typeface="Calibri"/>
                <a:cs typeface="Calibri"/>
              </a:rPr>
              <a:t>·</a:t>
            </a:r>
            <a:r>
              <a:rPr sz="1350" spc="-2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4A269"/>
                </a:solidFill>
                <a:latin typeface="Calibri"/>
                <a:cs typeface="Calibri"/>
              </a:rPr>
              <a:t>React</a:t>
            </a:r>
            <a:r>
              <a:rPr sz="1350" spc="-2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4A269"/>
                </a:solidFill>
                <a:latin typeface="Calibri"/>
                <a:cs typeface="Calibri"/>
              </a:rPr>
              <a:t>UI</a:t>
            </a:r>
            <a:r>
              <a:rPr sz="1350" spc="-30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4A269"/>
                </a:solidFill>
                <a:latin typeface="Calibri"/>
                <a:cs typeface="Calibri"/>
              </a:rPr>
              <a:t>·</a:t>
            </a:r>
            <a:r>
              <a:rPr sz="1350" spc="-3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4A269"/>
                </a:solidFill>
                <a:latin typeface="Calibri"/>
                <a:cs typeface="Calibri"/>
              </a:rPr>
              <a:t>Splice</a:t>
            </a:r>
            <a:r>
              <a:rPr sz="1350" spc="-35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4A269"/>
                </a:solidFill>
                <a:latin typeface="Calibri"/>
                <a:cs typeface="Calibri"/>
              </a:rPr>
              <a:t>analysis</a:t>
            </a:r>
            <a:r>
              <a:rPr sz="1350" spc="-20" dirty="0">
                <a:solidFill>
                  <a:srgbClr val="F4A26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4A269"/>
                </a:solidFill>
                <a:latin typeface="Calibri"/>
                <a:cs typeface="Calibri"/>
              </a:rPr>
              <a:t>endpoint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FastAPI</a:t>
            </a:r>
            <a:r>
              <a:rPr spc="-60" dirty="0"/>
              <a:t> </a:t>
            </a:r>
            <a:r>
              <a:rPr spc="-10" dirty="0"/>
              <a:t>Backend</a:t>
            </a:r>
            <a:r>
              <a:rPr spc="-55" dirty="0"/>
              <a:t> </a:t>
            </a:r>
            <a:r>
              <a:rPr dirty="0"/>
              <a:t>—</a:t>
            </a:r>
            <a:r>
              <a:rPr spc="-55" dirty="0"/>
              <a:t> </a:t>
            </a:r>
            <a:r>
              <a:rPr dirty="0"/>
              <a:t>Splice</a:t>
            </a:r>
            <a:r>
              <a:rPr spc="-55" dirty="0"/>
              <a:t> </a:t>
            </a:r>
            <a:r>
              <a:rPr spc="-20" dirty="0"/>
              <a:t>Variant</a:t>
            </a:r>
            <a:r>
              <a:rPr spc="-65" dirty="0"/>
              <a:t> </a:t>
            </a:r>
            <a:r>
              <a:rPr dirty="0"/>
              <a:t>Classifier</a:t>
            </a:r>
            <a:r>
              <a:rPr spc="-60" dirty="0"/>
              <a:t> </a:t>
            </a:r>
            <a:r>
              <a:rPr spc="-25" dirty="0"/>
              <a:t>v5</a:t>
            </a:r>
          </a:p>
        </p:txBody>
      </p:sp>
      <p:sp>
        <p:nvSpPr>
          <p:cNvPr id="3" name="object 3"/>
          <p:cNvSpPr/>
          <p:nvPr/>
        </p:nvSpPr>
        <p:spPr>
          <a:xfrm>
            <a:off x="365404" y="621362"/>
            <a:ext cx="8412480" cy="27305"/>
          </a:xfrm>
          <a:custGeom>
            <a:avLst/>
            <a:gdLst/>
            <a:ahLst/>
            <a:cxnLst/>
            <a:rect l="l" t="t" r="r" b="b"/>
            <a:pathLst>
              <a:path w="8412480" h="27304">
                <a:moveTo>
                  <a:pt x="8412111" y="0"/>
                </a:moveTo>
                <a:lnTo>
                  <a:pt x="0" y="0"/>
                </a:lnTo>
                <a:lnTo>
                  <a:pt x="0" y="27000"/>
                </a:lnTo>
                <a:lnTo>
                  <a:pt x="4206240" y="27000"/>
                </a:lnTo>
                <a:lnTo>
                  <a:pt x="8412111" y="27000"/>
                </a:lnTo>
                <a:lnTo>
                  <a:pt x="8412111" y="0"/>
                </a:lnTo>
                <a:close/>
              </a:path>
            </a:pathLst>
          </a:custGeom>
          <a:solidFill>
            <a:srgbClr val="E778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10776" y="728537"/>
            <a:ext cx="3515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5</a:t>
            </a:r>
            <a:r>
              <a:rPr sz="950" spc="-3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endpoints</a:t>
            </a:r>
            <a:r>
              <a:rPr sz="950" spc="19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19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XGBoost</a:t>
            </a:r>
            <a:r>
              <a:rPr sz="950" spc="17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19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DNABERT-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2</a:t>
            </a:r>
            <a:r>
              <a:rPr sz="950" spc="17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19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Ensemble</a:t>
            </a:r>
            <a:r>
              <a:rPr sz="950" spc="17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19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Splice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Site</a:t>
            </a:r>
            <a:r>
              <a:rPr sz="950" spc="-2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Analysis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6240" y="903949"/>
            <a:ext cx="1529080" cy="1007110"/>
            <a:chOff x="246240" y="903949"/>
            <a:chExt cx="1529080" cy="10071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40" y="903949"/>
              <a:ext cx="1528559" cy="10069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5760" y="987477"/>
              <a:ext cx="1325880" cy="804545"/>
            </a:xfrm>
            <a:custGeom>
              <a:avLst/>
              <a:gdLst/>
              <a:ahLst/>
              <a:cxnLst/>
              <a:rect l="l" t="t" r="r" b="b"/>
              <a:pathLst>
                <a:path w="1325880" h="804544">
                  <a:moveTo>
                    <a:pt x="1325524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662762" y="804240"/>
                  </a:lnTo>
                  <a:lnTo>
                    <a:pt x="1325524" y="804240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0C3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98385" y="1076657"/>
            <a:ext cx="459105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" marR="40640" algn="ctr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Input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Variant</a:t>
            </a:r>
            <a:endParaRPr sz="95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695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chrom,</a:t>
            </a:r>
            <a:r>
              <a:rPr sz="750" spc="-3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CCEDFF"/>
                </a:solidFill>
                <a:latin typeface="Calibri"/>
                <a:cs typeface="Calibri"/>
              </a:rPr>
              <a:t>pos</a:t>
            </a:r>
            <a:r>
              <a:rPr sz="750" spc="50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ref,</a:t>
            </a:r>
            <a:r>
              <a:rPr sz="750" spc="-35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CCEDFF"/>
                </a:solidFill>
                <a:latin typeface="Calibri"/>
                <a:cs typeface="Calibri"/>
              </a:rPr>
              <a:t>alt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9384" y="1307903"/>
            <a:ext cx="14795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229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27644" y="903949"/>
            <a:ext cx="1529080" cy="1007110"/>
            <a:chOff x="1727644" y="903949"/>
            <a:chExt cx="1529080" cy="100711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7644" y="903949"/>
              <a:ext cx="1528559" cy="10069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47164" y="987477"/>
              <a:ext cx="1325880" cy="804545"/>
            </a:xfrm>
            <a:custGeom>
              <a:avLst/>
              <a:gdLst/>
              <a:ahLst/>
              <a:cxnLst/>
              <a:rect l="l" t="t" r="r" b="b"/>
              <a:pathLst>
                <a:path w="1325880" h="804544">
                  <a:moveTo>
                    <a:pt x="132551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662749" y="804240"/>
                  </a:lnTo>
                  <a:lnTo>
                    <a:pt x="1325511" y="804240"/>
                  </a:lnTo>
                  <a:lnTo>
                    <a:pt x="132551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86977" y="1076657"/>
            <a:ext cx="447675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Window Extract</a:t>
            </a:r>
            <a:endParaRPr sz="950">
              <a:latin typeface="Calibri"/>
              <a:cs typeface="Calibri"/>
            </a:endParaRPr>
          </a:p>
          <a:p>
            <a:pPr marL="76835" marR="58419" indent="-12065">
              <a:lnSpc>
                <a:spcPct val="100000"/>
              </a:lnSpc>
              <a:spcBef>
                <a:spcPts val="695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±200 </a:t>
            </a:r>
            <a:r>
              <a:rPr sz="750" spc="-25" dirty="0">
                <a:solidFill>
                  <a:srgbClr val="CCEDFF"/>
                </a:solidFill>
                <a:latin typeface="Calibri"/>
                <a:cs typeface="Calibri"/>
              </a:rPr>
              <a:t>bp</a:t>
            </a:r>
            <a:r>
              <a:rPr sz="750" spc="50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context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0775" y="1307903"/>
            <a:ext cx="14795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229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09035" y="903949"/>
            <a:ext cx="1529080" cy="1007110"/>
            <a:chOff x="3209035" y="903949"/>
            <a:chExt cx="1529080" cy="100711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9035" y="903949"/>
              <a:ext cx="1528559" cy="100693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28555" y="987477"/>
              <a:ext cx="1325880" cy="804545"/>
            </a:xfrm>
            <a:custGeom>
              <a:avLst/>
              <a:gdLst/>
              <a:ahLst/>
              <a:cxnLst/>
              <a:rect l="l" t="t" r="r" b="b"/>
              <a:pathLst>
                <a:path w="1325879" h="804544">
                  <a:moveTo>
                    <a:pt x="1325524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662762" y="804240"/>
                  </a:lnTo>
                  <a:lnTo>
                    <a:pt x="1325524" y="804240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2D9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56139" y="1076657"/>
            <a:ext cx="470534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 marR="36195" indent="-62865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Feature 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endParaRPr sz="950">
              <a:latin typeface="Calibri"/>
              <a:cs typeface="Calibri"/>
            </a:endParaRPr>
          </a:p>
          <a:p>
            <a:pPr marL="112395" marR="5080" indent="-100330">
              <a:lnSpc>
                <a:spcPct val="100000"/>
              </a:lnSpc>
              <a:spcBef>
                <a:spcPts val="695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12,301-</a:t>
            </a:r>
            <a:r>
              <a:rPr sz="750" spc="-25" dirty="0">
                <a:solidFill>
                  <a:srgbClr val="CCEDFF"/>
                </a:solidFill>
                <a:latin typeface="Calibri"/>
                <a:cs typeface="Calibri"/>
              </a:rPr>
              <a:t>dim</a:t>
            </a:r>
            <a:r>
              <a:rPr sz="750" spc="50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vector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42179" y="1307903"/>
            <a:ext cx="14795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229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90084" y="903949"/>
            <a:ext cx="1529080" cy="1007110"/>
            <a:chOff x="4690084" y="903949"/>
            <a:chExt cx="1529080" cy="100711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0084" y="903949"/>
              <a:ext cx="1528559" cy="100693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09604" y="987477"/>
              <a:ext cx="1325880" cy="804545"/>
            </a:xfrm>
            <a:custGeom>
              <a:avLst/>
              <a:gdLst/>
              <a:ahLst/>
              <a:cxnLst/>
              <a:rect l="l" t="t" r="r" b="b"/>
              <a:pathLst>
                <a:path w="1325879" h="804544">
                  <a:moveTo>
                    <a:pt x="132551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662749" y="804240"/>
                  </a:lnTo>
                  <a:lnTo>
                    <a:pt x="1325511" y="804240"/>
                  </a:lnTo>
                  <a:lnTo>
                    <a:pt x="1325511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247614" y="1149021"/>
            <a:ext cx="44830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XGBoost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09463" y="1511543"/>
            <a:ext cx="52514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prob</a:t>
            </a:r>
            <a:r>
              <a:rPr sz="750" spc="-45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(w=0.4)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23584" y="1307903"/>
            <a:ext cx="14795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229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71476" y="903949"/>
            <a:ext cx="1529080" cy="1007110"/>
            <a:chOff x="6171476" y="903949"/>
            <a:chExt cx="1529080" cy="100711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1476" y="903949"/>
              <a:ext cx="1528559" cy="100693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90995" y="987477"/>
              <a:ext cx="1325880" cy="804545"/>
            </a:xfrm>
            <a:custGeom>
              <a:avLst/>
              <a:gdLst/>
              <a:ahLst/>
              <a:cxnLst/>
              <a:rect l="l" t="t" r="r" b="b"/>
              <a:pathLst>
                <a:path w="1325879" h="804544">
                  <a:moveTo>
                    <a:pt x="1325524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662762" y="804240"/>
                  </a:lnTo>
                  <a:lnTo>
                    <a:pt x="1325524" y="804240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6A5D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700939" y="1149021"/>
            <a:ext cx="50545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DNABERT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90855" y="1511543"/>
            <a:ext cx="52514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CCEDFF"/>
                </a:solidFill>
                <a:latin typeface="Calibri"/>
                <a:cs typeface="Calibri"/>
              </a:rPr>
              <a:t>prob</a:t>
            </a:r>
            <a:r>
              <a:rPr sz="750" spc="-45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(w=0.6)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04975" y="1307903"/>
            <a:ext cx="14795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spc="229" dirty="0">
                <a:solidFill>
                  <a:srgbClr val="2A9EA8"/>
                </a:solidFill>
                <a:latin typeface="Cambria"/>
                <a:cs typeface="Cambria"/>
              </a:rPr>
              <a:t>▶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652880" y="903949"/>
            <a:ext cx="1490980" cy="1007110"/>
            <a:chOff x="7652880" y="903949"/>
            <a:chExt cx="1490980" cy="100711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52880" y="903949"/>
              <a:ext cx="1490751" cy="100693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772399" y="987477"/>
              <a:ext cx="1325880" cy="804545"/>
            </a:xfrm>
            <a:custGeom>
              <a:avLst/>
              <a:gdLst/>
              <a:ahLst/>
              <a:cxnLst/>
              <a:rect l="l" t="t" r="r" b="b"/>
              <a:pathLst>
                <a:path w="1325879" h="804544">
                  <a:moveTo>
                    <a:pt x="1325524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662762" y="804240"/>
                  </a:lnTo>
                  <a:lnTo>
                    <a:pt x="1325524" y="804240"/>
                  </a:lnTo>
                  <a:lnTo>
                    <a:pt x="1325524" y="0"/>
                  </a:lnTo>
                  <a:close/>
                </a:path>
              </a:pathLst>
            </a:custGeom>
            <a:solidFill>
              <a:srgbClr val="0C3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180184" y="1076657"/>
            <a:ext cx="509905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marR="5080" indent="-635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Ensemble Output</a:t>
            </a:r>
            <a:endParaRPr sz="950">
              <a:latin typeface="Calibri"/>
              <a:cs typeface="Calibri"/>
            </a:endParaRPr>
          </a:p>
          <a:p>
            <a:pPr marL="44450" marR="35560" indent="29209">
              <a:lnSpc>
                <a:spcPct val="100000"/>
              </a:lnSpc>
              <a:spcBef>
                <a:spcPts val="695"/>
              </a:spcBef>
            </a:pP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weighted</a:t>
            </a:r>
            <a:r>
              <a:rPr sz="750" spc="500" dirty="0">
                <a:solidFill>
                  <a:srgbClr val="CCED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CEDFF"/>
                </a:solidFill>
                <a:latin typeface="Calibri"/>
                <a:cs typeface="Calibri"/>
              </a:rPr>
              <a:t>probability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45884" y="1854710"/>
            <a:ext cx="5323840" cy="2762885"/>
            <a:chOff x="245884" y="1854710"/>
            <a:chExt cx="5323840" cy="2762885"/>
          </a:xfrm>
        </p:grpSpPr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884" y="1854710"/>
              <a:ext cx="5323319" cy="276265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65404" y="1938237"/>
              <a:ext cx="5120640" cy="2560320"/>
            </a:xfrm>
            <a:custGeom>
              <a:avLst/>
              <a:gdLst/>
              <a:ahLst/>
              <a:cxnLst/>
              <a:rect l="l" t="t" r="r" b="b"/>
              <a:pathLst>
                <a:path w="5120640" h="2560320">
                  <a:moveTo>
                    <a:pt x="5120271" y="0"/>
                  </a:moveTo>
                  <a:lnTo>
                    <a:pt x="0" y="0"/>
                  </a:lnTo>
                  <a:lnTo>
                    <a:pt x="0" y="2559964"/>
                  </a:lnTo>
                  <a:lnTo>
                    <a:pt x="2560320" y="2559964"/>
                  </a:lnTo>
                  <a:lnTo>
                    <a:pt x="5120271" y="2559964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79856" y="2042911"/>
            <a:ext cx="8343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C3A6D"/>
                </a:solidFill>
                <a:latin typeface="Calibri"/>
                <a:cs typeface="Calibri"/>
              </a:rPr>
              <a:t>API</a:t>
            </a:r>
            <a:r>
              <a:rPr sz="1100" b="1" spc="-20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C3A6D"/>
                </a:solidFill>
                <a:latin typeface="Calibri"/>
                <a:cs typeface="Calibri"/>
              </a:rPr>
              <a:t>Endpoints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02564" y="2368082"/>
            <a:ext cx="347980" cy="201930"/>
          </a:xfrm>
          <a:custGeom>
            <a:avLst/>
            <a:gdLst/>
            <a:ahLst/>
            <a:cxnLst/>
            <a:rect l="l" t="t" r="r" b="b"/>
            <a:pathLst>
              <a:path w="347980" h="201930">
                <a:moveTo>
                  <a:pt x="30594" y="0"/>
                </a:moveTo>
                <a:lnTo>
                  <a:pt x="24117" y="1803"/>
                </a:lnTo>
                <a:lnTo>
                  <a:pt x="18719" y="5041"/>
                </a:lnTo>
                <a:lnTo>
                  <a:pt x="12953" y="8280"/>
                </a:lnTo>
                <a:lnTo>
                  <a:pt x="8635" y="12953"/>
                </a:lnTo>
                <a:lnTo>
                  <a:pt x="5397" y="18364"/>
                </a:lnTo>
                <a:lnTo>
                  <a:pt x="2158" y="24117"/>
                </a:lnTo>
                <a:lnTo>
                  <a:pt x="355" y="30238"/>
                </a:lnTo>
                <a:lnTo>
                  <a:pt x="355" y="36715"/>
                </a:lnTo>
                <a:lnTo>
                  <a:pt x="0" y="164884"/>
                </a:lnTo>
                <a:lnTo>
                  <a:pt x="0" y="171361"/>
                </a:lnTo>
                <a:lnTo>
                  <a:pt x="1692" y="177482"/>
                </a:lnTo>
                <a:lnTo>
                  <a:pt x="1790" y="177838"/>
                </a:lnTo>
                <a:lnTo>
                  <a:pt x="5041" y="183235"/>
                </a:lnTo>
                <a:lnTo>
                  <a:pt x="8280" y="189001"/>
                </a:lnTo>
                <a:lnTo>
                  <a:pt x="12953" y="193319"/>
                </a:lnTo>
                <a:lnTo>
                  <a:pt x="18351" y="196557"/>
                </a:lnTo>
                <a:lnTo>
                  <a:pt x="24117" y="199796"/>
                </a:lnTo>
                <a:lnTo>
                  <a:pt x="30238" y="201599"/>
                </a:lnTo>
                <a:lnTo>
                  <a:pt x="317512" y="201599"/>
                </a:lnTo>
                <a:lnTo>
                  <a:pt x="323989" y="199796"/>
                </a:lnTo>
                <a:lnTo>
                  <a:pt x="329399" y="196557"/>
                </a:lnTo>
                <a:lnTo>
                  <a:pt x="335153" y="193319"/>
                </a:lnTo>
                <a:lnTo>
                  <a:pt x="339471" y="188645"/>
                </a:lnTo>
                <a:lnTo>
                  <a:pt x="342709" y="183235"/>
                </a:lnTo>
                <a:lnTo>
                  <a:pt x="345960" y="177482"/>
                </a:lnTo>
                <a:lnTo>
                  <a:pt x="347751" y="171361"/>
                </a:lnTo>
                <a:lnTo>
                  <a:pt x="347653" y="30238"/>
                </a:lnTo>
                <a:lnTo>
                  <a:pt x="345960" y="24117"/>
                </a:lnTo>
                <a:lnTo>
                  <a:pt x="342709" y="18719"/>
                </a:lnTo>
                <a:lnTo>
                  <a:pt x="339471" y="12953"/>
                </a:lnTo>
                <a:lnTo>
                  <a:pt x="334797" y="8635"/>
                </a:lnTo>
                <a:lnTo>
                  <a:pt x="329399" y="5397"/>
                </a:lnTo>
                <a:lnTo>
                  <a:pt x="323634" y="2158"/>
                </a:lnTo>
                <a:lnTo>
                  <a:pt x="317512" y="355"/>
                </a:lnTo>
                <a:lnTo>
                  <a:pt x="30594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60057" y="2398943"/>
            <a:ext cx="23304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0" dirty="0">
                <a:solidFill>
                  <a:srgbClr val="FFFFFF"/>
                </a:solidFill>
                <a:latin typeface="Calibri"/>
                <a:cs typeface="Calibri"/>
              </a:rPr>
              <a:t>POST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01344" y="2383461"/>
            <a:ext cx="6578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2A9EA8"/>
                </a:solidFill>
                <a:latin typeface="Calibri"/>
                <a:cs typeface="Calibri"/>
              </a:rPr>
              <a:t>/predict/xgb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92984" y="2387068"/>
            <a:ext cx="21558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XGBoost-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only</a:t>
            </a:r>
            <a:r>
              <a:rPr sz="900" spc="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variant</a:t>
            </a:r>
            <a:r>
              <a:rPr sz="900" spc="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pathogenicity</a:t>
            </a:r>
            <a:r>
              <a:rPr sz="900" spc="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prediction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02564" y="2770202"/>
            <a:ext cx="347980" cy="201930"/>
          </a:xfrm>
          <a:custGeom>
            <a:avLst/>
            <a:gdLst/>
            <a:ahLst/>
            <a:cxnLst/>
            <a:rect l="l" t="t" r="r" b="b"/>
            <a:pathLst>
              <a:path w="347980" h="201930">
                <a:moveTo>
                  <a:pt x="30594" y="0"/>
                </a:moveTo>
                <a:lnTo>
                  <a:pt x="24117" y="1803"/>
                </a:lnTo>
                <a:lnTo>
                  <a:pt x="18719" y="5041"/>
                </a:lnTo>
                <a:lnTo>
                  <a:pt x="12953" y="8280"/>
                </a:lnTo>
                <a:lnTo>
                  <a:pt x="8635" y="12954"/>
                </a:lnTo>
                <a:lnTo>
                  <a:pt x="5397" y="18364"/>
                </a:lnTo>
                <a:lnTo>
                  <a:pt x="2158" y="24117"/>
                </a:lnTo>
                <a:lnTo>
                  <a:pt x="355" y="30238"/>
                </a:lnTo>
                <a:lnTo>
                  <a:pt x="355" y="36715"/>
                </a:lnTo>
                <a:lnTo>
                  <a:pt x="0" y="164884"/>
                </a:lnTo>
                <a:lnTo>
                  <a:pt x="0" y="171361"/>
                </a:lnTo>
                <a:lnTo>
                  <a:pt x="1692" y="177482"/>
                </a:lnTo>
                <a:lnTo>
                  <a:pt x="1790" y="177838"/>
                </a:lnTo>
                <a:lnTo>
                  <a:pt x="5041" y="183235"/>
                </a:lnTo>
                <a:lnTo>
                  <a:pt x="8280" y="189001"/>
                </a:lnTo>
                <a:lnTo>
                  <a:pt x="12953" y="193319"/>
                </a:lnTo>
                <a:lnTo>
                  <a:pt x="18351" y="196557"/>
                </a:lnTo>
                <a:lnTo>
                  <a:pt x="24117" y="199796"/>
                </a:lnTo>
                <a:lnTo>
                  <a:pt x="30238" y="201599"/>
                </a:lnTo>
                <a:lnTo>
                  <a:pt x="317512" y="201599"/>
                </a:lnTo>
                <a:lnTo>
                  <a:pt x="323989" y="199796"/>
                </a:lnTo>
                <a:lnTo>
                  <a:pt x="329399" y="196557"/>
                </a:lnTo>
                <a:lnTo>
                  <a:pt x="335153" y="193319"/>
                </a:lnTo>
                <a:lnTo>
                  <a:pt x="339471" y="188645"/>
                </a:lnTo>
                <a:lnTo>
                  <a:pt x="342709" y="183235"/>
                </a:lnTo>
                <a:lnTo>
                  <a:pt x="345960" y="177482"/>
                </a:lnTo>
                <a:lnTo>
                  <a:pt x="347751" y="171361"/>
                </a:lnTo>
                <a:lnTo>
                  <a:pt x="347653" y="30238"/>
                </a:lnTo>
                <a:lnTo>
                  <a:pt x="345960" y="24117"/>
                </a:lnTo>
                <a:lnTo>
                  <a:pt x="342709" y="18719"/>
                </a:lnTo>
                <a:lnTo>
                  <a:pt x="339471" y="12954"/>
                </a:lnTo>
                <a:lnTo>
                  <a:pt x="334797" y="8636"/>
                </a:lnTo>
                <a:lnTo>
                  <a:pt x="329399" y="5397"/>
                </a:lnTo>
                <a:lnTo>
                  <a:pt x="323634" y="2159"/>
                </a:lnTo>
                <a:lnTo>
                  <a:pt x="317512" y="355"/>
                </a:lnTo>
                <a:lnTo>
                  <a:pt x="30594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60057" y="2801063"/>
            <a:ext cx="23304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0" dirty="0">
                <a:solidFill>
                  <a:srgbClr val="FFFFFF"/>
                </a:solidFill>
                <a:latin typeface="Calibri"/>
                <a:cs typeface="Calibri"/>
              </a:rPr>
              <a:t>POST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01344" y="2785937"/>
            <a:ext cx="8782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2A9EA8"/>
                </a:solidFill>
                <a:latin typeface="Calibri"/>
                <a:cs typeface="Calibri"/>
              </a:rPr>
              <a:t>/predict/dnabert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92984" y="2789544"/>
            <a:ext cx="23285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DNABERT-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2-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only</a:t>
            </a:r>
            <a:r>
              <a:rPr sz="900" spc="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deep</a:t>
            </a:r>
            <a:r>
              <a:rPr sz="900" spc="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sequence-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based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prediction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02564" y="3172677"/>
            <a:ext cx="347980" cy="201930"/>
          </a:xfrm>
          <a:custGeom>
            <a:avLst/>
            <a:gdLst/>
            <a:ahLst/>
            <a:cxnLst/>
            <a:rect l="l" t="t" r="r" b="b"/>
            <a:pathLst>
              <a:path w="347980" h="201929">
                <a:moveTo>
                  <a:pt x="30594" y="0"/>
                </a:moveTo>
                <a:lnTo>
                  <a:pt x="24117" y="1803"/>
                </a:lnTo>
                <a:lnTo>
                  <a:pt x="18719" y="5041"/>
                </a:lnTo>
                <a:lnTo>
                  <a:pt x="12953" y="8280"/>
                </a:lnTo>
                <a:lnTo>
                  <a:pt x="8635" y="12966"/>
                </a:lnTo>
                <a:lnTo>
                  <a:pt x="5397" y="18364"/>
                </a:lnTo>
                <a:lnTo>
                  <a:pt x="2158" y="24130"/>
                </a:lnTo>
                <a:lnTo>
                  <a:pt x="355" y="30238"/>
                </a:lnTo>
                <a:lnTo>
                  <a:pt x="355" y="36728"/>
                </a:lnTo>
                <a:lnTo>
                  <a:pt x="0" y="164884"/>
                </a:lnTo>
                <a:lnTo>
                  <a:pt x="0" y="171361"/>
                </a:lnTo>
                <a:lnTo>
                  <a:pt x="1692" y="177482"/>
                </a:lnTo>
                <a:lnTo>
                  <a:pt x="1790" y="177838"/>
                </a:lnTo>
                <a:lnTo>
                  <a:pt x="5041" y="183248"/>
                </a:lnTo>
                <a:lnTo>
                  <a:pt x="8280" y="189001"/>
                </a:lnTo>
                <a:lnTo>
                  <a:pt x="12953" y="193319"/>
                </a:lnTo>
                <a:lnTo>
                  <a:pt x="18351" y="196557"/>
                </a:lnTo>
                <a:lnTo>
                  <a:pt x="24117" y="199809"/>
                </a:lnTo>
                <a:lnTo>
                  <a:pt x="30238" y="201599"/>
                </a:lnTo>
                <a:lnTo>
                  <a:pt x="317512" y="201599"/>
                </a:lnTo>
                <a:lnTo>
                  <a:pt x="323989" y="199809"/>
                </a:lnTo>
                <a:lnTo>
                  <a:pt x="329399" y="196557"/>
                </a:lnTo>
                <a:lnTo>
                  <a:pt x="335153" y="193319"/>
                </a:lnTo>
                <a:lnTo>
                  <a:pt x="339471" y="188645"/>
                </a:lnTo>
                <a:lnTo>
                  <a:pt x="342709" y="183248"/>
                </a:lnTo>
                <a:lnTo>
                  <a:pt x="345960" y="177482"/>
                </a:lnTo>
                <a:lnTo>
                  <a:pt x="347751" y="171361"/>
                </a:lnTo>
                <a:lnTo>
                  <a:pt x="347649" y="30238"/>
                </a:lnTo>
                <a:lnTo>
                  <a:pt x="345960" y="24130"/>
                </a:lnTo>
                <a:lnTo>
                  <a:pt x="342709" y="18719"/>
                </a:lnTo>
                <a:lnTo>
                  <a:pt x="339471" y="12966"/>
                </a:lnTo>
                <a:lnTo>
                  <a:pt x="334797" y="8648"/>
                </a:lnTo>
                <a:lnTo>
                  <a:pt x="329399" y="5410"/>
                </a:lnTo>
                <a:lnTo>
                  <a:pt x="323634" y="2159"/>
                </a:lnTo>
                <a:lnTo>
                  <a:pt x="317512" y="368"/>
                </a:lnTo>
                <a:lnTo>
                  <a:pt x="30594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60057" y="3203538"/>
            <a:ext cx="23304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0" dirty="0">
                <a:solidFill>
                  <a:srgbClr val="FFFFFF"/>
                </a:solidFill>
                <a:latin typeface="Calibri"/>
                <a:cs typeface="Calibri"/>
              </a:rPr>
              <a:t>POST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01344" y="3188057"/>
            <a:ext cx="9645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2A9EA8"/>
                </a:solidFill>
                <a:latin typeface="Calibri"/>
                <a:cs typeface="Calibri"/>
              </a:rPr>
              <a:t>/predict/ensemble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592984" y="3122906"/>
            <a:ext cx="2323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Weighted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ensemble</a:t>
            </a:r>
            <a:r>
              <a:rPr sz="90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(XGB×0.4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+</a:t>
            </a:r>
            <a:r>
              <a:rPr sz="90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DNABERT×0.6)</a:t>
            </a:r>
            <a:r>
              <a:rPr sz="90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3B6377"/>
                </a:solidFill>
                <a:latin typeface="Calibri"/>
                <a:cs typeface="Calibri"/>
              </a:rPr>
              <a:t>—</a:t>
            </a:r>
            <a:r>
              <a:rPr sz="90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recommended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02564" y="3574798"/>
            <a:ext cx="347980" cy="201930"/>
          </a:xfrm>
          <a:custGeom>
            <a:avLst/>
            <a:gdLst/>
            <a:ahLst/>
            <a:cxnLst/>
            <a:rect l="l" t="t" r="r" b="b"/>
            <a:pathLst>
              <a:path w="347980" h="201929">
                <a:moveTo>
                  <a:pt x="30594" y="0"/>
                </a:moveTo>
                <a:lnTo>
                  <a:pt x="24117" y="1803"/>
                </a:lnTo>
                <a:lnTo>
                  <a:pt x="18719" y="5041"/>
                </a:lnTo>
                <a:lnTo>
                  <a:pt x="12953" y="8280"/>
                </a:lnTo>
                <a:lnTo>
                  <a:pt x="8635" y="12966"/>
                </a:lnTo>
                <a:lnTo>
                  <a:pt x="5397" y="18364"/>
                </a:lnTo>
                <a:lnTo>
                  <a:pt x="2158" y="24129"/>
                </a:lnTo>
                <a:lnTo>
                  <a:pt x="355" y="30238"/>
                </a:lnTo>
                <a:lnTo>
                  <a:pt x="355" y="36728"/>
                </a:lnTo>
                <a:lnTo>
                  <a:pt x="0" y="164884"/>
                </a:lnTo>
                <a:lnTo>
                  <a:pt x="0" y="171361"/>
                </a:lnTo>
                <a:lnTo>
                  <a:pt x="1692" y="177482"/>
                </a:lnTo>
                <a:lnTo>
                  <a:pt x="1790" y="177838"/>
                </a:lnTo>
                <a:lnTo>
                  <a:pt x="5041" y="183248"/>
                </a:lnTo>
                <a:lnTo>
                  <a:pt x="8280" y="189001"/>
                </a:lnTo>
                <a:lnTo>
                  <a:pt x="12953" y="193319"/>
                </a:lnTo>
                <a:lnTo>
                  <a:pt x="18351" y="196557"/>
                </a:lnTo>
                <a:lnTo>
                  <a:pt x="24117" y="199809"/>
                </a:lnTo>
                <a:lnTo>
                  <a:pt x="30238" y="201599"/>
                </a:lnTo>
                <a:lnTo>
                  <a:pt x="317512" y="201599"/>
                </a:lnTo>
                <a:lnTo>
                  <a:pt x="323989" y="199809"/>
                </a:lnTo>
                <a:lnTo>
                  <a:pt x="329399" y="196557"/>
                </a:lnTo>
                <a:lnTo>
                  <a:pt x="335153" y="193319"/>
                </a:lnTo>
                <a:lnTo>
                  <a:pt x="339471" y="188645"/>
                </a:lnTo>
                <a:lnTo>
                  <a:pt x="342709" y="183248"/>
                </a:lnTo>
                <a:lnTo>
                  <a:pt x="345960" y="177482"/>
                </a:lnTo>
                <a:lnTo>
                  <a:pt x="347751" y="171361"/>
                </a:lnTo>
                <a:lnTo>
                  <a:pt x="347649" y="30238"/>
                </a:lnTo>
                <a:lnTo>
                  <a:pt x="345960" y="24129"/>
                </a:lnTo>
                <a:lnTo>
                  <a:pt x="342709" y="18719"/>
                </a:lnTo>
                <a:lnTo>
                  <a:pt x="339471" y="12966"/>
                </a:lnTo>
                <a:lnTo>
                  <a:pt x="334797" y="8648"/>
                </a:lnTo>
                <a:lnTo>
                  <a:pt x="329399" y="5410"/>
                </a:lnTo>
                <a:lnTo>
                  <a:pt x="323634" y="2158"/>
                </a:lnTo>
                <a:lnTo>
                  <a:pt x="317512" y="368"/>
                </a:lnTo>
                <a:lnTo>
                  <a:pt x="30594" y="0"/>
                </a:lnTo>
                <a:close/>
              </a:path>
            </a:pathLst>
          </a:custGeom>
          <a:solidFill>
            <a:srgbClr val="2A9E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60057" y="3605658"/>
            <a:ext cx="23304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0" dirty="0">
                <a:solidFill>
                  <a:srgbClr val="FFFFFF"/>
                </a:solidFill>
                <a:latin typeface="Calibri"/>
                <a:cs typeface="Calibri"/>
              </a:rPr>
              <a:t>POST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01344" y="3590545"/>
            <a:ext cx="104584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2A9EA8"/>
                </a:solidFill>
                <a:latin typeface="Calibri"/>
                <a:cs typeface="Calibri"/>
              </a:rPr>
              <a:t>/predict/splice_sites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592984" y="3525382"/>
            <a:ext cx="2625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Full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PWM</a:t>
            </a:r>
            <a:r>
              <a:rPr sz="9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splice-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site</a:t>
            </a:r>
            <a:r>
              <a:rPr sz="900" spc="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analysis:</a:t>
            </a:r>
            <a:r>
              <a:rPr sz="9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disrupted,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created,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cryptic</a:t>
            </a:r>
            <a:r>
              <a:rPr sz="900" spc="5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sites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02564" y="3977286"/>
            <a:ext cx="347980" cy="201930"/>
          </a:xfrm>
          <a:custGeom>
            <a:avLst/>
            <a:gdLst/>
            <a:ahLst/>
            <a:cxnLst/>
            <a:rect l="l" t="t" r="r" b="b"/>
            <a:pathLst>
              <a:path w="347980" h="201929">
                <a:moveTo>
                  <a:pt x="30594" y="0"/>
                </a:moveTo>
                <a:lnTo>
                  <a:pt x="24117" y="1790"/>
                </a:lnTo>
                <a:lnTo>
                  <a:pt x="18719" y="5041"/>
                </a:lnTo>
                <a:lnTo>
                  <a:pt x="12953" y="8280"/>
                </a:lnTo>
                <a:lnTo>
                  <a:pt x="8635" y="12953"/>
                </a:lnTo>
                <a:lnTo>
                  <a:pt x="5397" y="18351"/>
                </a:lnTo>
                <a:lnTo>
                  <a:pt x="2158" y="24117"/>
                </a:lnTo>
                <a:lnTo>
                  <a:pt x="355" y="30238"/>
                </a:lnTo>
                <a:lnTo>
                  <a:pt x="355" y="36715"/>
                </a:lnTo>
                <a:lnTo>
                  <a:pt x="0" y="164871"/>
                </a:lnTo>
                <a:lnTo>
                  <a:pt x="0" y="171361"/>
                </a:lnTo>
                <a:lnTo>
                  <a:pt x="1688" y="177469"/>
                </a:lnTo>
                <a:lnTo>
                  <a:pt x="1790" y="177838"/>
                </a:lnTo>
                <a:lnTo>
                  <a:pt x="5041" y="183235"/>
                </a:lnTo>
                <a:lnTo>
                  <a:pt x="8280" y="189001"/>
                </a:lnTo>
                <a:lnTo>
                  <a:pt x="12953" y="193319"/>
                </a:lnTo>
                <a:lnTo>
                  <a:pt x="18351" y="196557"/>
                </a:lnTo>
                <a:lnTo>
                  <a:pt x="24117" y="199796"/>
                </a:lnTo>
                <a:lnTo>
                  <a:pt x="30238" y="201599"/>
                </a:lnTo>
                <a:lnTo>
                  <a:pt x="317512" y="201599"/>
                </a:lnTo>
                <a:lnTo>
                  <a:pt x="323989" y="199796"/>
                </a:lnTo>
                <a:lnTo>
                  <a:pt x="329399" y="196557"/>
                </a:lnTo>
                <a:lnTo>
                  <a:pt x="335153" y="193319"/>
                </a:lnTo>
                <a:lnTo>
                  <a:pt x="339471" y="188633"/>
                </a:lnTo>
                <a:lnTo>
                  <a:pt x="342709" y="183235"/>
                </a:lnTo>
                <a:lnTo>
                  <a:pt x="345960" y="177469"/>
                </a:lnTo>
                <a:lnTo>
                  <a:pt x="347751" y="171361"/>
                </a:lnTo>
                <a:lnTo>
                  <a:pt x="347653" y="30238"/>
                </a:lnTo>
                <a:lnTo>
                  <a:pt x="345960" y="24117"/>
                </a:lnTo>
                <a:lnTo>
                  <a:pt x="342709" y="18719"/>
                </a:lnTo>
                <a:lnTo>
                  <a:pt x="339471" y="12953"/>
                </a:lnTo>
                <a:lnTo>
                  <a:pt x="334797" y="8635"/>
                </a:lnTo>
                <a:lnTo>
                  <a:pt x="329399" y="5397"/>
                </a:lnTo>
                <a:lnTo>
                  <a:pt x="323634" y="2158"/>
                </a:lnTo>
                <a:lnTo>
                  <a:pt x="317512" y="355"/>
                </a:lnTo>
                <a:lnTo>
                  <a:pt x="30594" y="0"/>
                </a:lnTo>
                <a:close/>
              </a:path>
            </a:pathLst>
          </a:custGeom>
          <a:solidFill>
            <a:srgbClr val="2D9D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560577" y="3992665"/>
            <a:ext cx="7626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53060" algn="l"/>
              </a:tabLst>
            </a:pPr>
            <a:r>
              <a:rPr sz="1125" b="1" spc="-37" baseline="7407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1125" b="1" baseline="7407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950" b="1" spc="-10" dirty="0">
                <a:solidFill>
                  <a:srgbClr val="2A9EA8"/>
                </a:solidFill>
                <a:latin typeface="Calibri"/>
                <a:cs typeface="Calibri"/>
              </a:rPr>
              <a:t>/health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592984" y="3996260"/>
            <a:ext cx="19589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Model</a:t>
            </a:r>
            <a:r>
              <a:rPr sz="900" spc="-2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load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status,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thresholds,</a:t>
            </a:r>
            <a:r>
              <a:rPr sz="900" spc="-2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device</a:t>
            </a:r>
            <a:r>
              <a:rPr sz="900" spc="-20" dirty="0">
                <a:solidFill>
                  <a:srgbClr val="3B6377"/>
                </a:solidFill>
                <a:latin typeface="Calibri"/>
                <a:cs typeface="Calibri"/>
              </a:rPr>
              <a:t> info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549404" y="1854710"/>
            <a:ext cx="3403600" cy="2762885"/>
            <a:chOff x="5549404" y="1854710"/>
            <a:chExt cx="3403600" cy="2762885"/>
          </a:xfrm>
        </p:grpSpPr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9404" y="1854710"/>
              <a:ext cx="3403079" cy="2762656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5668924" y="1938237"/>
              <a:ext cx="3200400" cy="2560320"/>
            </a:xfrm>
            <a:custGeom>
              <a:avLst/>
              <a:gdLst/>
              <a:ahLst/>
              <a:cxnLst/>
              <a:rect l="l" t="t" r="r" b="b"/>
              <a:pathLst>
                <a:path w="3200400" h="2560320">
                  <a:moveTo>
                    <a:pt x="3200031" y="0"/>
                  </a:moveTo>
                  <a:lnTo>
                    <a:pt x="0" y="0"/>
                  </a:lnTo>
                  <a:lnTo>
                    <a:pt x="0" y="2559964"/>
                  </a:lnTo>
                  <a:lnTo>
                    <a:pt x="1600199" y="2559964"/>
                  </a:lnTo>
                  <a:lnTo>
                    <a:pt x="3200031" y="2559964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0C3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883376" y="2041107"/>
            <a:ext cx="92519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A9EA8"/>
                </a:solidFill>
                <a:latin typeface="Calibri"/>
                <a:cs typeface="Calibri"/>
              </a:rPr>
              <a:t>Example</a:t>
            </a:r>
            <a:r>
              <a:rPr sz="1000" b="1" dirty="0">
                <a:solidFill>
                  <a:srgbClr val="2A9EA8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2A9EA8"/>
                </a:solidFill>
                <a:latin typeface="Calibri"/>
                <a:cs typeface="Calibri"/>
              </a:rPr>
              <a:t>Request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883376" y="2318298"/>
            <a:ext cx="1978025" cy="932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A9DCED"/>
                </a:solidFill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</a:pPr>
            <a:r>
              <a:rPr sz="850" dirty="0">
                <a:solidFill>
                  <a:srgbClr val="A9DCED"/>
                </a:solidFill>
                <a:latin typeface="Courier New"/>
                <a:cs typeface="Courier New"/>
              </a:rPr>
              <a:t>"chrom":</a:t>
            </a:r>
            <a:r>
              <a:rPr sz="850" spc="-70" dirty="0">
                <a:solidFill>
                  <a:srgbClr val="A9DCED"/>
                </a:solidFill>
                <a:latin typeface="Courier New"/>
                <a:cs typeface="Courier New"/>
              </a:rPr>
              <a:t> </a:t>
            </a:r>
            <a:r>
              <a:rPr sz="850" spc="-20" dirty="0">
                <a:solidFill>
                  <a:srgbClr val="A9DCED"/>
                </a:solidFill>
                <a:latin typeface="Courier New"/>
                <a:cs typeface="Courier New"/>
              </a:rPr>
              <a:t>"1",</a:t>
            </a:r>
            <a:endParaRPr sz="850">
              <a:latin typeface="Courier New"/>
              <a:cs typeface="Courier New"/>
            </a:endParaRPr>
          </a:p>
          <a:p>
            <a:pPr marL="142240" marR="591185">
              <a:lnSpc>
                <a:spcPct val="100000"/>
              </a:lnSpc>
            </a:pPr>
            <a:r>
              <a:rPr sz="850" dirty="0">
                <a:solidFill>
                  <a:srgbClr val="A9DCED"/>
                </a:solidFill>
                <a:latin typeface="Courier New"/>
                <a:cs typeface="Courier New"/>
              </a:rPr>
              <a:t>"position":</a:t>
            </a:r>
            <a:r>
              <a:rPr sz="850" spc="-95" dirty="0">
                <a:solidFill>
                  <a:srgbClr val="A9DCED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A9DCED"/>
                </a:solidFill>
                <a:latin typeface="Courier New"/>
                <a:cs typeface="Courier New"/>
              </a:rPr>
              <a:t>925952, </a:t>
            </a:r>
            <a:r>
              <a:rPr sz="850" dirty="0">
                <a:solidFill>
                  <a:srgbClr val="A9DCED"/>
                </a:solidFill>
                <a:latin typeface="Courier New"/>
                <a:cs typeface="Courier New"/>
              </a:rPr>
              <a:t>"ref":</a:t>
            </a:r>
            <a:r>
              <a:rPr sz="850" spc="-50" dirty="0">
                <a:solidFill>
                  <a:srgbClr val="A9DCED"/>
                </a:solidFill>
                <a:latin typeface="Courier New"/>
                <a:cs typeface="Courier New"/>
              </a:rPr>
              <a:t> </a:t>
            </a:r>
            <a:r>
              <a:rPr sz="850" spc="-20" dirty="0">
                <a:solidFill>
                  <a:srgbClr val="A9DCED"/>
                </a:solidFill>
                <a:latin typeface="Courier New"/>
                <a:cs typeface="Courier New"/>
              </a:rPr>
              <a:t>"G",</a:t>
            </a:r>
            <a:endParaRPr sz="85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</a:pPr>
            <a:r>
              <a:rPr sz="850" dirty="0">
                <a:solidFill>
                  <a:srgbClr val="A9DCED"/>
                </a:solidFill>
                <a:latin typeface="Courier New"/>
                <a:cs typeface="Courier New"/>
              </a:rPr>
              <a:t>"alt":</a:t>
            </a:r>
            <a:r>
              <a:rPr sz="850" spc="-50" dirty="0">
                <a:solidFill>
                  <a:srgbClr val="A9DCED"/>
                </a:solidFill>
                <a:latin typeface="Courier New"/>
                <a:cs typeface="Courier New"/>
              </a:rPr>
              <a:t> </a:t>
            </a:r>
            <a:r>
              <a:rPr sz="850" spc="-20" dirty="0">
                <a:solidFill>
                  <a:srgbClr val="A9DCED"/>
                </a:solidFill>
                <a:latin typeface="Courier New"/>
                <a:cs typeface="Courier New"/>
              </a:rPr>
              <a:t>"A",</a:t>
            </a:r>
            <a:endParaRPr sz="85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</a:pPr>
            <a:r>
              <a:rPr sz="850" dirty="0">
                <a:solidFill>
                  <a:srgbClr val="A9DCED"/>
                </a:solidFill>
                <a:latin typeface="Courier New"/>
                <a:cs typeface="Courier New"/>
              </a:rPr>
              <a:t>"ref_seq":</a:t>
            </a:r>
            <a:r>
              <a:rPr sz="850" spc="-70" dirty="0">
                <a:solidFill>
                  <a:srgbClr val="A9DCED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A9DCED"/>
                </a:solidFill>
                <a:latin typeface="Courier New"/>
                <a:cs typeface="Courier New"/>
              </a:rPr>
              <a:t>"&lt;±200bp</a:t>
            </a:r>
            <a:r>
              <a:rPr sz="850" spc="-80" dirty="0">
                <a:solidFill>
                  <a:srgbClr val="A9DCED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A9DCED"/>
                </a:solidFill>
                <a:latin typeface="Courier New"/>
                <a:cs typeface="Courier New"/>
              </a:rPr>
              <a:t>window&gt;"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850" spc="-50" dirty="0">
                <a:solidFill>
                  <a:srgbClr val="A9DCED"/>
                </a:solidFill>
                <a:latin typeface="Courier New"/>
                <a:cs typeface="Courier New"/>
              </a:rPr>
              <a:t>}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883376" y="3356548"/>
            <a:ext cx="1833245" cy="508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A9EA8"/>
                </a:solidFill>
                <a:latin typeface="Calibri"/>
                <a:cs typeface="Calibri"/>
              </a:rPr>
              <a:t>Response</a:t>
            </a:r>
            <a:r>
              <a:rPr sz="900" b="1" spc="15" dirty="0">
                <a:solidFill>
                  <a:srgbClr val="2A9EA8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2A9EA8"/>
                </a:solidFill>
                <a:latin typeface="Calibri"/>
                <a:cs typeface="Calibri"/>
              </a:rPr>
              <a:t>fields: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80"/>
              </a:spcBef>
            </a:pPr>
            <a:r>
              <a:rPr sz="850" spc="-10" dirty="0">
                <a:solidFill>
                  <a:srgbClr val="A9DCED"/>
                </a:solidFill>
                <a:latin typeface="Calibri"/>
                <a:cs typeface="Calibri"/>
              </a:rPr>
              <a:t>probability</a:t>
            </a:r>
            <a:r>
              <a:rPr sz="850" dirty="0">
                <a:solidFill>
                  <a:srgbClr val="A9DCED"/>
                </a:solidFill>
                <a:latin typeface="Calibri"/>
                <a:cs typeface="Calibri"/>
              </a:rPr>
              <a:t> ·</a:t>
            </a:r>
            <a:r>
              <a:rPr sz="850" spc="5" dirty="0">
                <a:solidFill>
                  <a:srgbClr val="A9DCED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A9DCED"/>
                </a:solidFill>
                <a:latin typeface="Calibri"/>
                <a:cs typeface="Calibri"/>
              </a:rPr>
              <a:t>prediction</a:t>
            </a:r>
            <a:r>
              <a:rPr sz="850" spc="10" dirty="0">
                <a:solidFill>
                  <a:srgbClr val="A9DCED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9DCED"/>
                </a:solidFill>
                <a:latin typeface="Calibri"/>
                <a:cs typeface="Calibri"/>
              </a:rPr>
              <a:t>· </a:t>
            </a:r>
            <a:r>
              <a:rPr sz="850" spc="-10" dirty="0">
                <a:solidFill>
                  <a:srgbClr val="A9DCED"/>
                </a:solidFill>
                <a:latin typeface="Calibri"/>
                <a:cs typeface="Calibri"/>
              </a:rPr>
              <a:t>confidence</a:t>
            </a:r>
            <a:r>
              <a:rPr sz="850" spc="500" dirty="0">
                <a:solidFill>
                  <a:srgbClr val="A9DCED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A9DCED"/>
                </a:solidFill>
                <a:latin typeface="Calibri"/>
                <a:cs typeface="Calibri"/>
              </a:rPr>
              <a:t>mutation_type</a:t>
            </a:r>
            <a:r>
              <a:rPr sz="850" spc="5" dirty="0">
                <a:solidFill>
                  <a:srgbClr val="A9DCED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9DCED"/>
                </a:solidFill>
                <a:latin typeface="Calibri"/>
                <a:cs typeface="Calibri"/>
              </a:rPr>
              <a:t>·</a:t>
            </a:r>
            <a:r>
              <a:rPr sz="850" spc="5" dirty="0">
                <a:solidFill>
                  <a:srgbClr val="A9DCED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A9DCED"/>
                </a:solidFill>
                <a:latin typeface="Calibri"/>
                <a:cs typeface="Calibri"/>
              </a:rPr>
              <a:t>mechanism</a:t>
            </a:r>
            <a:r>
              <a:rPr sz="850" spc="15" dirty="0">
                <a:solidFill>
                  <a:srgbClr val="A9DCED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9DCED"/>
                </a:solidFill>
                <a:latin typeface="Calibri"/>
                <a:cs typeface="Calibri"/>
              </a:rPr>
              <a:t>·</a:t>
            </a:r>
            <a:r>
              <a:rPr sz="850" spc="10" dirty="0">
                <a:solidFill>
                  <a:srgbClr val="A9DCED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A9DCED"/>
                </a:solidFill>
                <a:latin typeface="Calibri"/>
                <a:cs typeface="Calibri"/>
              </a:rPr>
              <a:t>latency_ms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65404" y="4572001"/>
            <a:ext cx="8412480" cy="347345"/>
          </a:xfrm>
          <a:custGeom>
            <a:avLst/>
            <a:gdLst/>
            <a:ahLst/>
            <a:cxnLst/>
            <a:rect l="l" t="t" r="r" b="b"/>
            <a:pathLst>
              <a:path w="8412480" h="347345">
                <a:moveTo>
                  <a:pt x="8412111" y="0"/>
                </a:moveTo>
                <a:lnTo>
                  <a:pt x="0" y="0"/>
                </a:lnTo>
                <a:lnTo>
                  <a:pt x="0" y="347040"/>
                </a:lnTo>
                <a:lnTo>
                  <a:pt x="4206240" y="347040"/>
                </a:lnTo>
                <a:lnTo>
                  <a:pt x="8412111" y="347040"/>
                </a:lnTo>
                <a:lnTo>
                  <a:pt x="8412111" y="0"/>
                </a:lnTo>
                <a:close/>
              </a:path>
            </a:pathLst>
          </a:custGeom>
          <a:solidFill>
            <a:srgbClr val="E9F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283665" y="4664064"/>
            <a:ext cx="65798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Sub-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second</a:t>
            </a:r>
            <a:r>
              <a:rPr sz="900" spc="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inference</a:t>
            </a:r>
            <a:r>
              <a:rPr sz="9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latency</a:t>
            </a:r>
            <a:r>
              <a:rPr sz="900" spc="200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·</a:t>
            </a:r>
            <a:r>
              <a:rPr sz="900" spc="204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Prediction:</a:t>
            </a:r>
            <a:r>
              <a:rPr sz="9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Pathogenic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 / Benign</a:t>
            </a:r>
            <a:r>
              <a:rPr sz="900" spc="19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·</a:t>
            </a:r>
            <a:r>
              <a:rPr sz="900" spc="204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Confidence:</a:t>
            </a:r>
            <a:r>
              <a:rPr sz="9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High</a:t>
            </a:r>
            <a:r>
              <a:rPr sz="9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/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Medium</a:t>
            </a:r>
            <a:r>
              <a:rPr sz="900" spc="-1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/</a:t>
            </a:r>
            <a:r>
              <a:rPr sz="900" spc="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Low</a:t>
            </a:r>
            <a:r>
              <a:rPr sz="900" spc="204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·</a:t>
            </a:r>
            <a:r>
              <a:rPr sz="900" spc="204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Full</a:t>
            </a:r>
            <a:r>
              <a:rPr sz="9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splice-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site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 reasoning</a:t>
            </a:r>
            <a:r>
              <a:rPr sz="900" spc="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B6377"/>
                </a:solidFill>
                <a:latin typeface="Calibri"/>
                <a:cs typeface="Calibri"/>
              </a:rPr>
              <a:t>with Δ</a:t>
            </a:r>
            <a:r>
              <a:rPr sz="900" spc="-5" dirty="0">
                <a:solidFill>
                  <a:srgbClr val="3B637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B6377"/>
                </a:solidFill>
                <a:latin typeface="Calibri"/>
                <a:cs typeface="Calibri"/>
              </a:rPr>
              <a:t>scores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404" y="182513"/>
            <a:ext cx="8686800" cy="731520"/>
            <a:chOff x="365404" y="182513"/>
            <a:chExt cx="8686800" cy="73152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9" y="182513"/>
              <a:ext cx="731164" cy="7311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5404" y="62136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Splice</a:t>
            </a:r>
            <a:r>
              <a:rPr spc="-50" dirty="0"/>
              <a:t> </a:t>
            </a:r>
            <a:r>
              <a:rPr dirty="0"/>
              <a:t>Site</a:t>
            </a:r>
            <a:r>
              <a:rPr spc="-50" dirty="0"/>
              <a:t> </a:t>
            </a:r>
            <a:r>
              <a:rPr dirty="0"/>
              <a:t>Analysis</a:t>
            </a:r>
            <a:r>
              <a:rPr spc="-35" dirty="0"/>
              <a:t> </a:t>
            </a:r>
            <a:r>
              <a:rPr dirty="0"/>
              <a:t>Engine</a:t>
            </a:r>
            <a:r>
              <a:rPr spc="-45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PWM</a:t>
            </a:r>
            <a:r>
              <a:rPr spc="-40" dirty="0"/>
              <a:t> </a:t>
            </a:r>
            <a:r>
              <a:rPr spc="-10" dirty="0"/>
              <a:t>Scoring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16823" y="728537"/>
            <a:ext cx="55003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Donor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9-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mer</a:t>
            </a:r>
            <a:r>
              <a:rPr sz="950" spc="19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20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Acceptor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14-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mer</a:t>
            </a:r>
            <a:r>
              <a:rPr sz="950" spc="20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18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Disruption</a:t>
            </a:r>
            <a:r>
              <a:rPr sz="9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/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Creation</a:t>
            </a:r>
            <a:r>
              <a:rPr sz="9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/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Cryptic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detection</a:t>
            </a:r>
            <a:r>
              <a:rPr sz="950" spc="18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·</a:t>
            </a:r>
            <a:r>
              <a:rPr sz="950" spc="19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PWM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probability</a:t>
            </a:r>
            <a:r>
              <a:rPr sz="9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A9DB1"/>
                </a:solidFill>
                <a:latin typeface="Calibri"/>
                <a:cs typeface="Calibri"/>
              </a:rPr>
              <a:t>threshold</a:t>
            </a:r>
            <a:r>
              <a:rPr sz="9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A9DB1"/>
                </a:solidFill>
                <a:latin typeface="Calibri"/>
                <a:cs typeface="Calibri"/>
              </a:rPr>
              <a:t>≥</a:t>
            </a:r>
            <a:r>
              <a:rPr sz="950" spc="-1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6A9DB1"/>
                </a:solidFill>
                <a:latin typeface="Calibri"/>
                <a:cs typeface="Calibri"/>
              </a:rPr>
              <a:t>0.15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5884" y="830518"/>
            <a:ext cx="2946400" cy="2031364"/>
            <a:chOff x="245884" y="830518"/>
            <a:chExt cx="2946400" cy="203136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884" y="830518"/>
              <a:ext cx="2945879" cy="203112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5404" y="914046"/>
              <a:ext cx="2743200" cy="1828800"/>
            </a:xfrm>
            <a:custGeom>
              <a:avLst/>
              <a:gdLst/>
              <a:ahLst/>
              <a:cxnLst/>
              <a:rect l="l" t="t" r="r" b="b"/>
              <a:pathLst>
                <a:path w="2743200" h="1828800">
                  <a:moveTo>
                    <a:pt x="274283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1371600" y="1828431"/>
                  </a:lnTo>
                  <a:lnTo>
                    <a:pt x="2742831" y="1828431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FC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404" y="914046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31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371600" y="54355"/>
                  </a:lnTo>
                  <a:lnTo>
                    <a:pt x="2742831" y="54355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C8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0860" y="943091"/>
            <a:ext cx="2463800" cy="65786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00" b="1" dirty="0">
                <a:solidFill>
                  <a:srgbClr val="C83F3F"/>
                </a:solidFill>
                <a:latin typeface="Calibri"/>
                <a:cs typeface="Calibri"/>
              </a:rPr>
              <a:t>Disrupted</a:t>
            </a:r>
            <a:r>
              <a:rPr sz="1100" b="1" spc="-60" dirty="0">
                <a:solidFill>
                  <a:srgbClr val="C83F3F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C83F3F"/>
                </a:solidFill>
                <a:latin typeface="Calibri"/>
                <a:cs typeface="Calibri"/>
              </a:rPr>
              <a:t>Site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35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Canonical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site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lost: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REF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score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≥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0.45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→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ALT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score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192D3A"/>
                </a:solidFill>
                <a:latin typeface="Calibri"/>
                <a:cs typeface="Calibri"/>
              </a:rPr>
              <a:t>&lt;</a:t>
            </a:r>
            <a:r>
              <a:rPr sz="950" spc="50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0.45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860" y="1719988"/>
            <a:ext cx="2371090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spliceosome-recognized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</a:t>
            </a:r>
            <a:r>
              <a:rPr sz="950" spc="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is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compromised.</a:t>
            </a:r>
            <a:r>
              <a:rPr sz="950" spc="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Expected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consequence:</a:t>
            </a:r>
            <a:r>
              <a:rPr sz="9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exon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skipping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or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intron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retention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in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processed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mRNA.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71964" y="830518"/>
            <a:ext cx="2946400" cy="2031364"/>
            <a:chOff x="3171964" y="830518"/>
            <a:chExt cx="2946400" cy="2031364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1964" y="830518"/>
              <a:ext cx="2945879" cy="203112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91484" y="914046"/>
              <a:ext cx="2743200" cy="1828800"/>
            </a:xfrm>
            <a:custGeom>
              <a:avLst/>
              <a:gdLst/>
              <a:ahLst/>
              <a:cxnLst/>
              <a:rect l="l" t="t" r="r" b="b"/>
              <a:pathLst>
                <a:path w="2743200" h="1828800">
                  <a:moveTo>
                    <a:pt x="274283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1371600" y="1828431"/>
                  </a:lnTo>
                  <a:lnTo>
                    <a:pt x="2742831" y="1828431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FDF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91484" y="914046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31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371600" y="54355"/>
                  </a:lnTo>
                  <a:lnTo>
                    <a:pt x="2742831" y="54355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06940" y="943091"/>
            <a:ext cx="2430145" cy="51308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00" b="1" dirty="0">
                <a:solidFill>
                  <a:srgbClr val="E77839"/>
                </a:solidFill>
                <a:latin typeface="Calibri"/>
                <a:cs typeface="Calibri"/>
              </a:rPr>
              <a:t>Created</a:t>
            </a:r>
            <a:r>
              <a:rPr sz="1100" b="1" spc="-60" dirty="0">
                <a:solidFill>
                  <a:srgbClr val="E77839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E77839"/>
                </a:solidFill>
                <a:latin typeface="Calibri"/>
                <a:cs typeface="Calibri"/>
              </a:rPr>
              <a:t>Site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De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novo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site: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REF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score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&lt;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0.30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→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ALT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score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≥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0.45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06940" y="1575259"/>
            <a:ext cx="254317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novel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competing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signal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is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generated. Expected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consequence: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alternative</a:t>
            </a:r>
            <a:r>
              <a:rPr sz="9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splicing or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novel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aberrant</a:t>
            </a:r>
            <a:r>
              <a:rPr sz="950" spc="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isoform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formation.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98044" y="830518"/>
            <a:ext cx="2946400" cy="2031364"/>
            <a:chOff x="6098044" y="830518"/>
            <a:chExt cx="2946400" cy="2031364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8044" y="830518"/>
              <a:ext cx="2945879" cy="203112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7564" y="914046"/>
              <a:ext cx="2743200" cy="1828800"/>
            </a:xfrm>
            <a:custGeom>
              <a:avLst/>
              <a:gdLst/>
              <a:ahLst/>
              <a:cxnLst/>
              <a:rect l="l" t="t" r="r" b="b"/>
              <a:pathLst>
                <a:path w="2743200" h="1828800">
                  <a:moveTo>
                    <a:pt x="274283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1371600" y="1828431"/>
                  </a:lnTo>
                  <a:lnTo>
                    <a:pt x="2742831" y="1828431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17564" y="914046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31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1371600" y="54355"/>
                  </a:lnTo>
                  <a:lnTo>
                    <a:pt x="2742831" y="54355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33020" y="943091"/>
            <a:ext cx="2223135" cy="51308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00" b="1" dirty="0">
                <a:solidFill>
                  <a:srgbClr val="2A9EA8"/>
                </a:solidFill>
                <a:latin typeface="Calibri"/>
                <a:cs typeface="Calibri"/>
              </a:rPr>
              <a:t>Cryptic</a:t>
            </a:r>
            <a:r>
              <a:rPr sz="1100" b="1" spc="-65" dirty="0">
                <a:solidFill>
                  <a:srgbClr val="2A9EA8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A9EA8"/>
                </a:solidFill>
                <a:latin typeface="Calibri"/>
                <a:cs typeface="Calibri"/>
              </a:rPr>
              <a:t>Activation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Latent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site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strengthened: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Δ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&gt;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0.08,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ALT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≥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0.30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33020" y="1575259"/>
            <a:ext cx="2486660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previously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silent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is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activated.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Expected consequence: aberrant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splicing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subset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transcripts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partial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effect.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2696" y="2885657"/>
            <a:ext cx="2153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C3A6D"/>
                </a:solidFill>
                <a:latin typeface="Calibri"/>
                <a:cs typeface="Calibri"/>
              </a:rPr>
              <a:t>Pathogenicity</a:t>
            </a:r>
            <a:r>
              <a:rPr sz="1200" b="1" spc="-2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C3A6D"/>
                </a:solidFill>
                <a:latin typeface="Calibri"/>
                <a:cs typeface="Calibri"/>
              </a:rPr>
              <a:t>Signal</a:t>
            </a:r>
            <a:r>
              <a:rPr sz="1200" b="1" spc="-25" dirty="0">
                <a:solidFill>
                  <a:srgbClr val="0C3A6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C3A6D"/>
                </a:solidFill>
                <a:latin typeface="Calibri"/>
                <a:cs typeface="Calibri"/>
              </a:rPr>
              <a:t>Classification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362901" y="3151823"/>
          <a:ext cx="8412480" cy="1986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6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Signal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Condition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Consequence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0C3A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1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Strong</a:t>
                      </a:r>
                      <a:r>
                        <a:rPr sz="900" b="1" spc="5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Pathogenic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Canonical</a:t>
                      </a:r>
                      <a:r>
                        <a:rPr sz="900" spc="-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r>
                        <a:rPr sz="900" spc="-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disrupted</a:t>
                      </a:r>
                      <a:r>
                        <a:rPr sz="900" spc="-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cryptic/new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r>
                        <a:rPr sz="900" spc="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created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simultaneously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Dual splice</a:t>
                      </a:r>
                      <a:r>
                        <a:rPr sz="900" spc="-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disruption</a:t>
                      </a:r>
                      <a:r>
                        <a:rPr sz="900" spc="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900" spc="-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sz="900" spc="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confidence</a:t>
                      </a:r>
                      <a:r>
                        <a:rPr sz="900" spc="-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pathogenic</a:t>
                      </a:r>
                      <a:r>
                        <a:rPr sz="900" spc="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outcome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00" b="1" spc="-1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Strong</a:t>
                      </a:r>
                      <a:r>
                        <a:rPr sz="900" b="1" spc="5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C83F3F"/>
                          </a:solidFill>
                          <a:latin typeface="Calibri"/>
                          <a:cs typeface="Calibri"/>
                        </a:rPr>
                        <a:t>Pathogenic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12750">
                        <a:lnSpc>
                          <a:spcPct val="101299"/>
                        </a:lnSpc>
                        <a:spcBef>
                          <a:spcPts val="300"/>
                        </a:spcBef>
                      </a:pP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Two</a:t>
                      </a:r>
                      <a:r>
                        <a:rPr sz="900" spc="-3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more</a:t>
                      </a:r>
                      <a:r>
                        <a:rPr sz="900" spc="-3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canonical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splice</a:t>
                      </a:r>
                      <a:r>
                        <a:rPr sz="900" spc="-3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sites</a:t>
                      </a:r>
                      <a:r>
                        <a:rPr sz="900" spc="-2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disrupted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900" spc="-2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900" spc="-3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variant</a:t>
                      </a:r>
                      <a:r>
                        <a:rPr sz="900" spc="5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window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900" spc="-2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loss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aberrant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splicing</a:t>
                      </a:r>
                      <a:r>
                        <a:rPr sz="900" spc="-2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highly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probable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10" dirty="0">
                          <a:solidFill>
                            <a:srgbClr val="E77839"/>
                          </a:solidFill>
                          <a:latin typeface="Calibri"/>
                          <a:cs typeface="Calibri"/>
                        </a:rPr>
                        <a:t>Moderate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r>
                        <a:rPr sz="900" spc="-4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canonical</a:t>
                      </a:r>
                      <a:r>
                        <a:rPr sz="900" spc="-4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splice</a:t>
                      </a:r>
                      <a:r>
                        <a:rPr sz="900" spc="-3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r>
                        <a:rPr sz="900" spc="-4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disrupted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Exon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skipping</a:t>
                      </a:r>
                      <a:r>
                        <a:rPr sz="900" spc="-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900" spc="-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intron retention likely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10" dirty="0">
                          <a:solidFill>
                            <a:srgbClr val="E77839"/>
                          </a:solidFill>
                          <a:latin typeface="Calibri"/>
                          <a:cs typeface="Calibri"/>
                        </a:rPr>
                        <a:t>Moderate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900" spc="-3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900" spc="-3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novo</a:t>
                      </a:r>
                      <a:r>
                        <a:rPr sz="900" spc="-3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splice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created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Novel</a:t>
                      </a:r>
                      <a:r>
                        <a:rPr sz="900" spc="-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competing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isoform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—</a:t>
                      </a:r>
                      <a:r>
                        <a:rPr sz="900" spc="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altered</a:t>
                      </a:r>
                      <a:r>
                        <a:rPr sz="900" spc="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protein</a:t>
                      </a:r>
                      <a:r>
                        <a:rPr sz="900" spc="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20" dirty="0">
                          <a:solidFill>
                            <a:srgbClr val="E7B839"/>
                          </a:solidFill>
                          <a:latin typeface="Calibri"/>
                          <a:cs typeface="Calibri"/>
                        </a:rPr>
                        <a:t>Weak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Cryptic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r>
                        <a:rPr sz="900" spc="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activated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(sub-threshold</a:t>
                      </a:r>
                      <a:r>
                        <a:rPr sz="900" spc="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effect)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Partial</a:t>
                      </a:r>
                      <a:r>
                        <a:rPr sz="900" spc="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aberrant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splicing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in subset of</a:t>
                      </a:r>
                      <a:r>
                        <a:rPr sz="900" spc="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transcripts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  <a:lnB w="6350">
                      <a:solidFill>
                        <a:srgbClr val="D4E7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10" dirty="0">
                          <a:solidFill>
                            <a:srgbClr val="2D9D67"/>
                          </a:solidFill>
                          <a:latin typeface="Calibri"/>
                          <a:cs typeface="Calibri"/>
                        </a:rPr>
                        <a:t>Benign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significant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change</a:t>
                      </a:r>
                      <a:r>
                        <a:rPr sz="900" spc="-1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detected</a:t>
                      </a:r>
                      <a:r>
                        <a:rPr sz="900" spc="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(Δ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&lt;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0.04)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No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predicted</a:t>
                      </a:r>
                      <a:r>
                        <a:rPr sz="900" spc="25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splicing</a:t>
                      </a:r>
                      <a:r>
                        <a:rPr sz="900" spc="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192D3A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6350">
                      <a:solidFill>
                        <a:srgbClr val="D4E7ED"/>
                      </a:solidFill>
                      <a:prstDash val="solid"/>
                    </a:lnL>
                    <a:lnR w="6350">
                      <a:solidFill>
                        <a:srgbClr val="D4E7ED"/>
                      </a:solidFill>
                      <a:prstDash val="solid"/>
                    </a:lnR>
                    <a:lnT w="6350">
                      <a:solidFill>
                        <a:srgbClr val="D4E7E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3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182513"/>
            <a:ext cx="2559951" cy="47545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0780" y="1267106"/>
            <a:ext cx="7194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5" dirty="0">
                <a:solidFill>
                  <a:srgbClr val="2A9EA8"/>
                </a:solidFill>
              </a:rPr>
              <a:t>07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731164" y="1279806"/>
            <a:ext cx="1280160" cy="822960"/>
          </a:xfrm>
          <a:custGeom>
            <a:avLst/>
            <a:gdLst/>
            <a:ahLst/>
            <a:cxnLst/>
            <a:rect l="l" t="t" r="r" b="b"/>
            <a:pathLst>
              <a:path w="1280160" h="822960">
                <a:moveTo>
                  <a:pt x="640079" y="822591"/>
                </a:moveTo>
                <a:lnTo>
                  <a:pt x="0" y="822591"/>
                </a:lnTo>
                <a:lnTo>
                  <a:pt x="0" y="0"/>
                </a:lnTo>
                <a:lnTo>
                  <a:pt x="1279791" y="0"/>
                </a:lnTo>
                <a:lnTo>
                  <a:pt x="1279791" y="822591"/>
                </a:lnTo>
                <a:lnTo>
                  <a:pt x="640079" y="822591"/>
                </a:lnTo>
                <a:close/>
              </a:path>
            </a:pathLst>
          </a:custGeom>
          <a:ln w="25559">
            <a:solidFill>
              <a:srgbClr val="2A9E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8456" y="2288059"/>
            <a:ext cx="2981960" cy="162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FFFFFF"/>
                </a:solidFill>
                <a:latin typeface="Calibri"/>
                <a:cs typeface="Calibri"/>
              </a:rPr>
              <a:t>Future</a:t>
            </a:r>
            <a:r>
              <a:rPr sz="3800" b="1" spc="-25" dirty="0">
                <a:solidFill>
                  <a:srgbClr val="FFFFFF"/>
                </a:solidFill>
                <a:latin typeface="Calibri"/>
                <a:cs typeface="Calibri"/>
              </a:rPr>
              <a:t> Work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Key</a:t>
            </a:r>
            <a:r>
              <a:rPr sz="1350" spc="-4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findings,</a:t>
            </a:r>
            <a:r>
              <a:rPr sz="1350" spc="-3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DC4CE"/>
                </a:solidFill>
                <a:latin typeface="Calibri"/>
                <a:cs typeface="Calibri"/>
              </a:rPr>
              <a:t>next</a:t>
            </a:r>
            <a:r>
              <a:rPr sz="1350" spc="-3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steps,</a:t>
            </a:r>
            <a:r>
              <a:rPr sz="1350" spc="-3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clinical</a:t>
            </a:r>
            <a:r>
              <a:rPr sz="1350" spc="-3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DC4CE"/>
                </a:solidFill>
                <a:latin typeface="Calibri"/>
                <a:cs typeface="Calibri"/>
              </a:rPr>
              <a:t>potential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884" y="182513"/>
            <a:ext cx="8806815" cy="1993900"/>
            <a:chOff x="245884" y="182513"/>
            <a:chExt cx="8806815" cy="199390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9" y="182513"/>
              <a:ext cx="731164" cy="7311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5404" y="62136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884" y="739434"/>
              <a:ext cx="4317479" cy="14367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404" y="822962"/>
              <a:ext cx="4114800" cy="1234440"/>
            </a:xfrm>
            <a:custGeom>
              <a:avLst/>
              <a:gdLst/>
              <a:ahLst/>
              <a:cxnLst/>
              <a:rect l="l" t="t" r="r" b="b"/>
              <a:pathLst>
                <a:path w="4114800" h="1234439">
                  <a:moveTo>
                    <a:pt x="411443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057400" y="1234084"/>
                  </a:lnTo>
                  <a:lnTo>
                    <a:pt x="4114431" y="123408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404" y="822962"/>
              <a:ext cx="54610" cy="1234440"/>
            </a:xfrm>
            <a:custGeom>
              <a:avLst/>
              <a:gdLst/>
              <a:ahLst/>
              <a:cxnLst/>
              <a:rect l="l" t="t" r="r" b="b"/>
              <a:pathLst>
                <a:path w="54609" h="1234439">
                  <a:moveTo>
                    <a:pt x="54356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7355" y="1234084"/>
                  </a:lnTo>
                  <a:lnTo>
                    <a:pt x="54356" y="123408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1924" y="914046"/>
              <a:ext cx="255600" cy="255600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60" dirty="0"/>
              <a:t> </a:t>
            </a:r>
            <a:r>
              <a:rPr dirty="0"/>
              <a:t>Findings</a:t>
            </a:r>
            <a:r>
              <a:rPr spc="-60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spc="-10" dirty="0"/>
              <a:t>Achievements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8624" y="882982"/>
            <a:ext cx="336359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Chromosome-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aware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data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split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effectively prevents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sequence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leakage between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train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test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the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held-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out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test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set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is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genuinely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unseen across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chromosomal</a:t>
            </a:r>
            <a:r>
              <a:rPr sz="950" spc="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boundaries,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making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performance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metrics trustworthy.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43564" y="739434"/>
            <a:ext cx="4318000" cy="1437005"/>
            <a:chOff x="4543564" y="739434"/>
            <a:chExt cx="4318000" cy="143700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3564" y="739434"/>
              <a:ext cx="4317479" cy="143676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3084" y="822962"/>
              <a:ext cx="4114800" cy="1234440"/>
            </a:xfrm>
            <a:custGeom>
              <a:avLst/>
              <a:gdLst/>
              <a:ahLst/>
              <a:cxnLst/>
              <a:rect l="l" t="t" r="r" b="b"/>
              <a:pathLst>
                <a:path w="4114800" h="1234439">
                  <a:moveTo>
                    <a:pt x="411443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057400" y="1234084"/>
                  </a:lnTo>
                  <a:lnTo>
                    <a:pt x="4114431" y="123408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63084" y="822962"/>
              <a:ext cx="54610" cy="1234440"/>
            </a:xfrm>
            <a:custGeom>
              <a:avLst/>
              <a:gdLst/>
              <a:ahLst/>
              <a:cxnLst/>
              <a:rect l="l" t="t" r="r" b="b"/>
              <a:pathLst>
                <a:path w="54610" h="1234439">
                  <a:moveTo>
                    <a:pt x="5435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7355" y="1234084"/>
                  </a:lnTo>
                  <a:lnTo>
                    <a:pt x="54355" y="1234084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9604" y="914046"/>
              <a:ext cx="255600" cy="2556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126304" y="882982"/>
            <a:ext cx="348297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XGBoost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trained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on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12,301-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dimensional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k-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mer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feature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vectors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achieves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ROC-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AUC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of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0.8579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on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99,310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balanced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variants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competitive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much</a:t>
            </a:r>
            <a:r>
              <a:rPr sz="950" spc="-4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larger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models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on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this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task.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5884" y="2111034"/>
            <a:ext cx="4318000" cy="1437005"/>
            <a:chOff x="245884" y="2111034"/>
            <a:chExt cx="4318000" cy="143700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884" y="2111034"/>
              <a:ext cx="4317479" cy="143676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5404" y="2194562"/>
              <a:ext cx="4114800" cy="1234440"/>
            </a:xfrm>
            <a:custGeom>
              <a:avLst/>
              <a:gdLst/>
              <a:ahLst/>
              <a:cxnLst/>
              <a:rect l="l" t="t" r="r" b="b"/>
              <a:pathLst>
                <a:path w="4114800" h="1234439">
                  <a:moveTo>
                    <a:pt x="411443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057400" y="1234084"/>
                  </a:lnTo>
                  <a:lnTo>
                    <a:pt x="4114431" y="123408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404" y="2194562"/>
              <a:ext cx="54610" cy="1234440"/>
            </a:xfrm>
            <a:custGeom>
              <a:avLst/>
              <a:gdLst/>
              <a:ahLst/>
              <a:cxnLst/>
              <a:rect l="l" t="t" r="r" b="b"/>
              <a:pathLst>
                <a:path w="54609" h="1234439">
                  <a:moveTo>
                    <a:pt x="54356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7355" y="1234084"/>
                  </a:lnTo>
                  <a:lnTo>
                    <a:pt x="54356" y="123408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1924" y="2285646"/>
              <a:ext cx="255600" cy="2556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28624" y="2254582"/>
            <a:ext cx="3478529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DNABERT-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2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fine-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tuned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to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AUC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0.8579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/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Accuracy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84%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across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15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epochs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on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RTX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4050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GPU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AMP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FP16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multiple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engineering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challenges resolved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including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ALiBi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buffer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patching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and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HuggingFace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module conflicts.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43564" y="2111034"/>
            <a:ext cx="4318000" cy="1437005"/>
            <a:chOff x="4543564" y="2111034"/>
            <a:chExt cx="4318000" cy="143700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3564" y="2111034"/>
              <a:ext cx="4317479" cy="143676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663084" y="2194562"/>
              <a:ext cx="4114800" cy="1234440"/>
            </a:xfrm>
            <a:custGeom>
              <a:avLst/>
              <a:gdLst/>
              <a:ahLst/>
              <a:cxnLst/>
              <a:rect l="l" t="t" r="r" b="b"/>
              <a:pathLst>
                <a:path w="4114800" h="1234439">
                  <a:moveTo>
                    <a:pt x="411443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057400" y="1234084"/>
                  </a:lnTo>
                  <a:lnTo>
                    <a:pt x="4114431" y="123408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63084" y="2194562"/>
              <a:ext cx="54610" cy="1234440"/>
            </a:xfrm>
            <a:custGeom>
              <a:avLst/>
              <a:gdLst/>
              <a:ahLst/>
              <a:cxnLst/>
              <a:rect l="l" t="t" r="r" b="b"/>
              <a:pathLst>
                <a:path w="54610" h="1234439">
                  <a:moveTo>
                    <a:pt x="5435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7355" y="1234084"/>
                  </a:lnTo>
                  <a:lnTo>
                    <a:pt x="54355" y="1234084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9604" y="2285646"/>
              <a:ext cx="255600" cy="2556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126304" y="2254582"/>
            <a:ext cx="3522979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Weighted</a:t>
            </a:r>
            <a:r>
              <a:rPr sz="9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ensemble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(XGBoost×0.4</a:t>
            </a:r>
            <a:r>
              <a:rPr sz="950" spc="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+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DNABERT-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2×0.6)</a:t>
            </a:r>
            <a:r>
              <a:rPr sz="950" spc="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combines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classical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deep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learning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signals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for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robust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predictions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across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diverse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variant types.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45884" y="3482634"/>
            <a:ext cx="4318000" cy="1437005"/>
            <a:chOff x="245884" y="3482634"/>
            <a:chExt cx="4318000" cy="1437005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884" y="3482634"/>
              <a:ext cx="4317479" cy="143676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65404" y="3566162"/>
              <a:ext cx="4114800" cy="1234440"/>
            </a:xfrm>
            <a:custGeom>
              <a:avLst/>
              <a:gdLst/>
              <a:ahLst/>
              <a:cxnLst/>
              <a:rect l="l" t="t" r="r" b="b"/>
              <a:pathLst>
                <a:path w="4114800" h="1234439">
                  <a:moveTo>
                    <a:pt x="411443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057400" y="1234084"/>
                  </a:lnTo>
                  <a:lnTo>
                    <a:pt x="4114431" y="123408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5404" y="3566162"/>
              <a:ext cx="54610" cy="1234440"/>
            </a:xfrm>
            <a:custGeom>
              <a:avLst/>
              <a:gdLst/>
              <a:ahLst/>
              <a:cxnLst/>
              <a:rect l="l" t="t" r="r" b="b"/>
              <a:pathLst>
                <a:path w="54609" h="1234439">
                  <a:moveTo>
                    <a:pt x="54356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7355" y="1234084"/>
                  </a:lnTo>
                  <a:lnTo>
                    <a:pt x="54356" y="123408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1924" y="3657246"/>
              <a:ext cx="255600" cy="25560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828624" y="3626182"/>
            <a:ext cx="3543300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PWM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splice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engine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provides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mechanistic,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interpretable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explanations: disrupted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canonical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sites, de</a:t>
            </a:r>
            <a:r>
              <a:rPr sz="950" spc="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novo site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creation,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and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cryptic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activation </a:t>
            </a:r>
            <a:r>
              <a:rPr sz="950" spc="-50" dirty="0">
                <a:solidFill>
                  <a:srgbClr val="192D3A"/>
                </a:solidFill>
                <a:latin typeface="Calibri"/>
                <a:cs typeface="Calibri"/>
              </a:rPr>
              <a:t>—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 each</a:t>
            </a:r>
            <a:r>
              <a:rPr sz="950" spc="-4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probability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delta</a:t>
            </a:r>
            <a:r>
              <a:rPr sz="950" spc="-3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scores.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43564" y="3482634"/>
            <a:ext cx="4318000" cy="1437005"/>
            <a:chOff x="4543564" y="3482634"/>
            <a:chExt cx="4318000" cy="1437005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3564" y="3482634"/>
              <a:ext cx="4317479" cy="14367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63084" y="3566162"/>
              <a:ext cx="4114800" cy="1234440"/>
            </a:xfrm>
            <a:custGeom>
              <a:avLst/>
              <a:gdLst/>
              <a:ahLst/>
              <a:cxnLst/>
              <a:rect l="l" t="t" r="r" b="b"/>
              <a:pathLst>
                <a:path w="4114800" h="1234439">
                  <a:moveTo>
                    <a:pt x="4114431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057400" y="1234084"/>
                  </a:lnTo>
                  <a:lnTo>
                    <a:pt x="4114431" y="123408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E9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63084" y="3566162"/>
              <a:ext cx="54610" cy="1234440"/>
            </a:xfrm>
            <a:custGeom>
              <a:avLst/>
              <a:gdLst/>
              <a:ahLst/>
              <a:cxnLst/>
              <a:rect l="l" t="t" r="r" b="b"/>
              <a:pathLst>
                <a:path w="54610" h="1234439">
                  <a:moveTo>
                    <a:pt x="5435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27355" y="1234084"/>
                  </a:lnTo>
                  <a:lnTo>
                    <a:pt x="54355" y="1234084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9604" y="3657246"/>
              <a:ext cx="255600" cy="2556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5126304" y="3626182"/>
            <a:ext cx="349694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Full-stack deployment: FastAPI backend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+ React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frontend supports real-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time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variant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queries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with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sub-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second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inference</a:t>
            </a:r>
            <a:r>
              <a:rPr sz="950" spc="-30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structured</a:t>
            </a:r>
            <a:r>
              <a:rPr sz="950" spc="-2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92D3A"/>
                </a:solidFill>
                <a:latin typeface="Calibri"/>
                <a:cs typeface="Calibri"/>
              </a:rPr>
              <a:t>JSON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 responses </a:t>
            </a:r>
            <a:r>
              <a:rPr sz="950" dirty="0">
                <a:solidFill>
                  <a:srgbClr val="192D3A"/>
                </a:solidFill>
                <a:latin typeface="Calibri"/>
                <a:cs typeface="Calibri"/>
              </a:rPr>
              <a:t>including</a:t>
            </a:r>
            <a:r>
              <a:rPr sz="950" spc="-1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confidence</a:t>
            </a:r>
            <a:r>
              <a:rPr sz="950" spc="-5" dirty="0">
                <a:solidFill>
                  <a:srgbClr val="192D3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2D3A"/>
                </a:solidFill>
                <a:latin typeface="Calibri"/>
                <a:cs typeface="Calibri"/>
              </a:rPr>
              <a:t>levels.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5404" y="4572001"/>
            <a:ext cx="8412480" cy="384175"/>
          </a:xfrm>
          <a:custGeom>
            <a:avLst/>
            <a:gdLst/>
            <a:ahLst/>
            <a:cxnLst/>
            <a:rect l="l" t="t" r="r" b="b"/>
            <a:pathLst>
              <a:path w="8412480" h="384175">
                <a:moveTo>
                  <a:pt x="8412111" y="0"/>
                </a:moveTo>
                <a:lnTo>
                  <a:pt x="0" y="0"/>
                </a:lnTo>
                <a:lnTo>
                  <a:pt x="0" y="383755"/>
                </a:lnTo>
                <a:lnTo>
                  <a:pt x="4206240" y="383755"/>
                </a:lnTo>
                <a:lnTo>
                  <a:pt x="8412111" y="383755"/>
                </a:lnTo>
                <a:lnTo>
                  <a:pt x="8412111" y="0"/>
                </a:lnTo>
                <a:close/>
              </a:path>
            </a:pathLst>
          </a:custGeom>
          <a:solidFill>
            <a:srgbClr val="0C3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64540" y="4682428"/>
            <a:ext cx="76180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Future</a:t>
            </a:r>
            <a:r>
              <a:rPr sz="900" spc="-2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Work:</a:t>
            </a:r>
            <a:r>
              <a:rPr sz="900" spc="18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DC4CE"/>
                </a:solidFill>
                <a:latin typeface="Calibri"/>
                <a:cs typeface="Calibri"/>
              </a:rPr>
              <a:t>SpliceAI</a:t>
            </a:r>
            <a:r>
              <a:rPr sz="900" spc="-1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benchmarking</a:t>
            </a:r>
            <a:r>
              <a:rPr sz="900" spc="17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·</a:t>
            </a:r>
            <a:r>
              <a:rPr sz="900" spc="18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VCF</a:t>
            </a:r>
            <a:r>
              <a:rPr sz="900" spc="-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batch</a:t>
            </a:r>
            <a:r>
              <a:rPr sz="900" spc="-1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processing</a:t>
            </a:r>
            <a:r>
              <a:rPr sz="900" spc="17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·</a:t>
            </a:r>
            <a:r>
              <a:rPr sz="900" spc="17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DC4CE"/>
                </a:solidFill>
                <a:latin typeface="Calibri"/>
                <a:cs typeface="Calibri"/>
              </a:rPr>
              <a:t>ESM-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2</a:t>
            </a:r>
            <a:r>
              <a:rPr sz="900" spc="-1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DC4CE"/>
                </a:solidFill>
                <a:latin typeface="Calibri"/>
                <a:cs typeface="Calibri"/>
              </a:rPr>
              <a:t>protein</a:t>
            </a:r>
            <a:r>
              <a:rPr sz="900" spc="-1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DC4CE"/>
                </a:solidFill>
                <a:latin typeface="Calibri"/>
                <a:cs typeface="Calibri"/>
              </a:rPr>
              <a:t>co-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prediction</a:t>
            </a:r>
            <a:r>
              <a:rPr sz="900" spc="18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·</a:t>
            </a:r>
            <a:r>
              <a:rPr sz="900" spc="18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ClinGen</a:t>
            </a:r>
            <a:r>
              <a:rPr sz="900" spc="-1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/</a:t>
            </a:r>
            <a:r>
              <a:rPr sz="900" spc="-1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ACMG</a:t>
            </a:r>
            <a:r>
              <a:rPr sz="900" spc="-1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variant</a:t>
            </a:r>
            <a:r>
              <a:rPr sz="900" spc="-1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DC4CE"/>
                </a:solidFill>
                <a:latin typeface="Calibri"/>
                <a:cs typeface="Calibri"/>
              </a:rPr>
              <a:t>classification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alignment</a:t>
            </a:r>
            <a:r>
              <a:rPr sz="900" spc="17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·</a:t>
            </a:r>
            <a:r>
              <a:rPr sz="900" spc="18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spc="-30" dirty="0">
                <a:solidFill>
                  <a:srgbClr val="4DC4CE"/>
                </a:solidFill>
                <a:latin typeface="Calibri"/>
                <a:cs typeface="Calibri"/>
              </a:rPr>
              <a:t>Wet-</a:t>
            </a:r>
            <a:r>
              <a:rPr sz="900" dirty="0">
                <a:solidFill>
                  <a:srgbClr val="4DC4CE"/>
                </a:solidFill>
                <a:latin typeface="Calibri"/>
                <a:cs typeface="Calibri"/>
              </a:rPr>
              <a:t>lab</a:t>
            </a:r>
            <a:r>
              <a:rPr sz="900" spc="-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DC4CE"/>
                </a:solidFill>
                <a:latin typeface="Calibri"/>
                <a:cs typeface="Calibri"/>
              </a:rPr>
              <a:t>validation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-353"/>
            <a:ext cx="4097020" cy="5143500"/>
            <a:chOff x="-355" y="-353"/>
            <a:chExt cx="4097020" cy="5143500"/>
          </a:xfrm>
        </p:grpSpPr>
        <p:sp>
          <p:nvSpPr>
            <p:cNvPr id="3" name="object 3"/>
            <p:cNvSpPr/>
            <p:nvPr/>
          </p:nvSpPr>
          <p:spPr>
            <a:xfrm>
              <a:off x="-355" y="-353"/>
              <a:ext cx="4023360" cy="5143500"/>
            </a:xfrm>
            <a:custGeom>
              <a:avLst/>
              <a:gdLst/>
              <a:ahLst/>
              <a:cxnLst/>
              <a:rect l="l" t="t" r="r" b="b"/>
              <a:pathLst>
                <a:path w="4023360" h="5143500">
                  <a:moveTo>
                    <a:pt x="4022991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2011680" y="5143309"/>
                  </a:lnTo>
                  <a:lnTo>
                    <a:pt x="4022991" y="5143309"/>
                  </a:lnTo>
                  <a:lnTo>
                    <a:pt x="4022991" y="0"/>
                  </a:lnTo>
                  <a:close/>
                </a:path>
              </a:pathLst>
            </a:custGeom>
            <a:solidFill>
              <a:srgbClr val="0C3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23360" y="-353"/>
              <a:ext cx="73025" cy="5143500"/>
            </a:xfrm>
            <a:custGeom>
              <a:avLst/>
              <a:gdLst/>
              <a:ahLst/>
              <a:cxnLst/>
              <a:rect l="l" t="t" r="r" b="b"/>
              <a:pathLst>
                <a:path w="73025" h="5143500">
                  <a:moveTo>
                    <a:pt x="72720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36360" y="5143309"/>
                  </a:lnTo>
                  <a:lnTo>
                    <a:pt x="72720" y="5143309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182869"/>
            <a:ext cx="2559951" cy="475416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132084" y="1653478"/>
            <a:ext cx="2214880" cy="2003425"/>
            <a:chOff x="4132084" y="1653478"/>
            <a:chExt cx="2214880" cy="2003425"/>
          </a:xfrm>
        </p:grpSpPr>
        <p:pic>
          <p:nvPicPr>
            <p:cNvPr id="7" name="object 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9119" y="2011313"/>
              <a:ext cx="1645564" cy="16455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2084" y="1653478"/>
              <a:ext cx="2214359" cy="12081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51604" y="1737006"/>
              <a:ext cx="2011680" cy="1005840"/>
            </a:xfrm>
            <a:custGeom>
              <a:avLst/>
              <a:gdLst/>
              <a:ahLst/>
              <a:cxnLst/>
              <a:rect l="l" t="t" r="r" b="b"/>
              <a:pathLst>
                <a:path w="2011679" h="1005839">
                  <a:moveTo>
                    <a:pt x="2011311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1005839" y="1005471"/>
                  </a:lnTo>
                  <a:lnTo>
                    <a:pt x="2011311" y="1005471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2D9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1624" y="946342"/>
            <a:ext cx="137858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200" b="1" spc="-10" dirty="0">
                <a:solidFill>
                  <a:srgbClr val="FFFFFF"/>
                </a:solidFill>
                <a:latin typeface="Calibri"/>
                <a:cs typeface="Calibri"/>
              </a:rPr>
              <a:t>Thank </a:t>
            </a:r>
            <a:r>
              <a:rPr sz="4200" b="1" spc="-20" dirty="0">
                <a:solidFill>
                  <a:srgbClr val="FFFFFF"/>
                </a:solidFill>
                <a:latin typeface="Calibri"/>
                <a:cs typeface="Calibri"/>
              </a:rPr>
              <a:t>You!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624" y="2958733"/>
            <a:ext cx="2002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DC4CE"/>
                </a:solidFill>
                <a:latin typeface="Calibri"/>
                <a:cs typeface="Calibri"/>
              </a:rPr>
              <a:t>Hybrid</a:t>
            </a:r>
            <a:r>
              <a:rPr sz="1200" spc="-2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DC4CE"/>
                </a:solidFill>
                <a:latin typeface="Calibri"/>
                <a:cs typeface="Calibri"/>
              </a:rPr>
              <a:t>ML</a:t>
            </a:r>
            <a:r>
              <a:rPr sz="1200" spc="-2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DC4CE"/>
                </a:solidFill>
                <a:latin typeface="Calibri"/>
                <a:cs typeface="Calibri"/>
              </a:rPr>
              <a:t>Pipeline</a:t>
            </a:r>
            <a:r>
              <a:rPr sz="1200" spc="-3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DC4CE"/>
                </a:solidFill>
                <a:latin typeface="Calibri"/>
                <a:cs typeface="Calibri"/>
              </a:rPr>
              <a:t>for</a:t>
            </a:r>
            <a:r>
              <a:rPr sz="1200" spc="-30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DC4CE"/>
                </a:solidFill>
                <a:latin typeface="Calibri"/>
                <a:cs typeface="Calibri"/>
              </a:rPr>
              <a:t>Splice Variant</a:t>
            </a:r>
            <a:r>
              <a:rPr sz="1200" spc="-1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DC4CE"/>
                </a:solidFill>
                <a:latin typeface="Calibri"/>
                <a:cs typeface="Calibri"/>
              </a:rPr>
              <a:t>Pathogenicity</a:t>
            </a:r>
            <a:r>
              <a:rPr sz="1200" spc="-5" dirty="0">
                <a:solidFill>
                  <a:srgbClr val="4DC4C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DC4CE"/>
                </a:solidFill>
                <a:latin typeface="Calibri"/>
                <a:cs typeface="Calibri"/>
              </a:rPr>
              <a:t>Prediction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624" y="3766580"/>
            <a:ext cx="17621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A9CCDC"/>
                </a:solidFill>
                <a:latin typeface="Calibri"/>
                <a:cs typeface="Calibri"/>
              </a:rPr>
              <a:t>Team</a:t>
            </a:r>
            <a:r>
              <a:rPr sz="950" spc="-20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A9CCDC"/>
                </a:solidFill>
                <a:latin typeface="Calibri"/>
                <a:cs typeface="Calibri"/>
              </a:rPr>
              <a:t>9</a:t>
            </a:r>
            <a:endParaRPr sz="9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Bonam</a:t>
            </a:r>
            <a:r>
              <a:rPr sz="950" spc="-25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Sai</a:t>
            </a:r>
            <a:r>
              <a:rPr sz="950" spc="-20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9CCDC"/>
                </a:solidFill>
                <a:latin typeface="Calibri"/>
                <a:cs typeface="Calibri"/>
              </a:rPr>
              <a:t>Vamsi</a:t>
            </a:r>
            <a:r>
              <a:rPr sz="950" spc="-20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9CCDC"/>
                </a:solidFill>
                <a:latin typeface="Calibri"/>
                <a:cs typeface="Calibri"/>
              </a:rPr>
              <a:t>bl.sc.u4aie24211 </a:t>
            </a: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Esha</a:t>
            </a:r>
            <a:r>
              <a:rPr sz="950" spc="-25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V</a:t>
            </a:r>
            <a:r>
              <a:rPr sz="950" spc="-20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Patil</a:t>
            </a:r>
            <a:r>
              <a:rPr sz="950" spc="-20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·</a:t>
            </a:r>
            <a:r>
              <a:rPr sz="950" spc="-20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9CCDC"/>
                </a:solidFill>
                <a:latin typeface="Calibri"/>
                <a:cs typeface="Calibri"/>
              </a:rPr>
              <a:t>bl.sc.u4aie24219 </a:t>
            </a: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Ashritha</a:t>
            </a:r>
            <a:r>
              <a:rPr sz="950" spc="-25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Sola</a:t>
            </a:r>
            <a:r>
              <a:rPr sz="950" spc="-25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A9CCDC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A9CCD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A9CCDC"/>
                </a:solidFill>
                <a:latin typeface="Calibri"/>
                <a:cs typeface="Calibri"/>
              </a:rPr>
              <a:t>bl.sc.u4aie24251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32084" y="373318"/>
            <a:ext cx="2214880" cy="1208405"/>
            <a:chOff x="4132084" y="373318"/>
            <a:chExt cx="2214880" cy="120840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2084" y="373318"/>
              <a:ext cx="2214359" cy="12081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51604" y="456846"/>
              <a:ext cx="2011680" cy="1005840"/>
            </a:xfrm>
            <a:custGeom>
              <a:avLst/>
              <a:gdLst/>
              <a:ahLst/>
              <a:cxnLst/>
              <a:rect l="l" t="t" r="r" b="b"/>
              <a:pathLst>
                <a:path w="2011679" h="1005840">
                  <a:moveTo>
                    <a:pt x="2011311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1005839" y="1005471"/>
                  </a:lnTo>
                  <a:lnTo>
                    <a:pt x="2011311" y="1005471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2A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4749025" y="528029"/>
            <a:ext cx="1016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</a:rPr>
              <a:t>99,310</a:t>
            </a:r>
            <a:endParaRPr sz="2800"/>
          </a:p>
        </p:txBody>
      </p:sp>
      <p:sp>
        <p:nvSpPr>
          <p:cNvPr id="17" name="object 17"/>
          <p:cNvSpPr txBox="1"/>
          <p:nvPr/>
        </p:nvSpPr>
        <p:spPr>
          <a:xfrm>
            <a:off x="4786464" y="1103301"/>
            <a:ext cx="94106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CCEDF1"/>
                </a:solidFill>
                <a:latin typeface="Calibri"/>
                <a:cs typeface="Calibri"/>
              </a:rPr>
              <a:t>Variants</a:t>
            </a:r>
            <a:r>
              <a:rPr sz="950" spc="-20" dirty="0">
                <a:solidFill>
                  <a:srgbClr val="CCEDF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EDF1"/>
                </a:solidFill>
                <a:latin typeface="Calibri"/>
                <a:cs typeface="Calibri"/>
              </a:rPr>
              <a:t>Processed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18084" y="373318"/>
            <a:ext cx="2214880" cy="1208405"/>
            <a:chOff x="6418084" y="373318"/>
            <a:chExt cx="2214880" cy="120840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084" y="373318"/>
              <a:ext cx="2214359" cy="120816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537604" y="456846"/>
              <a:ext cx="2011680" cy="1005840"/>
            </a:xfrm>
            <a:custGeom>
              <a:avLst/>
              <a:gdLst/>
              <a:ahLst/>
              <a:cxnLst/>
              <a:rect l="l" t="t" r="r" b="b"/>
              <a:pathLst>
                <a:path w="2011679" h="1005840">
                  <a:moveTo>
                    <a:pt x="2011311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1005839" y="1005471"/>
                  </a:lnTo>
                  <a:lnTo>
                    <a:pt x="2011311" y="1005471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E77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033577" y="528029"/>
            <a:ext cx="1019810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0.8579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950" spc="-20" dirty="0">
                <a:solidFill>
                  <a:srgbClr val="FCEBD7"/>
                </a:solidFill>
                <a:latin typeface="Calibri"/>
                <a:cs typeface="Calibri"/>
              </a:rPr>
              <a:t>ROC-</a:t>
            </a:r>
            <a:r>
              <a:rPr sz="950" dirty="0">
                <a:solidFill>
                  <a:srgbClr val="FCEBD7"/>
                </a:solidFill>
                <a:latin typeface="Calibri"/>
                <a:cs typeface="Calibri"/>
              </a:rPr>
              <a:t>AUC</a:t>
            </a:r>
            <a:r>
              <a:rPr sz="950" spc="-10" dirty="0">
                <a:solidFill>
                  <a:srgbClr val="FCEBD7"/>
                </a:solidFill>
                <a:latin typeface="Calibri"/>
                <a:cs typeface="Calibri"/>
              </a:rPr>
              <a:t> (Test)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49025" y="1808190"/>
            <a:ext cx="101663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12,301</a:t>
            </a:r>
            <a:endParaRPr sz="28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1170"/>
              </a:spcBef>
            </a:pPr>
            <a:r>
              <a:rPr sz="950" spc="-10" dirty="0">
                <a:solidFill>
                  <a:srgbClr val="D3EFE1"/>
                </a:solidFill>
                <a:latin typeface="Calibri"/>
                <a:cs typeface="Calibri"/>
              </a:rPr>
              <a:t>Feature</a:t>
            </a:r>
            <a:r>
              <a:rPr sz="950" spc="-15" dirty="0">
                <a:solidFill>
                  <a:srgbClr val="D3EFE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D3EFE1"/>
                </a:solidFill>
                <a:latin typeface="Calibri"/>
                <a:cs typeface="Calibri"/>
              </a:rPr>
              <a:t>Dimensions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18084" y="1653478"/>
            <a:ext cx="2214880" cy="1208405"/>
            <a:chOff x="6418084" y="1653478"/>
            <a:chExt cx="2214880" cy="120840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084" y="1653478"/>
              <a:ext cx="2214359" cy="120816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537604" y="1737006"/>
              <a:ext cx="2011680" cy="1005840"/>
            </a:xfrm>
            <a:custGeom>
              <a:avLst/>
              <a:gdLst/>
              <a:ahLst/>
              <a:cxnLst/>
              <a:rect l="l" t="t" r="r" b="b"/>
              <a:pathLst>
                <a:path w="2011679" h="1005839">
                  <a:moveTo>
                    <a:pt x="2011311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1005839" y="1005471"/>
                  </a:lnTo>
                  <a:lnTo>
                    <a:pt x="2011311" y="1005471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6A5D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201344" y="1808190"/>
            <a:ext cx="68262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84%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950" spc="-25" dirty="0">
                <a:solidFill>
                  <a:srgbClr val="E7E3F3"/>
                </a:solidFill>
                <a:latin typeface="Calibri"/>
                <a:cs typeface="Calibri"/>
              </a:rPr>
              <a:t>Test </a:t>
            </a:r>
            <a:r>
              <a:rPr sz="950" spc="-10" dirty="0">
                <a:solidFill>
                  <a:srgbClr val="E7E3F3"/>
                </a:solidFill>
                <a:latin typeface="Calibri"/>
                <a:cs typeface="Calibri"/>
              </a:rPr>
              <a:t>Accuracy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54176" y="4777818"/>
            <a:ext cx="1818639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Amrita</a:t>
            </a:r>
            <a:r>
              <a:rPr sz="850" spc="-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Vishwa</a:t>
            </a:r>
            <a:r>
              <a:rPr sz="850" spc="20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Vidyapeetham,</a:t>
            </a:r>
            <a:r>
              <a:rPr sz="850" spc="5" dirty="0">
                <a:solidFill>
                  <a:srgbClr val="6A9DB1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9DB1"/>
                </a:solidFill>
                <a:latin typeface="Calibri"/>
                <a:cs typeface="Calibri"/>
              </a:rPr>
              <a:t>Bengaluru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2694</Words>
  <Application>Microsoft Office PowerPoint</Application>
  <PresentationFormat>Custom</PresentationFormat>
  <Paragraphs>407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Yu Gothic</vt:lpstr>
      <vt:lpstr>Arial MT</vt:lpstr>
      <vt:lpstr>Calibri</vt:lpstr>
      <vt:lpstr>Cambria</vt:lpstr>
      <vt:lpstr>Courier New</vt:lpstr>
      <vt:lpstr>Times New Roman</vt:lpstr>
      <vt:lpstr>Office Theme</vt:lpstr>
      <vt:lpstr>Hybrid Machine Learning Pipeline for Splice Variant Pathogenicity Prediction</vt:lpstr>
      <vt:lpstr>Contents</vt:lpstr>
      <vt:lpstr>Abstract</vt:lpstr>
      <vt:lpstr>01</vt:lpstr>
      <vt:lpstr>Canonical Splice Signals &amp; Pathogenic Mechanisms</vt:lpstr>
      <vt:lpstr>02</vt:lpstr>
      <vt:lpstr>Data Sources &amp; Preprocessing Pipeline</vt:lpstr>
      <vt:lpstr>PowerPoint Presentation</vt:lpstr>
      <vt:lpstr>Class Imbalance — Problem &amp; Resolution</vt:lpstr>
      <vt:lpstr>03</vt:lpstr>
      <vt:lpstr>Feature Engineering — 12,301-Dimensional Vector</vt:lpstr>
      <vt:lpstr>PowerPoint Presentation</vt:lpstr>
      <vt:lpstr>04</vt:lpstr>
      <vt:lpstr>XGBoost — Training Configuration &amp; Results</vt:lpstr>
      <vt:lpstr>PowerPoint Presentation</vt:lpstr>
      <vt:lpstr>DNABERT-2 — Fine-Tuning &amp; Architecture</vt:lpstr>
      <vt:lpstr>PowerPoint Presentation</vt:lpstr>
      <vt:lpstr>DNABERT Attention Layer Activity</vt:lpstr>
      <vt:lpstr>DNABERT Parameter Distribution </vt:lpstr>
      <vt:lpstr>05</vt:lpstr>
      <vt:lpstr>Performance Metrics — XGBoost &amp; DNABERT-2</vt:lpstr>
      <vt:lpstr> ROC CURVE</vt:lpstr>
      <vt:lpstr>Confusion Matrix</vt:lpstr>
      <vt:lpstr>Probability Distribution</vt:lpstr>
      <vt:lpstr>Interpretability — SHAP &amp; DNABERT Embeddings</vt:lpstr>
      <vt:lpstr>SHAP Interpretability</vt:lpstr>
      <vt:lpstr>t-SNE</vt:lpstr>
      <vt:lpstr>06</vt:lpstr>
      <vt:lpstr>FastAPI Backend — Splice Variant Classifier v5</vt:lpstr>
      <vt:lpstr>Splice Site Analysis Engine — PWM Scoring</vt:lpstr>
      <vt:lpstr>07</vt:lpstr>
      <vt:lpstr>Key Findings &amp; Achievements</vt:lpstr>
      <vt:lpstr>99,310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Genomic Splice Analysis Pipeline</dc:title>
  <dc:subject>PptxGenJS Presentation</dc:subject>
  <dc:creator>PptxGenJS</dc:creator>
  <cp:lastModifiedBy>Ashritha Sola</cp:lastModifiedBy>
  <cp:revision>9</cp:revision>
  <dcterms:created xsi:type="dcterms:W3CDTF">2026-05-19T07:59:50Z</dcterms:created>
  <dcterms:modified xsi:type="dcterms:W3CDTF">2026-05-19T08:51:34Z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2026-05-19T00:00:00Z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2026-05-19T00:00:00Z</vt:filetime>
  </property>
</Properties>
</file>